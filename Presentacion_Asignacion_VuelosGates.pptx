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DkmB5y2AJk7sCUJNJ2gWC+gRDf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EACBFD3-367F-4D06-B59E-283CCBDB9967}">
  <a:tblStyle styleId="{1EACBFD3-367F-4D06-B59E-283CCBDB9967}"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5" Type="http://customschemas.google.com/relationships/presentationmetadata" Target="meta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 name="Google Shape;2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 name="Google Shape;53;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 name="Google Shape;54;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 name="Google Shape;8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1" name="Google Shape;8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 name="Google Shape;109;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0" name="Google Shape;110;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6" name="Google Shape;12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 name="Google Shape;15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 name="Google Shape;18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3" name="Google Shape;18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 name="Google Shape;206;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7" name="Google Shape;207;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8" name="Google Shape;22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 name="Google Shape;25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7" name="Google Shape;25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 name="Google Shape;27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3" name="Google Shape;27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1" name="Google Shape;291;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2" name="Google Shape;292;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1" name="Google Shape;311;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5" name="Google Shape;34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6" name="Google Shape;34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 name="Google Shape;358;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9" name="Google Shape;359;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3" name="Google Shape;37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4" name="Google Shape;37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1" name="Google Shape;40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3" name="Google Shape;433;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2B46"/>
        </a:solidFill>
      </p:bgPr>
    </p:bg>
    <p:spTree>
      <p:nvGrpSpPr>
        <p:cNvPr id="15" name="Shape 15"/>
        <p:cNvGrpSpPr/>
        <p:nvPr/>
      </p:nvGrpSpPr>
      <p:grpSpPr>
        <a:xfrm>
          <a:off x="0" y="0"/>
          <a:ext cx="0" cy="0"/>
          <a:chOff x="0" y="0"/>
          <a:chExt cx="0" cy="0"/>
        </a:xfrm>
      </p:grpSpPr>
      <p:sp>
        <p:nvSpPr>
          <p:cNvPr id="16" name="Google Shape;16;p1"/>
          <p:cNvSpPr/>
          <p:nvPr/>
        </p:nvSpPr>
        <p:spPr>
          <a:xfrm>
            <a:off x="8778240" y="502920"/>
            <a:ext cx="5120640" cy="5120640"/>
          </a:xfrm>
          <a:prstGeom prst="ellipse">
            <a:avLst/>
          </a:prstGeom>
          <a:solidFill>
            <a:srgbClr val="1C7293">
              <a:alpha val="12157"/>
            </a:srgbClr>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9601200" y="1325880"/>
            <a:ext cx="3474720" cy="3474720"/>
          </a:xfrm>
          <a:prstGeom prst="ellipse">
            <a:avLst/>
          </a:prstGeom>
          <a:solidFill>
            <a:srgbClr val="1C7293">
              <a:alpha val="20000"/>
            </a:srgbClr>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
          <p:cNvSpPr/>
          <p:nvPr/>
        </p:nvSpPr>
        <p:spPr>
          <a:xfrm>
            <a:off x="10561320" y="2286000"/>
            <a:ext cx="1554480" cy="1554480"/>
          </a:xfrm>
          <a:prstGeom prst="ellipse">
            <a:avLst/>
          </a:prstGeom>
          <a:solidFill>
            <a:srgbClr val="F2A65A">
              <a:alpha val="60000"/>
            </a:srgbClr>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1"/>
          <p:cNvSpPr txBox="1"/>
          <p:nvPr/>
        </p:nvSpPr>
        <p:spPr>
          <a:xfrm>
            <a:off x="822960" y="137160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1200"/>
              <a:buFont typeface="Calibri"/>
              <a:buNone/>
            </a:pPr>
            <a:r>
              <a:rPr b="1" i="0" lang="en-US" sz="1200" u="none" cap="none" strike="noStrike">
                <a:solidFill>
                  <a:srgbClr val="F2A65A"/>
                </a:solidFill>
                <a:latin typeface="Calibri"/>
                <a:ea typeface="Calibri"/>
                <a:cs typeface="Calibri"/>
                <a:sym typeface="Calibri"/>
              </a:rPr>
              <a:t>PROYECTO FINAL  ·  PROBLEMA 3</a:t>
            </a:r>
            <a:endParaRPr b="0" i="0" sz="1200" u="none" cap="none" strike="noStrike">
              <a:solidFill>
                <a:schemeClr val="dk1"/>
              </a:solidFill>
              <a:latin typeface="Calibri"/>
              <a:ea typeface="Calibri"/>
              <a:cs typeface="Calibri"/>
              <a:sym typeface="Calibri"/>
            </a:endParaRPr>
          </a:p>
        </p:txBody>
      </p:sp>
      <p:sp>
        <p:nvSpPr>
          <p:cNvPr id="20" name="Google Shape;20;p1"/>
          <p:cNvSpPr txBox="1"/>
          <p:nvPr/>
        </p:nvSpPr>
        <p:spPr>
          <a:xfrm>
            <a:off x="822960" y="1828800"/>
            <a:ext cx="8412480" cy="1737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000"/>
              <a:buFont typeface="Cambria"/>
              <a:buNone/>
            </a:pPr>
            <a:r>
              <a:rPr b="1" i="0" lang="en-US" sz="4000" u="none" cap="none" strike="noStrike">
                <a:solidFill>
                  <a:srgbClr val="FFFFFF"/>
                </a:solidFill>
                <a:latin typeface="Cambria"/>
                <a:ea typeface="Cambria"/>
                <a:cs typeface="Cambria"/>
                <a:sym typeface="Cambria"/>
              </a:rPr>
              <a:t>Asignación evolutiva de</a:t>
            </a:r>
            <a:endParaRPr b="0" i="0" sz="4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4000"/>
              <a:buFont typeface="Cambria"/>
              <a:buNone/>
            </a:pPr>
            <a:r>
              <a:rPr b="1" i="0" lang="en-US" sz="4000" u="none" cap="none" strike="noStrike">
                <a:solidFill>
                  <a:srgbClr val="FFFFFF"/>
                </a:solidFill>
                <a:latin typeface="Cambria"/>
                <a:ea typeface="Cambria"/>
                <a:cs typeface="Cambria"/>
                <a:sym typeface="Cambria"/>
              </a:rPr>
              <a:t>Gates a Vuelos</a:t>
            </a:r>
            <a:endParaRPr b="0" i="0" sz="4000" u="none" cap="none" strike="noStrike">
              <a:solidFill>
                <a:schemeClr val="dk1"/>
              </a:solidFill>
              <a:latin typeface="Calibri"/>
              <a:ea typeface="Calibri"/>
              <a:cs typeface="Calibri"/>
              <a:sym typeface="Calibri"/>
            </a:endParaRPr>
          </a:p>
        </p:txBody>
      </p:sp>
      <p:sp>
        <p:nvSpPr>
          <p:cNvPr id="21" name="Google Shape;21;p1"/>
          <p:cNvSpPr txBox="1"/>
          <p:nvPr/>
        </p:nvSpPr>
        <p:spPr>
          <a:xfrm>
            <a:off x="822960" y="3657600"/>
            <a:ext cx="8412480" cy="82296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CADCFC"/>
              </a:buClr>
              <a:buSzPts val="1600"/>
              <a:buFont typeface="Calibri"/>
              <a:buNone/>
            </a:pPr>
            <a:r>
              <a:rPr b="0" i="0" lang="en-US" sz="1600" u="none" cap="none" strike="noStrike">
                <a:solidFill>
                  <a:srgbClr val="CADCFC"/>
                </a:solidFill>
                <a:latin typeface="Calibri"/>
                <a:ea typeface="Calibri"/>
                <a:cs typeface="Calibri"/>
                <a:sym typeface="Calibri"/>
              </a:rPr>
              <a:t>Operadores genéticos que garantizan soluciones factibles</a:t>
            </a:r>
            <a:endParaRPr b="0" i="0" sz="1600" u="none" cap="none" strike="noStrike">
              <a:solidFill>
                <a:schemeClr val="dk1"/>
              </a:solidFill>
              <a:latin typeface="Calibri"/>
              <a:ea typeface="Calibri"/>
              <a:cs typeface="Calibri"/>
              <a:sym typeface="Calibri"/>
            </a:endParaRPr>
          </a:p>
          <a:p>
            <a:pPr indent="0" lvl="0" marL="0" marR="0" rtl="0" algn="l">
              <a:lnSpc>
                <a:spcPct val="110000"/>
              </a:lnSpc>
              <a:spcBef>
                <a:spcPts val="0"/>
              </a:spcBef>
              <a:spcAft>
                <a:spcPts val="0"/>
              </a:spcAft>
              <a:buClr>
                <a:srgbClr val="CADCFC"/>
              </a:buClr>
              <a:buSzPts val="1600"/>
              <a:buFont typeface="Calibri"/>
              <a:buNone/>
            </a:pPr>
            <a:r>
              <a:rPr b="0" i="0" lang="en-US" sz="1600" u="none" cap="none" strike="noStrike">
                <a:solidFill>
                  <a:srgbClr val="CADCFC"/>
                </a:solidFill>
                <a:latin typeface="Calibri"/>
                <a:ea typeface="Calibri"/>
                <a:cs typeface="Calibri"/>
                <a:sym typeface="Calibri"/>
              </a:rPr>
              <a:t>y optimización multiobjetivo con NSGA-II</a:t>
            </a:r>
            <a:endParaRPr b="0" i="0" sz="1600" u="none" cap="none" strike="noStrike">
              <a:solidFill>
                <a:schemeClr val="dk1"/>
              </a:solidFill>
              <a:latin typeface="Calibri"/>
              <a:ea typeface="Calibri"/>
              <a:cs typeface="Calibri"/>
              <a:sym typeface="Calibri"/>
            </a:endParaRPr>
          </a:p>
        </p:txBody>
      </p:sp>
      <p:sp>
        <p:nvSpPr>
          <p:cNvPr id="22" name="Google Shape;22;p1"/>
          <p:cNvSpPr txBox="1"/>
          <p:nvPr/>
        </p:nvSpPr>
        <p:spPr>
          <a:xfrm>
            <a:off x="822960" y="502920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Mario Ampuero  ·  Robin Villegas  ·  Diego Chiang  ·  Eduardo Ruiz</a:t>
            </a:r>
            <a:endParaRPr b="0" i="0" sz="1400" u="none" cap="none" strike="noStrike">
              <a:solidFill>
                <a:schemeClr val="dk1"/>
              </a:solidFill>
              <a:latin typeface="Calibri"/>
              <a:ea typeface="Calibri"/>
              <a:cs typeface="Calibri"/>
              <a:sym typeface="Calibri"/>
            </a:endParaRPr>
          </a:p>
        </p:txBody>
      </p:sp>
      <p:sp>
        <p:nvSpPr>
          <p:cNvPr id="23" name="Google Shape;23;p1"/>
          <p:cNvSpPr txBox="1"/>
          <p:nvPr/>
        </p:nvSpPr>
        <p:spPr>
          <a:xfrm>
            <a:off x="822960" y="5349240"/>
            <a:ext cx="9144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A3B5"/>
              </a:buClr>
              <a:buSzPts val="1100"/>
              <a:buFont typeface="Calibri"/>
              <a:buNone/>
            </a:pPr>
            <a:r>
              <a:rPr b="0" i="0" lang="en-US" sz="1100" u="none" cap="none" strike="noStrike">
                <a:solidFill>
                  <a:srgbClr val="8FA3B5"/>
                </a:solidFill>
                <a:latin typeface="Calibri"/>
                <a:ea typeface="Calibri"/>
                <a:cs typeface="Calibri"/>
                <a:sym typeface="Calibri"/>
              </a:rPr>
              <a:t>Optimización Industrial con Computación Evolutiva  ·  Dr. Edwin Villanueva  ·  PUCP  ·  2026</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 name="Shape 28"/>
        <p:cNvGrpSpPr/>
        <p:nvPr/>
      </p:nvGrpSpPr>
      <p:grpSpPr>
        <a:xfrm>
          <a:off x="0" y="0"/>
          <a:ext cx="0" cy="0"/>
          <a:chOff x="0" y="0"/>
          <a:chExt cx="0" cy="0"/>
        </a:xfrm>
      </p:grpSpPr>
      <p:sp>
        <p:nvSpPr>
          <p:cNvPr id="29" name="Google Shape;29;p2"/>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100"/>
              <a:buFont typeface="Calibri"/>
              <a:buNone/>
            </a:pPr>
            <a:r>
              <a:rPr b="1" i="0" lang="en-US" sz="1100" u="none" cap="none" strike="noStrike">
                <a:solidFill>
                  <a:srgbClr val="1C7293"/>
                </a:solidFill>
                <a:latin typeface="Calibri"/>
                <a:ea typeface="Calibri"/>
                <a:cs typeface="Calibri"/>
                <a:sym typeface="Calibri"/>
              </a:rPr>
              <a:t>EL PROBLEMA</a:t>
            </a:r>
            <a:endParaRPr b="0" i="0" sz="1100" u="none" cap="none" strike="noStrike">
              <a:solidFill>
                <a:schemeClr val="dk1"/>
              </a:solidFill>
              <a:latin typeface="Calibri"/>
              <a:ea typeface="Calibri"/>
              <a:cs typeface="Calibri"/>
              <a:sym typeface="Calibri"/>
            </a:endParaRPr>
          </a:p>
        </p:txBody>
      </p:sp>
      <p:sp>
        <p:nvSpPr>
          <p:cNvPr id="30" name="Google Shape;30;p2"/>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3000"/>
              <a:buFont typeface="Cambria"/>
              <a:buNone/>
            </a:pPr>
            <a:r>
              <a:rPr b="1" i="0" lang="en-US" sz="3000" u="none" cap="none" strike="noStrike">
                <a:solidFill>
                  <a:srgbClr val="1B2733"/>
                </a:solidFill>
                <a:latin typeface="Cambria"/>
                <a:ea typeface="Cambria"/>
                <a:cs typeface="Cambria"/>
                <a:sym typeface="Cambria"/>
              </a:rPr>
              <a:t>Más aviones que puertas</a:t>
            </a:r>
            <a:endParaRPr b="0" i="0" sz="3000" u="none" cap="none" strike="noStrike">
              <a:solidFill>
                <a:schemeClr val="dk1"/>
              </a:solidFill>
              <a:latin typeface="Calibri"/>
              <a:ea typeface="Calibri"/>
              <a:cs typeface="Calibri"/>
              <a:sym typeface="Calibri"/>
            </a:endParaRPr>
          </a:p>
        </p:txBody>
      </p:sp>
      <p:sp>
        <p:nvSpPr>
          <p:cNvPr id="31" name="Google Shape;31;p2"/>
          <p:cNvSpPr txBox="1"/>
          <p:nvPr/>
        </p:nvSpPr>
        <p:spPr>
          <a:xfrm>
            <a:off x="548640" y="1234440"/>
            <a:ext cx="6035040" cy="82296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B2733"/>
              </a:buClr>
              <a:buSzPts val="1500"/>
              <a:buFont typeface="Calibri"/>
              <a:buNone/>
            </a:pPr>
            <a:r>
              <a:rPr b="0" i="0" lang="en-US" sz="1500" u="none" cap="none" strike="noStrike">
                <a:solidFill>
                  <a:srgbClr val="1B2733"/>
                </a:solidFill>
                <a:latin typeface="Calibri"/>
                <a:ea typeface="Calibri"/>
                <a:cs typeface="Calibri"/>
                <a:sym typeface="Calibri"/>
              </a:rPr>
              <a:t>Un aeropuerto sobredemandado recibe 30 vuelos y solo tiene 10 puertas. El algoritmo no solo asigna: también decide a quién deja fuera.</a:t>
            </a:r>
            <a:endParaRPr b="0" i="0" sz="1500" u="none" cap="none" strike="noStrike">
              <a:solidFill>
                <a:schemeClr val="dk1"/>
              </a:solidFill>
              <a:latin typeface="Calibri"/>
              <a:ea typeface="Calibri"/>
              <a:cs typeface="Calibri"/>
              <a:sym typeface="Calibri"/>
            </a:endParaRPr>
          </a:p>
        </p:txBody>
      </p:sp>
      <p:sp>
        <p:nvSpPr>
          <p:cNvPr id="32" name="Google Shape;32;p2"/>
          <p:cNvSpPr/>
          <p:nvPr/>
        </p:nvSpPr>
        <p:spPr>
          <a:xfrm>
            <a:off x="548640" y="2240280"/>
            <a:ext cx="2880360" cy="1600200"/>
          </a:xfrm>
          <a:prstGeom prst="roundRect">
            <a:avLst>
              <a:gd fmla="val 4571"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822960" y="2487168"/>
            <a:ext cx="384048" cy="384048"/>
          </a:xfrm>
          <a:prstGeom prst="ellipse">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txBox="1"/>
          <p:nvPr/>
        </p:nvSpPr>
        <p:spPr>
          <a:xfrm>
            <a:off x="822960" y="24871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1</a:t>
            </a:r>
            <a:endParaRPr b="0" i="0" sz="1100" u="none" cap="none" strike="noStrike">
              <a:solidFill>
                <a:schemeClr val="dk1"/>
              </a:solidFill>
              <a:latin typeface="Calibri"/>
              <a:ea typeface="Calibri"/>
              <a:cs typeface="Calibri"/>
              <a:sym typeface="Calibri"/>
            </a:endParaRPr>
          </a:p>
        </p:txBody>
      </p:sp>
      <p:sp>
        <p:nvSpPr>
          <p:cNvPr id="35" name="Google Shape;35;p2"/>
          <p:cNvSpPr txBox="1"/>
          <p:nvPr/>
        </p:nvSpPr>
        <p:spPr>
          <a:xfrm>
            <a:off x="822960" y="2971800"/>
            <a:ext cx="2377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400"/>
              <a:buFont typeface="Calibri"/>
              <a:buNone/>
            </a:pPr>
            <a:r>
              <a:rPr b="1" i="0" lang="en-US" sz="1400" u="none" cap="none" strike="noStrike">
                <a:solidFill>
                  <a:srgbClr val="1B2733"/>
                </a:solidFill>
                <a:latin typeface="Calibri"/>
                <a:ea typeface="Calibri"/>
                <a:cs typeface="Calibri"/>
                <a:sym typeface="Calibri"/>
              </a:rPr>
              <a:t>¿QUÉ vuelos atender?</a:t>
            </a:r>
            <a:endParaRPr b="0" i="0" sz="1400" u="none" cap="none" strike="noStrike">
              <a:solidFill>
                <a:schemeClr val="dk1"/>
              </a:solidFill>
              <a:latin typeface="Calibri"/>
              <a:ea typeface="Calibri"/>
              <a:cs typeface="Calibri"/>
              <a:sym typeface="Calibri"/>
            </a:endParaRPr>
          </a:p>
        </p:txBody>
      </p:sp>
      <p:sp>
        <p:nvSpPr>
          <p:cNvPr id="36" name="Google Shape;36;p2"/>
          <p:cNvSpPr txBox="1"/>
          <p:nvPr/>
        </p:nvSpPr>
        <p:spPr>
          <a:xfrm>
            <a:off x="822960" y="3246120"/>
            <a:ext cx="23774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B"/>
              </a:buClr>
              <a:buSzPts val="1200"/>
              <a:buFont typeface="Calibri"/>
              <a:buNone/>
            </a:pPr>
            <a:r>
              <a:rPr b="0" i="0" lang="en-US" sz="1200" u="none" cap="none" strike="noStrike">
                <a:solidFill>
                  <a:srgbClr val="5A6B7B"/>
                </a:solidFill>
                <a:latin typeface="Calibri"/>
                <a:ea typeface="Calibri"/>
                <a:cs typeface="Calibri"/>
                <a:sym typeface="Calibri"/>
              </a:rPr>
              <a:t>Escoger 10 de 30; los otros 20 quedan sin programar.</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3703320" y="2240280"/>
            <a:ext cx="2880360" cy="1600200"/>
          </a:xfrm>
          <a:prstGeom prst="roundRect">
            <a:avLst>
              <a:gd fmla="val 4571"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2"/>
          <p:cNvSpPr/>
          <p:nvPr/>
        </p:nvSpPr>
        <p:spPr>
          <a:xfrm>
            <a:off x="3977640" y="2487168"/>
            <a:ext cx="384048" cy="384048"/>
          </a:xfrm>
          <a:prstGeom prst="ellipse">
            <a:avLst/>
          </a:prstGeom>
          <a:solidFill>
            <a:srgbClr val="F2A65A"/>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txBox="1"/>
          <p:nvPr/>
        </p:nvSpPr>
        <p:spPr>
          <a:xfrm>
            <a:off x="3977640" y="24871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2</a:t>
            </a:r>
            <a:endParaRPr b="0" i="0" sz="1100" u="none" cap="none" strike="noStrike">
              <a:solidFill>
                <a:schemeClr val="dk1"/>
              </a:solidFill>
              <a:latin typeface="Calibri"/>
              <a:ea typeface="Calibri"/>
              <a:cs typeface="Calibri"/>
              <a:sym typeface="Calibri"/>
            </a:endParaRPr>
          </a:p>
        </p:txBody>
      </p:sp>
      <p:sp>
        <p:nvSpPr>
          <p:cNvPr id="40" name="Google Shape;40;p2"/>
          <p:cNvSpPr txBox="1"/>
          <p:nvPr/>
        </p:nvSpPr>
        <p:spPr>
          <a:xfrm>
            <a:off x="3977640" y="2971800"/>
            <a:ext cx="2377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400"/>
              <a:buFont typeface="Calibri"/>
              <a:buNone/>
            </a:pPr>
            <a:r>
              <a:rPr b="1" i="0" lang="en-US" sz="1400" u="none" cap="none" strike="noStrike">
                <a:solidFill>
                  <a:srgbClr val="1B2733"/>
                </a:solidFill>
                <a:latin typeface="Calibri"/>
                <a:ea typeface="Calibri"/>
                <a:cs typeface="Calibri"/>
                <a:sym typeface="Calibri"/>
              </a:rPr>
              <a:t>¿DÓNDE parquear cada uno?</a:t>
            </a:r>
            <a:endParaRPr b="0" i="0" sz="1400" u="none" cap="none" strike="noStrike">
              <a:solidFill>
                <a:schemeClr val="dk1"/>
              </a:solidFill>
              <a:latin typeface="Calibri"/>
              <a:ea typeface="Calibri"/>
              <a:cs typeface="Calibri"/>
              <a:sym typeface="Calibri"/>
            </a:endParaRPr>
          </a:p>
        </p:txBody>
      </p:sp>
      <p:sp>
        <p:nvSpPr>
          <p:cNvPr id="41" name="Google Shape;41;p2"/>
          <p:cNvSpPr txBox="1"/>
          <p:nvPr/>
        </p:nvSpPr>
        <p:spPr>
          <a:xfrm>
            <a:off x="3977640" y="3246120"/>
            <a:ext cx="237744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B"/>
              </a:buClr>
              <a:buSzPts val="1200"/>
              <a:buFont typeface="Calibri"/>
              <a:buNone/>
            </a:pPr>
            <a:r>
              <a:rPr b="0" i="0" lang="en-US" sz="1200" u="none" cap="none" strike="noStrike">
                <a:solidFill>
                  <a:srgbClr val="5A6B7B"/>
                </a:solidFill>
                <a:latin typeface="Calibri"/>
                <a:ea typeface="Calibri"/>
                <a:cs typeface="Calibri"/>
                <a:sym typeface="Calibri"/>
              </a:rPr>
              <a:t>Manga o zona remota: cada puerta desembarca a un ritmo distinto.</a:t>
            </a:r>
            <a:endParaRPr b="0" i="0" sz="1200" u="none" cap="none" strike="noStrike">
              <a:solidFill>
                <a:schemeClr val="dk1"/>
              </a:solidFill>
              <a:latin typeface="Calibri"/>
              <a:ea typeface="Calibri"/>
              <a:cs typeface="Calibri"/>
              <a:sym typeface="Calibri"/>
            </a:endParaRPr>
          </a:p>
        </p:txBody>
      </p:sp>
      <p:sp>
        <p:nvSpPr>
          <p:cNvPr id="42" name="Google Shape;42;p2"/>
          <p:cNvSpPr txBox="1"/>
          <p:nvPr/>
        </p:nvSpPr>
        <p:spPr>
          <a:xfrm>
            <a:off x="548640" y="4114800"/>
            <a:ext cx="60350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400"/>
              <a:buFont typeface="Calibri"/>
              <a:buNone/>
            </a:pPr>
            <a:r>
              <a:rPr b="1" i="0" lang="en-US" sz="1400" u="none" cap="none" strike="noStrike">
                <a:solidFill>
                  <a:srgbClr val="1C7293"/>
                </a:solidFill>
                <a:latin typeface="Calibri"/>
                <a:ea typeface="Calibri"/>
                <a:cs typeface="Calibri"/>
                <a:sym typeface="Calibri"/>
              </a:rPr>
              <a:t>Objetivo: maximizar la eficiencia = pasajeros desembarcados por unidad de tiempo.</a:t>
            </a:r>
            <a:endParaRPr b="0" i="0" sz="1400" u="none" cap="none" strike="noStrike">
              <a:solidFill>
                <a:schemeClr val="dk1"/>
              </a:solidFill>
              <a:latin typeface="Calibri"/>
              <a:ea typeface="Calibri"/>
              <a:cs typeface="Calibri"/>
              <a:sym typeface="Calibri"/>
            </a:endParaRPr>
          </a:p>
        </p:txBody>
      </p:sp>
      <p:sp>
        <p:nvSpPr>
          <p:cNvPr id="43" name="Google Shape;43;p2"/>
          <p:cNvSpPr/>
          <p:nvPr/>
        </p:nvSpPr>
        <p:spPr>
          <a:xfrm>
            <a:off x="7132320" y="1234440"/>
            <a:ext cx="4526280" cy="3566160"/>
          </a:xfrm>
          <a:prstGeom prst="roundRect">
            <a:avLst>
              <a:gd fmla="val 2051"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2"/>
          <p:cNvSpPr txBox="1"/>
          <p:nvPr/>
        </p:nvSpPr>
        <p:spPr>
          <a:xfrm>
            <a:off x="7315200" y="1554480"/>
            <a:ext cx="201168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A65A"/>
              </a:buClr>
              <a:buSzPts val="4200"/>
              <a:buFont typeface="Cambria"/>
              <a:buNone/>
            </a:pPr>
            <a:r>
              <a:rPr b="1" i="0" lang="en-US" sz="4200" u="none" cap="none" strike="noStrike">
                <a:solidFill>
                  <a:srgbClr val="F2A65A"/>
                </a:solidFill>
                <a:latin typeface="Cambria"/>
                <a:ea typeface="Cambria"/>
                <a:cs typeface="Cambria"/>
                <a:sym typeface="Cambria"/>
              </a:rPr>
              <a:t>30</a:t>
            </a:r>
            <a:endParaRPr b="0" i="0" sz="4200" u="none" cap="none" strike="noStrike">
              <a:solidFill>
                <a:schemeClr val="dk1"/>
              </a:solidFill>
              <a:latin typeface="Calibri"/>
              <a:ea typeface="Calibri"/>
              <a:cs typeface="Calibri"/>
              <a:sym typeface="Calibri"/>
            </a:endParaRPr>
          </a:p>
        </p:txBody>
      </p:sp>
      <p:sp>
        <p:nvSpPr>
          <p:cNvPr id="45" name="Google Shape;45;p2"/>
          <p:cNvSpPr txBox="1"/>
          <p:nvPr/>
        </p:nvSpPr>
        <p:spPr>
          <a:xfrm>
            <a:off x="7315200" y="2212848"/>
            <a:ext cx="2011680"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vuelos por asignar</a:t>
            </a:r>
            <a:endParaRPr b="0" i="0" sz="1100" u="none" cap="none" strike="noStrike">
              <a:solidFill>
                <a:schemeClr val="dk1"/>
              </a:solidFill>
              <a:latin typeface="Calibri"/>
              <a:ea typeface="Calibri"/>
              <a:cs typeface="Calibri"/>
              <a:sym typeface="Calibri"/>
            </a:endParaRPr>
          </a:p>
        </p:txBody>
      </p:sp>
      <p:sp>
        <p:nvSpPr>
          <p:cNvPr id="46" name="Google Shape;46;p2"/>
          <p:cNvSpPr txBox="1"/>
          <p:nvPr/>
        </p:nvSpPr>
        <p:spPr>
          <a:xfrm>
            <a:off x="9418320" y="1554480"/>
            <a:ext cx="201168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A65A"/>
              </a:buClr>
              <a:buSzPts val="4200"/>
              <a:buFont typeface="Cambria"/>
              <a:buNone/>
            </a:pPr>
            <a:r>
              <a:rPr b="1" i="0" lang="en-US" sz="4200" u="none" cap="none" strike="noStrike">
                <a:solidFill>
                  <a:srgbClr val="F2A65A"/>
                </a:solidFill>
                <a:latin typeface="Cambria"/>
                <a:ea typeface="Cambria"/>
                <a:cs typeface="Cambria"/>
                <a:sym typeface="Cambria"/>
              </a:rPr>
              <a:t>10</a:t>
            </a:r>
            <a:endParaRPr b="0" i="0" sz="4200" u="none" cap="none" strike="noStrike">
              <a:solidFill>
                <a:schemeClr val="dk1"/>
              </a:solidFill>
              <a:latin typeface="Calibri"/>
              <a:ea typeface="Calibri"/>
              <a:cs typeface="Calibri"/>
              <a:sym typeface="Calibri"/>
            </a:endParaRPr>
          </a:p>
        </p:txBody>
      </p:sp>
      <p:sp>
        <p:nvSpPr>
          <p:cNvPr id="47" name="Google Shape;47;p2"/>
          <p:cNvSpPr txBox="1"/>
          <p:nvPr/>
        </p:nvSpPr>
        <p:spPr>
          <a:xfrm>
            <a:off x="9418320" y="2212848"/>
            <a:ext cx="2011680"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puertas disponibles</a:t>
            </a:r>
            <a:endParaRPr b="0" i="0" sz="1100" u="none" cap="none" strike="noStrike">
              <a:solidFill>
                <a:schemeClr val="dk1"/>
              </a:solidFill>
              <a:latin typeface="Calibri"/>
              <a:ea typeface="Calibri"/>
              <a:cs typeface="Calibri"/>
              <a:sym typeface="Calibri"/>
            </a:endParaRPr>
          </a:p>
        </p:txBody>
      </p:sp>
      <p:sp>
        <p:nvSpPr>
          <p:cNvPr id="48" name="Google Shape;48;p2"/>
          <p:cNvSpPr txBox="1"/>
          <p:nvPr/>
        </p:nvSpPr>
        <p:spPr>
          <a:xfrm>
            <a:off x="7315200" y="2971800"/>
            <a:ext cx="411480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200"/>
              <a:buFont typeface="Cambria"/>
              <a:buNone/>
            </a:pPr>
            <a:r>
              <a:rPr b="1" i="0" lang="en-US" sz="3200" u="none" cap="none" strike="noStrike">
                <a:solidFill>
                  <a:srgbClr val="FFFFFF"/>
                </a:solidFill>
                <a:latin typeface="Cambria"/>
                <a:ea typeface="Cambria"/>
                <a:cs typeface="Cambria"/>
                <a:sym typeface="Cambria"/>
              </a:rPr>
              <a:t>1,09 × 10¹⁴</a:t>
            </a:r>
            <a:endParaRPr b="0" i="0" sz="3200" u="none" cap="none" strike="noStrike">
              <a:solidFill>
                <a:schemeClr val="dk1"/>
              </a:solidFill>
              <a:latin typeface="Calibri"/>
              <a:ea typeface="Calibri"/>
              <a:cs typeface="Calibri"/>
              <a:sym typeface="Calibri"/>
            </a:endParaRPr>
          </a:p>
        </p:txBody>
      </p:sp>
      <p:sp>
        <p:nvSpPr>
          <p:cNvPr id="49" name="Google Shape;49;p2"/>
          <p:cNvSpPr txBox="1"/>
          <p:nvPr/>
        </p:nvSpPr>
        <p:spPr>
          <a:xfrm>
            <a:off x="7315200" y="3630168"/>
            <a:ext cx="4114800"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programaciones distintas posibles</a:t>
            </a:r>
            <a:endParaRPr b="0" i="0" sz="1100" u="none" cap="none" strike="noStrike">
              <a:solidFill>
                <a:schemeClr val="dk1"/>
              </a:solidFill>
              <a:latin typeface="Calibri"/>
              <a:ea typeface="Calibri"/>
              <a:cs typeface="Calibri"/>
              <a:sym typeface="Calibri"/>
            </a:endParaRPr>
          </a:p>
        </p:txBody>
      </p:sp>
      <p:sp>
        <p:nvSpPr>
          <p:cNvPr id="50" name="Google Shape;50;p2"/>
          <p:cNvSpPr txBox="1"/>
          <p:nvPr/>
        </p:nvSpPr>
        <p:spPr>
          <a:xfrm>
            <a:off x="7315200" y="4114800"/>
            <a:ext cx="411480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La enumeración exhaustiva es inviable: se justifica una metaheurística poblacional.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 name="Shape 55"/>
        <p:cNvGrpSpPr/>
        <p:nvPr/>
      </p:nvGrpSpPr>
      <p:grpSpPr>
        <a:xfrm>
          <a:off x="0" y="0"/>
          <a:ext cx="0" cy="0"/>
          <a:chOff x="0" y="0"/>
          <a:chExt cx="0" cy="0"/>
        </a:xfrm>
      </p:grpSpPr>
      <p:sp>
        <p:nvSpPr>
          <p:cNvPr id="56" name="Google Shape;56;p3"/>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100"/>
              <a:buFont typeface="Calibri"/>
              <a:buNone/>
            </a:pPr>
            <a:r>
              <a:rPr b="1" i="0" lang="en-US" sz="1100" u="none" cap="none" strike="noStrike">
                <a:solidFill>
                  <a:srgbClr val="1C7293"/>
                </a:solidFill>
                <a:latin typeface="Calibri"/>
                <a:ea typeface="Calibri"/>
                <a:cs typeface="Calibri"/>
                <a:sym typeface="Calibri"/>
              </a:rPr>
              <a:t>REPRESENTACIÓN</a:t>
            </a:r>
            <a:endParaRPr b="0" i="0" sz="1100" u="none" cap="none" strike="noStrike">
              <a:solidFill>
                <a:schemeClr val="dk1"/>
              </a:solidFill>
              <a:latin typeface="Calibri"/>
              <a:ea typeface="Calibri"/>
              <a:cs typeface="Calibri"/>
              <a:sym typeface="Calibri"/>
            </a:endParaRPr>
          </a:p>
        </p:txBody>
      </p:sp>
      <p:sp>
        <p:nvSpPr>
          <p:cNvPr id="57" name="Google Shape;57;p3"/>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3000"/>
              <a:buFont typeface="Cambria"/>
              <a:buNone/>
            </a:pPr>
            <a:r>
              <a:rPr b="1" i="0" lang="en-US" sz="3000" u="none" cap="none" strike="noStrike">
                <a:solidFill>
                  <a:srgbClr val="1B2733"/>
                </a:solidFill>
                <a:latin typeface="Cambria"/>
                <a:ea typeface="Cambria"/>
                <a:cs typeface="Cambria"/>
                <a:sym typeface="Cambria"/>
              </a:rPr>
              <a:t>Individuo, gen, alelo y fitness</a:t>
            </a:r>
            <a:endParaRPr b="0" i="0" sz="3000" u="none" cap="none" strike="noStrike">
              <a:solidFill>
                <a:schemeClr val="dk1"/>
              </a:solidFill>
              <a:latin typeface="Calibri"/>
              <a:ea typeface="Calibri"/>
              <a:cs typeface="Calibri"/>
              <a:sym typeface="Calibri"/>
            </a:endParaRPr>
          </a:p>
        </p:txBody>
      </p:sp>
      <p:pic>
        <p:nvPicPr>
          <p:cNvPr descr="C:/Users/Ampue/Documents/PUCP/Diplomado IA/computacion_evolutiva/trabajo_final/Archivos Base/EjemploIndividuoAvion.jpg" id="58" name="Google Shape;58;p3"/>
          <p:cNvPicPr preferRelativeResize="0"/>
          <p:nvPr/>
        </p:nvPicPr>
        <p:blipFill rotWithShape="1">
          <a:blip r:embed="rId3">
            <a:alphaModFix/>
          </a:blip>
          <a:srcRect b="0" l="0" r="0" t="0"/>
          <a:stretch/>
        </p:blipFill>
        <p:spPr>
          <a:xfrm>
            <a:off x="548640" y="1280160"/>
            <a:ext cx="4846320" cy="3858768"/>
          </a:xfrm>
          <a:prstGeom prst="rect">
            <a:avLst/>
          </a:prstGeom>
          <a:noFill/>
          <a:ln>
            <a:noFill/>
          </a:ln>
        </p:spPr>
      </p:pic>
      <p:sp>
        <p:nvSpPr>
          <p:cNvPr id="59" name="Google Shape;59;p3"/>
          <p:cNvSpPr txBox="1"/>
          <p:nvPr/>
        </p:nvSpPr>
        <p:spPr>
          <a:xfrm>
            <a:off x="548640" y="5212080"/>
            <a:ext cx="48463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100"/>
              <a:buFont typeface="Calibri"/>
              <a:buNone/>
            </a:pPr>
            <a:r>
              <a:rPr b="0" i="1" lang="en-US" sz="1100" u="none" cap="none" strike="noStrike">
                <a:solidFill>
                  <a:srgbClr val="5A6B7B"/>
                </a:solidFill>
                <a:latin typeface="Calibri"/>
                <a:ea typeface="Calibri"/>
                <a:cs typeface="Calibri"/>
                <a:sym typeface="Calibri"/>
              </a:rPr>
              <a:t>El cromosoma son dos listas paralelas de largo K = 10.</a:t>
            </a:r>
            <a:endParaRPr b="0" i="0" sz="1100" u="none" cap="none" strike="noStrike">
              <a:solidFill>
                <a:schemeClr val="dk1"/>
              </a:solidFill>
              <a:latin typeface="Calibri"/>
              <a:ea typeface="Calibri"/>
              <a:cs typeface="Calibri"/>
              <a:sym typeface="Calibri"/>
            </a:endParaRPr>
          </a:p>
        </p:txBody>
      </p:sp>
      <p:sp>
        <p:nvSpPr>
          <p:cNvPr id="60" name="Google Shape;60;p3"/>
          <p:cNvSpPr/>
          <p:nvPr/>
        </p:nvSpPr>
        <p:spPr>
          <a:xfrm>
            <a:off x="5852160" y="1362456"/>
            <a:ext cx="384048" cy="384048"/>
          </a:xfrm>
          <a:prstGeom prst="ellipse">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852160" y="1362456"/>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I</a:t>
            </a:r>
            <a:endParaRPr b="0" i="0" sz="1100" u="none" cap="none" strike="noStrike">
              <a:solidFill>
                <a:schemeClr val="dk1"/>
              </a:solidFill>
              <a:latin typeface="Calibri"/>
              <a:ea typeface="Calibri"/>
              <a:cs typeface="Calibri"/>
              <a:sym typeface="Calibri"/>
            </a:endParaRPr>
          </a:p>
        </p:txBody>
      </p:sp>
      <p:sp>
        <p:nvSpPr>
          <p:cNvPr id="62" name="Google Shape;62;p3"/>
          <p:cNvSpPr txBox="1"/>
          <p:nvPr/>
        </p:nvSpPr>
        <p:spPr>
          <a:xfrm>
            <a:off x="6400800" y="1325880"/>
            <a:ext cx="5257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400"/>
              <a:buFont typeface="Calibri"/>
              <a:buNone/>
            </a:pPr>
            <a:r>
              <a:rPr b="1" i="0" lang="en-US" sz="1400" u="none" cap="none" strike="noStrike">
                <a:solidFill>
                  <a:srgbClr val="1B2733"/>
                </a:solidFill>
                <a:latin typeface="Calibri"/>
                <a:ea typeface="Calibri"/>
                <a:cs typeface="Calibri"/>
                <a:sym typeface="Calibri"/>
              </a:rPr>
              <a:t>Individuo / cromosoma</a:t>
            </a:r>
            <a:endParaRPr b="0" i="0" sz="1400" u="none" cap="none" strike="noStrike">
              <a:solidFill>
                <a:schemeClr val="dk1"/>
              </a:solidFill>
              <a:latin typeface="Calibri"/>
              <a:ea typeface="Calibri"/>
              <a:cs typeface="Calibri"/>
              <a:sym typeface="Calibri"/>
            </a:endParaRPr>
          </a:p>
        </p:txBody>
      </p:sp>
      <p:sp>
        <p:nvSpPr>
          <p:cNvPr id="63" name="Google Shape;63;p3"/>
          <p:cNvSpPr txBox="1"/>
          <p:nvPr/>
        </p:nvSpPr>
        <p:spPr>
          <a:xfrm>
            <a:off x="6400800" y="1600200"/>
            <a:ext cx="5257800" cy="6583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B7B"/>
              </a:buClr>
              <a:buSzPts val="1200"/>
              <a:buFont typeface="Calibri"/>
              <a:buNone/>
            </a:pPr>
            <a:r>
              <a:rPr b="0" i="0" lang="en-US" sz="1200" u="none" cap="none" strike="noStrike">
                <a:solidFill>
                  <a:srgbClr val="5A6B7B"/>
                </a:solidFill>
                <a:latin typeface="Calibri"/>
                <a:ea typeface="Calibri"/>
                <a:cs typeface="Calibri"/>
                <a:sym typeface="Calibri"/>
              </a:rPr>
              <a:t>Una programación completa: qué 10 vuelos se atienden y en qué puerta cada uno.</a:t>
            </a:r>
            <a:endParaRPr b="0" i="0" sz="1200" u="none" cap="none" strike="noStrike">
              <a:solidFill>
                <a:schemeClr val="dk1"/>
              </a:solidFill>
              <a:latin typeface="Calibri"/>
              <a:ea typeface="Calibri"/>
              <a:cs typeface="Calibri"/>
              <a:sym typeface="Calibri"/>
            </a:endParaRPr>
          </a:p>
        </p:txBody>
      </p:sp>
      <p:sp>
        <p:nvSpPr>
          <p:cNvPr id="64" name="Google Shape;64;p3"/>
          <p:cNvSpPr/>
          <p:nvPr/>
        </p:nvSpPr>
        <p:spPr>
          <a:xfrm>
            <a:off x="5852160" y="2368296"/>
            <a:ext cx="384048" cy="384048"/>
          </a:xfrm>
          <a:prstGeom prst="ellipse">
            <a:avLst/>
          </a:prstGeom>
          <a:solidFill>
            <a:srgbClr val="F2A65A"/>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3"/>
          <p:cNvSpPr txBox="1"/>
          <p:nvPr/>
        </p:nvSpPr>
        <p:spPr>
          <a:xfrm>
            <a:off x="5852160" y="2368296"/>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G</a:t>
            </a:r>
            <a:endParaRPr b="0" i="0" sz="1100" u="none" cap="none" strike="noStrike">
              <a:solidFill>
                <a:schemeClr val="dk1"/>
              </a:solidFill>
              <a:latin typeface="Calibri"/>
              <a:ea typeface="Calibri"/>
              <a:cs typeface="Calibri"/>
              <a:sym typeface="Calibri"/>
            </a:endParaRPr>
          </a:p>
        </p:txBody>
      </p:sp>
      <p:sp>
        <p:nvSpPr>
          <p:cNvPr id="66" name="Google Shape;66;p3"/>
          <p:cNvSpPr txBox="1"/>
          <p:nvPr/>
        </p:nvSpPr>
        <p:spPr>
          <a:xfrm>
            <a:off x="6400800" y="2331720"/>
            <a:ext cx="5257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400"/>
              <a:buFont typeface="Calibri"/>
              <a:buNone/>
            </a:pPr>
            <a:r>
              <a:rPr b="1" i="0" lang="en-US" sz="1400" u="none" cap="none" strike="noStrike">
                <a:solidFill>
                  <a:srgbClr val="1B2733"/>
                </a:solidFill>
                <a:latin typeface="Calibri"/>
                <a:ea typeface="Calibri"/>
                <a:cs typeface="Calibri"/>
                <a:sym typeface="Calibri"/>
              </a:rPr>
              <a:t>Gen</a:t>
            </a:r>
            <a:endParaRPr b="0" i="0" sz="1400" u="none" cap="none" strike="noStrike">
              <a:solidFill>
                <a:schemeClr val="dk1"/>
              </a:solidFill>
              <a:latin typeface="Calibri"/>
              <a:ea typeface="Calibri"/>
              <a:cs typeface="Calibri"/>
              <a:sym typeface="Calibri"/>
            </a:endParaRPr>
          </a:p>
        </p:txBody>
      </p:sp>
      <p:sp>
        <p:nvSpPr>
          <p:cNvPr id="67" name="Google Shape;67;p3"/>
          <p:cNvSpPr txBox="1"/>
          <p:nvPr/>
        </p:nvSpPr>
        <p:spPr>
          <a:xfrm>
            <a:off x="6400800" y="2606040"/>
            <a:ext cx="5257800" cy="6583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B7B"/>
              </a:buClr>
              <a:buSzPts val="1200"/>
              <a:buFont typeface="Calibri"/>
              <a:buNone/>
            </a:pPr>
            <a:r>
              <a:rPr b="0" i="0" lang="en-US" sz="1200" u="none" cap="none" strike="noStrike">
                <a:solidFill>
                  <a:srgbClr val="5A6B7B"/>
                </a:solidFill>
                <a:latin typeface="Calibri"/>
                <a:ea typeface="Calibri"/>
                <a:cs typeface="Calibri"/>
                <a:sym typeface="Calibri"/>
              </a:rPr>
              <a:t>La asignación de la posición i: el par (vuelo, puerta). El cromosoma tiene 10 genes.</a:t>
            </a:r>
            <a:endParaRPr b="0" i="0" sz="1200" u="none" cap="none" strike="noStrike">
              <a:solidFill>
                <a:schemeClr val="dk1"/>
              </a:solidFill>
              <a:latin typeface="Calibri"/>
              <a:ea typeface="Calibri"/>
              <a:cs typeface="Calibri"/>
              <a:sym typeface="Calibri"/>
            </a:endParaRPr>
          </a:p>
        </p:txBody>
      </p:sp>
      <p:sp>
        <p:nvSpPr>
          <p:cNvPr id="68" name="Google Shape;68;p3"/>
          <p:cNvSpPr/>
          <p:nvPr/>
        </p:nvSpPr>
        <p:spPr>
          <a:xfrm>
            <a:off x="5852160" y="3374136"/>
            <a:ext cx="384048" cy="384048"/>
          </a:xfrm>
          <a:prstGeom prst="ellipse">
            <a:avLst/>
          </a:prstGeom>
          <a:solidFill>
            <a:srgbClr val="F2A65A"/>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3"/>
          <p:cNvSpPr txBox="1"/>
          <p:nvPr/>
        </p:nvSpPr>
        <p:spPr>
          <a:xfrm>
            <a:off x="5852160" y="3374136"/>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A</a:t>
            </a:r>
            <a:endParaRPr b="0" i="0" sz="1100" u="none" cap="none" strike="noStrike">
              <a:solidFill>
                <a:schemeClr val="dk1"/>
              </a:solidFill>
              <a:latin typeface="Calibri"/>
              <a:ea typeface="Calibri"/>
              <a:cs typeface="Calibri"/>
              <a:sym typeface="Calibri"/>
            </a:endParaRPr>
          </a:p>
        </p:txBody>
      </p:sp>
      <p:sp>
        <p:nvSpPr>
          <p:cNvPr id="70" name="Google Shape;70;p3"/>
          <p:cNvSpPr txBox="1"/>
          <p:nvPr/>
        </p:nvSpPr>
        <p:spPr>
          <a:xfrm>
            <a:off x="6400800" y="3337560"/>
            <a:ext cx="5257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400"/>
              <a:buFont typeface="Calibri"/>
              <a:buNone/>
            </a:pPr>
            <a:r>
              <a:rPr b="1" i="0" lang="en-US" sz="1400" u="none" cap="none" strike="noStrike">
                <a:solidFill>
                  <a:srgbClr val="1B2733"/>
                </a:solidFill>
                <a:latin typeface="Calibri"/>
                <a:ea typeface="Calibri"/>
                <a:cs typeface="Calibri"/>
                <a:sym typeface="Calibri"/>
              </a:rPr>
              <a:t>Alelo</a:t>
            </a:r>
            <a:endParaRPr b="0" i="0" sz="1400" u="none" cap="none" strike="noStrike">
              <a:solidFill>
                <a:schemeClr val="dk1"/>
              </a:solidFill>
              <a:latin typeface="Calibri"/>
              <a:ea typeface="Calibri"/>
              <a:cs typeface="Calibri"/>
              <a:sym typeface="Calibri"/>
            </a:endParaRPr>
          </a:p>
        </p:txBody>
      </p:sp>
      <p:sp>
        <p:nvSpPr>
          <p:cNvPr id="71" name="Google Shape;71;p3"/>
          <p:cNvSpPr txBox="1"/>
          <p:nvPr/>
        </p:nvSpPr>
        <p:spPr>
          <a:xfrm>
            <a:off x="6400800" y="3611880"/>
            <a:ext cx="5257800" cy="6583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B7B"/>
              </a:buClr>
              <a:buSzPts val="1200"/>
              <a:buFont typeface="Calibri"/>
              <a:buNone/>
            </a:pPr>
            <a:r>
              <a:rPr b="0" i="0" lang="en-US" sz="1200" u="none" cap="none" strike="noStrike">
                <a:solidFill>
                  <a:srgbClr val="5A6B7B"/>
                </a:solidFill>
                <a:latin typeface="Calibri"/>
                <a:ea typeface="Calibri"/>
                <a:cs typeface="Calibri"/>
                <a:sym typeface="Calibri"/>
              </a:rPr>
              <a:t>Cualquier par formable con los catálogos: 30 × 10 = 300 valores posibles por gen.</a:t>
            </a:r>
            <a:endParaRPr b="0" i="0" sz="1200" u="none" cap="none" strike="noStrike">
              <a:solidFill>
                <a:schemeClr val="dk1"/>
              </a:solidFill>
              <a:latin typeface="Calibri"/>
              <a:ea typeface="Calibri"/>
              <a:cs typeface="Calibri"/>
              <a:sym typeface="Calibri"/>
            </a:endParaRPr>
          </a:p>
        </p:txBody>
      </p:sp>
      <p:sp>
        <p:nvSpPr>
          <p:cNvPr id="72" name="Google Shape;72;p3"/>
          <p:cNvSpPr/>
          <p:nvPr/>
        </p:nvSpPr>
        <p:spPr>
          <a:xfrm>
            <a:off x="5852160" y="4379976"/>
            <a:ext cx="384048" cy="384048"/>
          </a:xfrm>
          <a:prstGeom prst="ellipse">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3"/>
          <p:cNvSpPr txBox="1"/>
          <p:nvPr/>
        </p:nvSpPr>
        <p:spPr>
          <a:xfrm>
            <a:off x="5852160" y="4379976"/>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F</a:t>
            </a:r>
            <a:endParaRPr b="0" i="0" sz="1100" u="none" cap="none" strike="noStrike">
              <a:solidFill>
                <a:schemeClr val="dk1"/>
              </a:solidFill>
              <a:latin typeface="Calibri"/>
              <a:ea typeface="Calibri"/>
              <a:cs typeface="Calibri"/>
              <a:sym typeface="Calibri"/>
            </a:endParaRPr>
          </a:p>
        </p:txBody>
      </p:sp>
      <p:sp>
        <p:nvSpPr>
          <p:cNvPr id="74" name="Google Shape;74;p3"/>
          <p:cNvSpPr txBox="1"/>
          <p:nvPr/>
        </p:nvSpPr>
        <p:spPr>
          <a:xfrm>
            <a:off x="6400800" y="4343400"/>
            <a:ext cx="5257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400"/>
              <a:buFont typeface="Calibri"/>
              <a:buNone/>
            </a:pPr>
            <a:r>
              <a:rPr b="1" i="0" lang="en-US" sz="1400" u="none" cap="none" strike="noStrike">
                <a:solidFill>
                  <a:srgbClr val="1B2733"/>
                </a:solidFill>
                <a:latin typeface="Calibri"/>
                <a:ea typeface="Calibri"/>
                <a:cs typeface="Calibri"/>
                <a:sym typeface="Calibri"/>
              </a:rPr>
              <a:t>Fitness</a:t>
            </a:r>
            <a:endParaRPr b="0" i="0" sz="1400" u="none" cap="none" strike="noStrike">
              <a:solidFill>
                <a:schemeClr val="dk1"/>
              </a:solidFill>
              <a:latin typeface="Calibri"/>
              <a:ea typeface="Calibri"/>
              <a:cs typeface="Calibri"/>
              <a:sym typeface="Calibri"/>
            </a:endParaRPr>
          </a:p>
        </p:txBody>
      </p:sp>
      <p:sp>
        <p:nvSpPr>
          <p:cNvPr id="75" name="Google Shape;75;p3"/>
          <p:cNvSpPr txBox="1"/>
          <p:nvPr/>
        </p:nvSpPr>
        <p:spPr>
          <a:xfrm>
            <a:off x="6400800" y="4617720"/>
            <a:ext cx="5257800" cy="6583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B7B"/>
              </a:buClr>
              <a:buSzPts val="1200"/>
              <a:buFont typeface="Calibri"/>
              <a:buNone/>
            </a:pPr>
            <a:r>
              <a:rPr b="0" i="0" lang="en-US" sz="1200" u="none" cap="none" strike="noStrike">
                <a:solidFill>
                  <a:srgbClr val="5A6B7B"/>
                </a:solidFill>
                <a:latin typeface="Calibri"/>
                <a:ea typeface="Calibri"/>
                <a:cs typeface="Calibri"/>
                <a:sym typeface="Calibri"/>
              </a:rPr>
              <a:t>Suma sobre las 10 asignaciones de pasajeros ÷ tiempo de desembarque.</a:t>
            </a:r>
            <a:endParaRPr b="0" i="0" sz="1200" u="none" cap="none" strike="noStrike">
              <a:solidFill>
                <a:schemeClr val="dk1"/>
              </a:solidFill>
              <a:latin typeface="Calibri"/>
              <a:ea typeface="Calibri"/>
              <a:cs typeface="Calibri"/>
              <a:sym typeface="Calibri"/>
            </a:endParaRPr>
          </a:p>
        </p:txBody>
      </p:sp>
      <p:sp>
        <p:nvSpPr>
          <p:cNvPr id="76" name="Google Shape;76;p3"/>
          <p:cNvSpPr/>
          <p:nvPr/>
        </p:nvSpPr>
        <p:spPr>
          <a:xfrm>
            <a:off x="5852160" y="5394960"/>
            <a:ext cx="5806440" cy="685800"/>
          </a:xfrm>
          <a:prstGeom prst="roundRect">
            <a:avLst>
              <a:gd fmla="val 10667"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3"/>
          <p:cNvSpPr txBox="1"/>
          <p:nvPr/>
        </p:nvSpPr>
        <p:spPr>
          <a:xfrm>
            <a:off x="6080760" y="5394960"/>
            <a:ext cx="53492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E9E6B"/>
              </a:buClr>
              <a:buSzPts val="1250"/>
              <a:buFont typeface="Calibri"/>
              <a:buNone/>
            </a:pPr>
            <a:r>
              <a:rPr b="1" i="0" lang="en-US" sz="1250" u="none" cap="none" strike="noStrike">
                <a:solidFill>
                  <a:srgbClr val="2E9E6B"/>
                </a:solidFill>
                <a:latin typeface="Calibri"/>
                <a:ea typeface="Calibri"/>
                <a:cs typeface="Calibri"/>
                <a:sym typeface="Calibri"/>
              </a:rPr>
              <a:t>Validez: </a:t>
            </a:r>
            <a:r>
              <a:rPr b="0" i="0" lang="en-US" sz="1250" u="none" cap="none" strike="noStrike">
                <a:solidFill>
                  <a:srgbClr val="1B2733"/>
                </a:solidFill>
                <a:latin typeface="Calibri"/>
                <a:ea typeface="Calibri"/>
                <a:cs typeface="Calibri"/>
                <a:sym typeface="Calibri"/>
              </a:rPr>
              <a:t>vuelos distintos y puertas distintas. Una puerta no puede recibir dos aviones a la vez.</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 name="Shape 82"/>
        <p:cNvGrpSpPr/>
        <p:nvPr/>
      </p:nvGrpSpPr>
      <p:grpSpPr>
        <a:xfrm>
          <a:off x="0" y="0"/>
          <a:ext cx="0" cy="0"/>
          <a:chOff x="0" y="0"/>
          <a:chExt cx="0" cy="0"/>
        </a:xfrm>
      </p:grpSpPr>
      <p:sp>
        <p:nvSpPr>
          <p:cNvPr id="83" name="Google Shape;83;p4"/>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64550"/>
              </a:buClr>
              <a:buSzPts val="1100"/>
              <a:buFont typeface="Calibri"/>
              <a:buNone/>
            </a:pPr>
            <a:r>
              <a:rPr b="1" i="0" lang="en-US" sz="1100" u="none" cap="none" strike="noStrike">
                <a:solidFill>
                  <a:srgbClr val="D64550"/>
                </a:solidFill>
                <a:latin typeface="Calibri"/>
                <a:ea typeface="Calibri"/>
                <a:cs typeface="Calibri"/>
                <a:sym typeface="Calibri"/>
              </a:rPr>
              <a:t>DIAGNÓSTICO</a:t>
            </a:r>
            <a:endParaRPr b="0" i="0" sz="1100" u="none" cap="none" strike="noStrike">
              <a:solidFill>
                <a:schemeClr val="dk1"/>
              </a:solidFill>
              <a:latin typeface="Calibri"/>
              <a:ea typeface="Calibri"/>
              <a:cs typeface="Calibri"/>
              <a:sym typeface="Calibri"/>
            </a:endParaRPr>
          </a:p>
        </p:txBody>
      </p:sp>
      <p:sp>
        <p:nvSpPr>
          <p:cNvPr id="84" name="Google Shape;84;p4"/>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3000"/>
              <a:buFont typeface="Cambria"/>
              <a:buNone/>
            </a:pPr>
            <a:r>
              <a:rPr b="1" i="0" lang="en-US" sz="3000" u="none" cap="none" strike="noStrike">
                <a:solidFill>
                  <a:srgbClr val="1B2733"/>
                </a:solidFill>
                <a:latin typeface="Cambria"/>
                <a:ea typeface="Cambria"/>
                <a:cs typeface="Cambria"/>
                <a:sym typeface="Cambria"/>
              </a:rPr>
              <a:t>Qué falla en el código base</a:t>
            </a:r>
            <a:endParaRPr b="0" i="0" sz="3000" u="none" cap="none" strike="noStrike">
              <a:solidFill>
                <a:schemeClr val="dk1"/>
              </a:solidFill>
              <a:latin typeface="Calibri"/>
              <a:ea typeface="Calibri"/>
              <a:cs typeface="Calibri"/>
              <a:sym typeface="Calibri"/>
            </a:endParaRPr>
          </a:p>
        </p:txBody>
      </p:sp>
      <p:sp>
        <p:nvSpPr>
          <p:cNvPr id="85" name="Google Shape;85;p4"/>
          <p:cNvSpPr/>
          <p:nvPr/>
        </p:nvSpPr>
        <p:spPr>
          <a:xfrm>
            <a:off x="548640" y="1280160"/>
            <a:ext cx="3566160" cy="1965960"/>
          </a:xfrm>
          <a:prstGeom prst="roundRect">
            <a:avLst>
              <a:gd fmla="val 3721"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4"/>
          <p:cNvSpPr/>
          <p:nvPr/>
        </p:nvSpPr>
        <p:spPr>
          <a:xfrm>
            <a:off x="822960" y="1508760"/>
            <a:ext cx="384048" cy="384048"/>
          </a:xfrm>
          <a:prstGeom prst="ellipse">
            <a:avLst/>
          </a:prstGeom>
          <a:solidFill>
            <a:srgbClr val="D64550"/>
          </a:solidFill>
          <a:ln cap="flat" cmpd="sng" w="12700">
            <a:solidFill>
              <a:srgbClr val="D645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4"/>
          <p:cNvSpPr txBox="1"/>
          <p:nvPr/>
        </p:nvSpPr>
        <p:spPr>
          <a:xfrm>
            <a:off x="822960" y="150876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1</a:t>
            </a:r>
            <a:endParaRPr b="0" i="0" sz="1100" u="none" cap="none" strike="noStrike">
              <a:solidFill>
                <a:schemeClr val="dk1"/>
              </a:solidFill>
              <a:latin typeface="Calibri"/>
              <a:ea typeface="Calibri"/>
              <a:cs typeface="Calibri"/>
              <a:sym typeface="Calibri"/>
            </a:endParaRPr>
          </a:p>
        </p:txBody>
      </p:sp>
      <p:sp>
        <p:nvSpPr>
          <p:cNvPr id="88" name="Google Shape;88;p4"/>
          <p:cNvSpPr txBox="1"/>
          <p:nvPr/>
        </p:nvSpPr>
        <p:spPr>
          <a:xfrm>
            <a:off x="822960" y="2011680"/>
            <a:ext cx="3017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500"/>
              <a:buFont typeface="Calibri"/>
              <a:buNone/>
            </a:pPr>
            <a:r>
              <a:rPr b="1" i="0" lang="en-US" sz="1500" u="none" cap="none" strike="noStrike">
                <a:solidFill>
                  <a:srgbClr val="1B2733"/>
                </a:solidFill>
                <a:latin typeface="Calibri"/>
                <a:ea typeface="Calibri"/>
                <a:cs typeface="Calibri"/>
                <a:sym typeface="Calibri"/>
              </a:rPr>
              <a:t>crossover</a:t>
            </a:r>
            <a:endParaRPr b="0" i="0" sz="1500" u="none" cap="none" strike="noStrike">
              <a:solidFill>
                <a:schemeClr val="dk1"/>
              </a:solidFill>
              <a:latin typeface="Calibri"/>
              <a:ea typeface="Calibri"/>
              <a:cs typeface="Calibri"/>
              <a:sym typeface="Calibri"/>
            </a:endParaRPr>
          </a:p>
        </p:txBody>
      </p:sp>
      <p:sp>
        <p:nvSpPr>
          <p:cNvPr id="89" name="Google Shape;89;p4"/>
          <p:cNvSpPr txBox="1"/>
          <p:nvPr/>
        </p:nvSpPr>
        <p:spPr>
          <a:xfrm>
            <a:off x="822960" y="2331720"/>
            <a:ext cx="301752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5A6B7B"/>
              </a:buClr>
              <a:buSzPts val="1250"/>
              <a:buFont typeface="Calibri"/>
              <a:buNone/>
            </a:pPr>
            <a:r>
              <a:rPr b="0" i="0" lang="en-US" sz="1250" u="none" cap="none" strike="noStrike">
                <a:solidFill>
                  <a:srgbClr val="5A6B7B"/>
                </a:solidFill>
                <a:latin typeface="Calibri"/>
                <a:ea typeface="Calibri"/>
                <a:cs typeface="Calibri"/>
                <a:sym typeface="Calibri"/>
              </a:rPr>
              <a:t>Recombina puertas posición por posición: el hijo puede recibir la misma puerta de ambos padres.</a:t>
            </a:r>
            <a:endParaRPr b="0" i="0" sz="1250" u="none" cap="none" strike="noStrike">
              <a:solidFill>
                <a:schemeClr val="dk1"/>
              </a:solidFill>
              <a:latin typeface="Calibri"/>
              <a:ea typeface="Calibri"/>
              <a:cs typeface="Calibri"/>
              <a:sym typeface="Calibri"/>
            </a:endParaRPr>
          </a:p>
        </p:txBody>
      </p:sp>
      <p:sp>
        <p:nvSpPr>
          <p:cNvPr id="90" name="Google Shape;90;p4"/>
          <p:cNvSpPr/>
          <p:nvPr/>
        </p:nvSpPr>
        <p:spPr>
          <a:xfrm>
            <a:off x="4343400" y="1280160"/>
            <a:ext cx="3566160" cy="1965960"/>
          </a:xfrm>
          <a:prstGeom prst="roundRect">
            <a:avLst>
              <a:gd fmla="val 3721"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4"/>
          <p:cNvSpPr/>
          <p:nvPr/>
        </p:nvSpPr>
        <p:spPr>
          <a:xfrm>
            <a:off x="4617720" y="1508760"/>
            <a:ext cx="384048" cy="384048"/>
          </a:xfrm>
          <a:prstGeom prst="ellipse">
            <a:avLst/>
          </a:prstGeom>
          <a:solidFill>
            <a:srgbClr val="D64550"/>
          </a:solidFill>
          <a:ln cap="flat" cmpd="sng" w="12700">
            <a:solidFill>
              <a:srgbClr val="D645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4"/>
          <p:cNvSpPr txBox="1"/>
          <p:nvPr/>
        </p:nvSpPr>
        <p:spPr>
          <a:xfrm>
            <a:off x="4617720" y="150876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2</a:t>
            </a:r>
            <a:endParaRPr b="0" i="0" sz="1100" u="none" cap="none" strike="noStrike">
              <a:solidFill>
                <a:schemeClr val="dk1"/>
              </a:solidFill>
              <a:latin typeface="Calibri"/>
              <a:ea typeface="Calibri"/>
              <a:cs typeface="Calibri"/>
              <a:sym typeface="Calibri"/>
            </a:endParaRPr>
          </a:p>
        </p:txBody>
      </p:sp>
      <p:sp>
        <p:nvSpPr>
          <p:cNvPr id="93" name="Google Shape;93;p4"/>
          <p:cNvSpPr txBox="1"/>
          <p:nvPr/>
        </p:nvSpPr>
        <p:spPr>
          <a:xfrm>
            <a:off x="4617720" y="2011680"/>
            <a:ext cx="3017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500"/>
              <a:buFont typeface="Calibri"/>
              <a:buNone/>
            </a:pPr>
            <a:r>
              <a:rPr b="1" i="0" lang="en-US" sz="1500" u="none" cap="none" strike="noStrike">
                <a:solidFill>
                  <a:srgbClr val="1B2733"/>
                </a:solidFill>
                <a:latin typeface="Calibri"/>
                <a:ea typeface="Calibri"/>
                <a:cs typeface="Calibri"/>
                <a:sym typeface="Calibri"/>
              </a:rPr>
              <a:t>mutación</a:t>
            </a:r>
            <a:endParaRPr b="0" i="0" sz="1500" u="none" cap="none" strike="noStrike">
              <a:solidFill>
                <a:schemeClr val="dk1"/>
              </a:solidFill>
              <a:latin typeface="Calibri"/>
              <a:ea typeface="Calibri"/>
              <a:cs typeface="Calibri"/>
              <a:sym typeface="Calibri"/>
            </a:endParaRPr>
          </a:p>
        </p:txBody>
      </p:sp>
      <p:sp>
        <p:nvSpPr>
          <p:cNvPr id="94" name="Google Shape;94;p4"/>
          <p:cNvSpPr txBox="1"/>
          <p:nvPr/>
        </p:nvSpPr>
        <p:spPr>
          <a:xfrm>
            <a:off x="4617720" y="2331720"/>
            <a:ext cx="301752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5A6B7B"/>
              </a:buClr>
              <a:buSzPts val="1250"/>
              <a:buFont typeface="Calibri"/>
              <a:buNone/>
            </a:pPr>
            <a:r>
              <a:rPr b="0" i="0" lang="en-US" sz="1250" u="none" cap="none" strike="noStrike">
                <a:solidFill>
                  <a:srgbClr val="5A6B7B"/>
                </a:solidFill>
                <a:latin typeface="Calibri"/>
                <a:ea typeface="Calibri"/>
                <a:cs typeface="Calibri"/>
                <a:sym typeface="Calibri"/>
              </a:rPr>
              <a:t>Copia cualquier puerta del catálogo sobre una posición, sin mirar si ya estaba ocupada.</a:t>
            </a:r>
            <a:endParaRPr b="0" i="0" sz="1250" u="none" cap="none" strike="noStrike">
              <a:solidFill>
                <a:schemeClr val="dk1"/>
              </a:solidFill>
              <a:latin typeface="Calibri"/>
              <a:ea typeface="Calibri"/>
              <a:cs typeface="Calibri"/>
              <a:sym typeface="Calibri"/>
            </a:endParaRPr>
          </a:p>
        </p:txBody>
      </p:sp>
      <p:sp>
        <p:nvSpPr>
          <p:cNvPr id="95" name="Google Shape;95;p4"/>
          <p:cNvSpPr/>
          <p:nvPr/>
        </p:nvSpPr>
        <p:spPr>
          <a:xfrm>
            <a:off x="8138160" y="1280160"/>
            <a:ext cx="3566160" cy="1965960"/>
          </a:xfrm>
          <a:prstGeom prst="roundRect">
            <a:avLst>
              <a:gd fmla="val 3721"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4"/>
          <p:cNvSpPr/>
          <p:nvPr/>
        </p:nvSpPr>
        <p:spPr>
          <a:xfrm>
            <a:off x="8412480" y="1508760"/>
            <a:ext cx="384048" cy="384048"/>
          </a:xfrm>
          <a:prstGeom prst="ellipse">
            <a:avLst/>
          </a:prstGeom>
          <a:solidFill>
            <a:srgbClr val="D64550"/>
          </a:solidFill>
          <a:ln cap="flat" cmpd="sng" w="12700">
            <a:solidFill>
              <a:srgbClr val="D645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4"/>
          <p:cNvSpPr txBox="1"/>
          <p:nvPr/>
        </p:nvSpPr>
        <p:spPr>
          <a:xfrm>
            <a:off x="8412480" y="150876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3</a:t>
            </a:r>
            <a:endParaRPr b="0" i="0" sz="1100" u="none" cap="none" strike="noStrike">
              <a:solidFill>
                <a:schemeClr val="dk1"/>
              </a:solidFill>
              <a:latin typeface="Calibri"/>
              <a:ea typeface="Calibri"/>
              <a:cs typeface="Calibri"/>
              <a:sym typeface="Calibri"/>
            </a:endParaRPr>
          </a:p>
        </p:txBody>
      </p:sp>
      <p:sp>
        <p:nvSpPr>
          <p:cNvPr id="98" name="Google Shape;98;p4"/>
          <p:cNvSpPr txBox="1"/>
          <p:nvPr/>
        </p:nvSpPr>
        <p:spPr>
          <a:xfrm>
            <a:off x="8412480" y="2011680"/>
            <a:ext cx="3017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500"/>
              <a:buFont typeface="Calibri"/>
              <a:buNone/>
            </a:pPr>
            <a:r>
              <a:rPr b="1" i="0" lang="en-US" sz="1500" u="none" cap="none" strike="noStrike">
                <a:solidFill>
                  <a:srgbClr val="1B2733"/>
                </a:solidFill>
                <a:latin typeface="Calibri"/>
                <a:ea typeface="Calibri"/>
                <a:cs typeface="Calibri"/>
                <a:sym typeface="Calibri"/>
              </a:rPr>
              <a:t>vuelos</a:t>
            </a:r>
            <a:endParaRPr b="0" i="0" sz="1500" u="none" cap="none" strike="noStrike">
              <a:solidFill>
                <a:schemeClr val="dk1"/>
              </a:solidFill>
              <a:latin typeface="Calibri"/>
              <a:ea typeface="Calibri"/>
              <a:cs typeface="Calibri"/>
              <a:sym typeface="Calibri"/>
            </a:endParaRPr>
          </a:p>
        </p:txBody>
      </p:sp>
      <p:sp>
        <p:nvSpPr>
          <p:cNvPr id="99" name="Google Shape;99;p4"/>
          <p:cNvSpPr txBox="1"/>
          <p:nvPr/>
        </p:nvSpPr>
        <p:spPr>
          <a:xfrm>
            <a:off x="8412480" y="2331720"/>
            <a:ext cx="301752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5A6B7B"/>
              </a:buClr>
              <a:buSzPts val="1250"/>
              <a:buFont typeface="Calibri"/>
              <a:buNone/>
            </a:pPr>
            <a:r>
              <a:rPr b="0" i="0" lang="en-US" sz="1250" u="none" cap="none" strike="noStrike">
                <a:solidFill>
                  <a:srgbClr val="5A6B7B"/>
                </a:solidFill>
                <a:latin typeface="Calibri"/>
                <a:ea typeface="Calibri"/>
                <a:cs typeface="Calibri"/>
                <a:sym typeface="Calibri"/>
              </a:rPr>
              <a:t>La lista de vuelos nunca cambia: la decisión de a quién atender no evoluciona.</a:t>
            </a:r>
            <a:endParaRPr b="0" i="0" sz="1250" u="none" cap="none" strike="noStrike">
              <a:solidFill>
                <a:schemeClr val="dk1"/>
              </a:solidFill>
              <a:latin typeface="Calibri"/>
              <a:ea typeface="Calibri"/>
              <a:cs typeface="Calibri"/>
              <a:sym typeface="Calibri"/>
            </a:endParaRPr>
          </a:p>
        </p:txBody>
      </p:sp>
      <p:sp>
        <p:nvSpPr>
          <p:cNvPr id="100" name="Google Shape;100;p4"/>
          <p:cNvSpPr/>
          <p:nvPr/>
        </p:nvSpPr>
        <p:spPr>
          <a:xfrm>
            <a:off x="548640" y="3611880"/>
            <a:ext cx="11109960" cy="2148840"/>
          </a:xfrm>
          <a:prstGeom prst="roundRect">
            <a:avLst>
              <a:gd fmla="val 3404"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4"/>
          <p:cNvSpPr txBox="1"/>
          <p:nvPr/>
        </p:nvSpPr>
        <p:spPr>
          <a:xfrm>
            <a:off x="914400" y="3840480"/>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700"/>
              <a:buFont typeface="Cambria"/>
              <a:buNone/>
            </a:pPr>
            <a:r>
              <a:rPr b="1" i="0" lang="en-US" sz="1700" u="none" cap="none" strike="noStrike">
                <a:solidFill>
                  <a:srgbClr val="FFFFFF"/>
                </a:solidFill>
                <a:latin typeface="Cambria"/>
                <a:ea typeface="Cambria"/>
                <a:cs typeface="Cambria"/>
                <a:sym typeface="Cambria"/>
              </a:rPr>
              <a:t>La consecuencia: el algoritmo hace trampa</a:t>
            </a:r>
            <a:endParaRPr b="0" i="0" sz="1700" u="none" cap="none" strike="noStrike">
              <a:solidFill>
                <a:schemeClr val="dk1"/>
              </a:solidFill>
              <a:latin typeface="Calibri"/>
              <a:ea typeface="Calibri"/>
              <a:cs typeface="Calibri"/>
              <a:sym typeface="Calibri"/>
            </a:endParaRPr>
          </a:p>
        </p:txBody>
      </p:sp>
      <p:sp>
        <p:nvSpPr>
          <p:cNvPr id="102" name="Google Shape;102;p4"/>
          <p:cNvSpPr txBox="1"/>
          <p:nvPr/>
        </p:nvSpPr>
        <p:spPr>
          <a:xfrm>
            <a:off x="914400" y="4251960"/>
            <a:ext cx="5943600" cy="109728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CADCFC"/>
              </a:buClr>
              <a:buSzPts val="1300"/>
              <a:buFont typeface="Calibri"/>
              <a:buNone/>
            </a:pPr>
            <a:r>
              <a:rPr b="0" i="0" lang="en-US" sz="1300" u="none" cap="none" strike="noStrike">
                <a:solidFill>
                  <a:srgbClr val="CADCFC"/>
                </a:solidFill>
                <a:latin typeface="Calibri"/>
                <a:ea typeface="Calibri"/>
                <a:cs typeface="Calibri"/>
                <a:sym typeface="Calibri"/>
              </a:rPr>
              <a:t>Como el fitness suma términos independientes, la forma más fácil de subirlo es repetir la mejor puerta. La selección premia ese comportamiento y la búsqueda converge a programaciones imposibles de ejecutar.</a:t>
            </a:r>
            <a:endParaRPr b="0" i="0" sz="1300" u="none" cap="none" strike="noStrike">
              <a:solidFill>
                <a:schemeClr val="dk1"/>
              </a:solidFill>
              <a:latin typeface="Calibri"/>
              <a:ea typeface="Calibri"/>
              <a:cs typeface="Calibri"/>
              <a:sym typeface="Calibri"/>
            </a:endParaRPr>
          </a:p>
        </p:txBody>
      </p:sp>
      <p:sp>
        <p:nvSpPr>
          <p:cNvPr id="103" name="Google Shape;103;p4"/>
          <p:cNvSpPr txBox="1"/>
          <p:nvPr/>
        </p:nvSpPr>
        <p:spPr>
          <a:xfrm>
            <a:off x="7315200" y="3931920"/>
            <a:ext cx="201168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64550"/>
              </a:buClr>
              <a:buSzPts val="4000"/>
              <a:buFont typeface="Cambria"/>
              <a:buNone/>
            </a:pPr>
            <a:r>
              <a:rPr b="1" i="0" lang="en-US" sz="4000" u="none" cap="none" strike="noStrike">
                <a:solidFill>
                  <a:srgbClr val="D64550"/>
                </a:solidFill>
                <a:latin typeface="Cambria"/>
                <a:ea typeface="Cambria"/>
                <a:cs typeface="Cambria"/>
                <a:sym typeface="Cambria"/>
              </a:rPr>
              <a:t>0 %</a:t>
            </a:r>
            <a:endParaRPr b="0" i="0" sz="4000" u="none" cap="none" strike="noStrike">
              <a:solidFill>
                <a:schemeClr val="dk1"/>
              </a:solidFill>
              <a:latin typeface="Calibri"/>
              <a:ea typeface="Calibri"/>
              <a:cs typeface="Calibri"/>
              <a:sym typeface="Calibri"/>
            </a:endParaRPr>
          </a:p>
        </p:txBody>
      </p:sp>
      <p:sp>
        <p:nvSpPr>
          <p:cNvPr id="104" name="Google Shape;104;p4"/>
          <p:cNvSpPr txBox="1"/>
          <p:nvPr/>
        </p:nvSpPr>
        <p:spPr>
          <a:xfrm>
            <a:off x="7315200" y="4590288"/>
            <a:ext cx="2011680"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corridas con solución ejecutable</a:t>
            </a:r>
            <a:endParaRPr b="0" i="0" sz="1100" u="none" cap="none" strike="noStrike">
              <a:solidFill>
                <a:schemeClr val="dk1"/>
              </a:solidFill>
              <a:latin typeface="Calibri"/>
              <a:ea typeface="Calibri"/>
              <a:cs typeface="Calibri"/>
              <a:sym typeface="Calibri"/>
            </a:endParaRPr>
          </a:p>
        </p:txBody>
      </p:sp>
      <p:sp>
        <p:nvSpPr>
          <p:cNvPr id="105" name="Google Shape;105;p4"/>
          <p:cNvSpPr txBox="1"/>
          <p:nvPr/>
        </p:nvSpPr>
        <p:spPr>
          <a:xfrm>
            <a:off x="9464040" y="3931920"/>
            <a:ext cx="201168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64550"/>
              </a:buClr>
              <a:buSzPts val="4000"/>
              <a:buFont typeface="Cambria"/>
              <a:buNone/>
            </a:pPr>
            <a:r>
              <a:rPr b="1" i="0" lang="en-US" sz="4000" u="none" cap="none" strike="noStrike">
                <a:solidFill>
                  <a:srgbClr val="D64550"/>
                </a:solidFill>
                <a:latin typeface="Cambria"/>
                <a:ea typeface="Cambria"/>
                <a:cs typeface="Cambria"/>
                <a:sym typeface="Cambria"/>
              </a:rPr>
              <a:t>2,2</a:t>
            </a:r>
            <a:endParaRPr b="0" i="0" sz="4000" u="none" cap="none" strike="noStrike">
              <a:solidFill>
                <a:schemeClr val="dk1"/>
              </a:solidFill>
              <a:latin typeface="Calibri"/>
              <a:ea typeface="Calibri"/>
              <a:cs typeface="Calibri"/>
              <a:sym typeface="Calibri"/>
            </a:endParaRPr>
          </a:p>
        </p:txBody>
      </p:sp>
      <p:sp>
        <p:nvSpPr>
          <p:cNvPr id="106" name="Google Shape;106;p4"/>
          <p:cNvSpPr txBox="1"/>
          <p:nvPr/>
        </p:nvSpPr>
        <p:spPr>
          <a:xfrm>
            <a:off x="9464040" y="4590288"/>
            <a:ext cx="2011680"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puertas repetidas por hijo</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2B46"/>
        </a:solidFill>
      </p:bgPr>
    </p:bg>
    <p:spTree>
      <p:nvGrpSpPr>
        <p:cNvPr id="111" name="Shape 111"/>
        <p:cNvGrpSpPr/>
        <p:nvPr/>
      </p:nvGrpSpPr>
      <p:grpSpPr>
        <a:xfrm>
          <a:off x="0" y="0"/>
          <a:ext cx="0" cy="0"/>
          <a:chOff x="0" y="0"/>
          <a:chExt cx="0" cy="0"/>
        </a:xfrm>
      </p:grpSpPr>
      <p:sp>
        <p:nvSpPr>
          <p:cNvPr id="112" name="Google Shape;112;p5"/>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1100"/>
              <a:buFont typeface="Calibri"/>
              <a:buNone/>
            </a:pPr>
            <a:r>
              <a:rPr b="1" i="0" lang="en-US" sz="1100" u="none" cap="none" strike="noStrike">
                <a:solidFill>
                  <a:srgbClr val="F2A65A"/>
                </a:solidFill>
                <a:latin typeface="Calibri"/>
                <a:ea typeface="Calibri"/>
                <a:cs typeface="Calibri"/>
                <a:sym typeface="Calibri"/>
              </a:rPr>
              <a:t>HIPÓTESIS</a:t>
            </a:r>
            <a:endParaRPr b="0" i="0" sz="1100" u="none" cap="none" strike="noStrike">
              <a:solidFill>
                <a:schemeClr val="dk1"/>
              </a:solidFill>
              <a:latin typeface="Calibri"/>
              <a:ea typeface="Calibri"/>
              <a:cs typeface="Calibri"/>
              <a:sym typeface="Calibri"/>
            </a:endParaRPr>
          </a:p>
        </p:txBody>
      </p:sp>
      <p:sp>
        <p:nvSpPr>
          <p:cNvPr id="113" name="Google Shape;113;p5"/>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000"/>
              <a:buFont typeface="Cambria"/>
              <a:buNone/>
            </a:pPr>
            <a:r>
              <a:rPr b="1" i="0" lang="en-US" sz="3000" u="none" cap="none" strike="noStrike">
                <a:solidFill>
                  <a:srgbClr val="FFFFFF"/>
                </a:solidFill>
                <a:latin typeface="Cambria"/>
                <a:ea typeface="Cambria"/>
                <a:cs typeface="Cambria"/>
                <a:sym typeface="Cambria"/>
              </a:rPr>
              <a:t>Qué esperábamos demostrar</a:t>
            </a:r>
            <a:endParaRPr b="0" i="0" sz="3000" u="none" cap="none" strike="noStrike">
              <a:solidFill>
                <a:schemeClr val="dk1"/>
              </a:solidFill>
              <a:latin typeface="Calibri"/>
              <a:ea typeface="Calibri"/>
              <a:cs typeface="Calibri"/>
              <a:sym typeface="Calibri"/>
            </a:endParaRPr>
          </a:p>
        </p:txBody>
      </p:sp>
      <p:sp>
        <p:nvSpPr>
          <p:cNvPr id="114" name="Google Shape;114;p5"/>
          <p:cNvSpPr/>
          <p:nvPr/>
        </p:nvSpPr>
        <p:spPr>
          <a:xfrm>
            <a:off x="548640" y="1417320"/>
            <a:ext cx="11109960" cy="1280160"/>
          </a:xfrm>
          <a:prstGeom prst="roundRect">
            <a:avLst>
              <a:gd fmla="val 5714" name="adj"/>
            </a:avLst>
          </a:prstGeom>
          <a:solidFill>
            <a:srgbClr val="17395B"/>
          </a:solidFill>
          <a:ln cap="flat" cmpd="sng" w="12700">
            <a:solidFill>
              <a:srgbClr val="17395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txBox="1"/>
          <p:nvPr/>
        </p:nvSpPr>
        <p:spPr>
          <a:xfrm>
            <a:off x="914400" y="1691640"/>
            <a:ext cx="9144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3000"/>
              <a:buFont typeface="Cambria"/>
              <a:buNone/>
            </a:pPr>
            <a:r>
              <a:rPr b="1" i="0" lang="en-US" sz="3000" u="none" cap="none" strike="noStrike">
                <a:solidFill>
                  <a:srgbClr val="F2A65A"/>
                </a:solidFill>
                <a:latin typeface="Cambria"/>
                <a:ea typeface="Cambria"/>
                <a:cs typeface="Cambria"/>
                <a:sym typeface="Cambria"/>
              </a:rPr>
              <a:t>H1</a:t>
            </a:r>
            <a:endParaRPr b="0" i="0" sz="3000" u="none" cap="none" strike="noStrike">
              <a:solidFill>
                <a:schemeClr val="dk1"/>
              </a:solidFill>
              <a:latin typeface="Calibri"/>
              <a:ea typeface="Calibri"/>
              <a:cs typeface="Calibri"/>
              <a:sym typeface="Calibri"/>
            </a:endParaRPr>
          </a:p>
        </p:txBody>
      </p:sp>
      <p:sp>
        <p:nvSpPr>
          <p:cNvPr id="116" name="Google Shape;116;p5"/>
          <p:cNvSpPr txBox="1"/>
          <p:nvPr/>
        </p:nvSpPr>
        <p:spPr>
          <a:xfrm>
            <a:off x="1920240" y="1600200"/>
            <a:ext cx="9326880" cy="9144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FFFFF"/>
              </a:buClr>
              <a:buSzPts val="1400"/>
              <a:buFont typeface="Calibri"/>
              <a:buNone/>
            </a:pPr>
            <a:r>
              <a:rPr b="0" i="0" lang="en-US" sz="1400" u="none" cap="none" strike="noStrike">
                <a:solidFill>
                  <a:srgbClr val="FFFFFF"/>
                </a:solidFill>
                <a:latin typeface="Calibri"/>
                <a:ea typeface="Calibri"/>
                <a:cs typeface="Calibri"/>
                <a:sym typeface="Calibri"/>
              </a:rPr>
              <a:t>Heredar la asignación completa (vuelo, puerta) y reparar los conflictos entrega el 100 % de soluciones factibles. El fitness reportado bajará, porque el del código base es inalcanzable.</a:t>
            </a:r>
            <a:endParaRPr b="0" i="0" sz="1400" u="none" cap="none" strike="noStrike">
              <a:solidFill>
                <a:schemeClr val="dk1"/>
              </a:solidFill>
              <a:latin typeface="Calibri"/>
              <a:ea typeface="Calibri"/>
              <a:cs typeface="Calibri"/>
              <a:sym typeface="Calibri"/>
            </a:endParaRPr>
          </a:p>
        </p:txBody>
      </p:sp>
      <p:sp>
        <p:nvSpPr>
          <p:cNvPr id="117" name="Google Shape;117;p5"/>
          <p:cNvSpPr/>
          <p:nvPr/>
        </p:nvSpPr>
        <p:spPr>
          <a:xfrm>
            <a:off x="548640" y="2926080"/>
            <a:ext cx="11109960" cy="1280160"/>
          </a:xfrm>
          <a:prstGeom prst="roundRect">
            <a:avLst>
              <a:gd fmla="val 5714" name="adj"/>
            </a:avLst>
          </a:prstGeom>
          <a:solidFill>
            <a:srgbClr val="17395B"/>
          </a:solidFill>
          <a:ln cap="flat" cmpd="sng" w="12700">
            <a:solidFill>
              <a:srgbClr val="17395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5"/>
          <p:cNvSpPr txBox="1"/>
          <p:nvPr/>
        </p:nvSpPr>
        <p:spPr>
          <a:xfrm>
            <a:off x="914400" y="3200400"/>
            <a:ext cx="9144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3000"/>
              <a:buFont typeface="Cambria"/>
              <a:buNone/>
            </a:pPr>
            <a:r>
              <a:rPr b="1" i="0" lang="en-US" sz="3000" u="none" cap="none" strike="noStrike">
                <a:solidFill>
                  <a:srgbClr val="F2A65A"/>
                </a:solidFill>
                <a:latin typeface="Cambria"/>
                <a:ea typeface="Cambria"/>
                <a:cs typeface="Cambria"/>
                <a:sym typeface="Cambria"/>
              </a:rPr>
              <a:t>H2</a:t>
            </a:r>
            <a:endParaRPr b="0" i="0" sz="3000" u="none" cap="none" strike="noStrike">
              <a:solidFill>
                <a:schemeClr val="dk1"/>
              </a:solidFill>
              <a:latin typeface="Calibri"/>
              <a:ea typeface="Calibri"/>
              <a:cs typeface="Calibri"/>
              <a:sym typeface="Calibri"/>
            </a:endParaRPr>
          </a:p>
        </p:txBody>
      </p:sp>
      <p:sp>
        <p:nvSpPr>
          <p:cNvPr id="119" name="Google Shape;119;p5"/>
          <p:cNvSpPr txBox="1"/>
          <p:nvPr/>
        </p:nvSpPr>
        <p:spPr>
          <a:xfrm>
            <a:off x="1920240" y="3108960"/>
            <a:ext cx="9326880" cy="9144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FFFFF"/>
              </a:buClr>
              <a:buSzPts val="1400"/>
              <a:buFont typeface="Calibri"/>
              <a:buNone/>
            </a:pPr>
            <a:r>
              <a:rPr b="0" i="0" lang="en-US" sz="1400" u="none" cap="none" strike="noStrike">
                <a:solidFill>
                  <a:srgbClr val="FFFFFF"/>
                </a:solidFill>
                <a:latin typeface="Calibri"/>
                <a:ea typeface="Calibri"/>
                <a:cs typeface="Calibri"/>
                <a:sym typeface="Calibri"/>
              </a:rPr>
              <a:t>Mutar de forma localizada —un solo nivel por evento, vuelos o puertas— sostiene la exploración, reduce el estancamiento y aumenta la frecuencia con que se alcanza el óptimo exacto.</a:t>
            </a:r>
            <a:endParaRPr b="0" i="0" sz="1400" u="none" cap="none" strike="noStrike">
              <a:solidFill>
                <a:schemeClr val="dk1"/>
              </a:solidFill>
              <a:latin typeface="Calibri"/>
              <a:ea typeface="Calibri"/>
              <a:cs typeface="Calibri"/>
              <a:sym typeface="Calibri"/>
            </a:endParaRPr>
          </a:p>
        </p:txBody>
      </p:sp>
      <p:sp>
        <p:nvSpPr>
          <p:cNvPr id="120" name="Google Shape;120;p5"/>
          <p:cNvSpPr/>
          <p:nvPr/>
        </p:nvSpPr>
        <p:spPr>
          <a:xfrm>
            <a:off x="548640" y="4434840"/>
            <a:ext cx="11109960" cy="1280160"/>
          </a:xfrm>
          <a:prstGeom prst="roundRect">
            <a:avLst>
              <a:gd fmla="val 5714" name="adj"/>
            </a:avLst>
          </a:prstGeom>
          <a:solidFill>
            <a:srgbClr val="17395B"/>
          </a:solidFill>
          <a:ln cap="flat" cmpd="sng" w="12700">
            <a:solidFill>
              <a:srgbClr val="17395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5"/>
          <p:cNvSpPr txBox="1"/>
          <p:nvPr/>
        </p:nvSpPr>
        <p:spPr>
          <a:xfrm>
            <a:off x="914400" y="4709160"/>
            <a:ext cx="9144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3000"/>
              <a:buFont typeface="Cambria"/>
              <a:buNone/>
            </a:pPr>
            <a:r>
              <a:rPr b="1" i="0" lang="en-US" sz="3000" u="none" cap="none" strike="noStrike">
                <a:solidFill>
                  <a:srgbClr val="F2A65A"/>
                </a:solidFill>
                <a:latin typeface="Cambria"/>
                <a:ea typeface="Cambria"/>
                <a:cs typeface="Cambria"/>
                <a:sym typeface="Cambria"/>
              </a:rPr>
              <a:t>H3</a:t>
            </a:r>
            <a:endParaRPr b="0" i="0" sz="3000" u="none" cap="none" strike="noStrike">
              <a:solidFill>
                <a:schemeClr val="dk1"/>
              </a:solidFill>
              <a:latin typeface="Calibri"/>
              <a:ea typeface="Calibri"/>
              <a:cs typeface="Calibri"/>
              <a:sym typeface="Calibri"/>
            </a:endParaRPr>
          </a:p>
        </p:txBody>
      </p:sp>
      <p:sp>
        <p:nvSpPr>
          <p:cNvPr id="122" name="Google Shape;122;p5"/>
          <p:cNvSpPr txBox="1"/>
          <p:nvPr/>
        </p:nvSpPr>
        <p:spPr>
          <a:xfrm>
            <a:off x="1920240" y="4617720"/>
            <a:ext cx="9326880" cy="9144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FFFFF"/>
              </a:buClr>
              <a:buSzPts val="1400"/>
              <a:buFont typeface="Calibri"/>
              <a:buNone/>
            </a:pPr>
            <a:r>
              <a:rPr b="0" i="0" lang="en-US" sz="1400" u="none" cap="none" strike="noStrike">
                <a:solidFill>
                  <a:srgbClr val="FFFFFF"/>
                </a:solidFill>
                <a:latin typeface="Calibri"/>
                <a:ea typeface="Calibri"/>
                <a:cs typeface="Calibri"/>
                <a:sym typeface="Calibri"/>
              </a:rPr>
              <a:t>Optimizar pasajeros y tiempo por separado con NSGA-II expone el compromiso que una única función agregada oculta, y encontrará soluciones que dominan al óptimo mono-objetivo.</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 name="Shape 127"/>
        <p:cNvGrpSpPr/>
        <p:nvPr/>
      </p:nvGrpSpPr>
      <p:grpSpPr>
        <a:xfrm>
          <a:off x="0" y="0"/>
          <a:ext cx="0" cy="0"/>
          <a:chOff x="0" y="0"/>
          <a:chExt cx="0" cy="0"/>
        </a:xfrm>
      </p:grpSpPr>
      <p:sp>
        <p:nvSpPr>
          <p:cNvPr id="128" name="Google Shape;128;p6"/>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100"/>
              <a:buFont typeface="Calibri"/>
              <a:buNone/>
            </a:pPr>
            <a:r>
              <a:rPr b="1" i="0" lang="en-US" sz="1100" u="none" cap="none" strike="noStrike">
                <a:solidFill>
                  <a:srgbClr val="1C7293"/>
                </a:solidFill>
                <a:latin typeface="Calibri"/>
                <a:ea typeface="Calibri"/>
                <a:cs typeface="Calibri"/>
                <a:sym typeface="Calibri"/>
              </a:rPr>
              <a:t>REDISEÑO · 1 DE 3</a:t>
            </a:r>
            <a:endParaRPr b="0" i="0" sz="1100" u="none" cap="none" strike="noStrike">
              <a:solidFill>
                <a:schemeClr val="dk1"/>
              </a:solidFill>
              <a:latin typeface="Calibri"/>
              <a:ea typeface="Calibri"/>
              <a:cs typeface="Calibri"/>
              <a:sym typeface="Calibri"/>
            </a:endParaRPr>
          </a:p>
        </p:txBody>
      </p:sp>
      <p:sp>
        <p:nvSpPr>
          <p:cNvPr id="129" name="Google Shape;129;p6"/>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3000"/>
              <a:buFont typeface="Cambria"/>
              <a:buNone/>
            </a:pPr>
            <a:r>
              <a:rPr b="1" i="0" lang="en-US" sz="3000" u="none" cap="none" strike="noStrike">
                <a:solidFill>
                  <a:srgbClr val="1B2733"/>
                </a:solidFill>
                <a:latin typeface="Cambria"/>
                <a:ea typeface="Cambria"/>
                <a:cs typeface="Cambria"/>
                <a:sym typeface="Cambria"/>
              </a:rPr>
              <a:t>Cambiar qué se hereda</a:t>
            </a:r>
            <a:endParaRPr b="0" i="0" sz="3000" u="none" cap="none" strike="noStrike">
              <a:solidFill>
                <a:schemeClr val="dk1"/>
              </a:solidFill>
              <a:latin typeface="Calibri"/>
              <a:ea typeface="Calibri"/>
              <a:cs typeface="Calibri"/>
              <a:sym typeface="Calibri"/>
            </a:endParaRPr>
          </a:p>
        </p:txBody>
      </p:sp>
      <p:sp>
        <p:nvSpPr>
          <p:cNvPr id="130" name="Google Shape;130;p6"/>
          <p:cNvSpPr/>
          <p:nvPr/>
        </p:nvSpPr>
        <p:spPr>
          <a:xfrm>
            <a:off x="548640" y="1280160"/>
            <a:ext cx="5394960" cy="4480560"/>
          </a:xfrm>
          <a:prstGeom prst="roundRect">
            <a:avLst>
              <a:gd fmla="val 1633"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6"/>
          <p:cNvSpPr txBox="1"/>
          <p:nvPr/>
        </p:nvSpPr>
        <p:spPr>
          <a:xfrm>
            <a:off x="868680" y="1508760"/>
            <a:ext cx="47548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64550"/>
              </a:buClr>
              <a:buSzPts val="1400"/>
              <a:buFont typeface="Calibri"/>
              <a:buNone/>
            </a:pPr>
            <a:r>
              <a:rPr b="1" i="0" lang="en-US" sz="1400" u="none" cap="none" strike="noStrike">
                <a:solidFill>
                  <a:srgbClr val="D64550"/>
                </a:solidFill>
                <a:latin typeface="Calibri"/>
                <a:ea typeface="Calibri"/>
                <a:cs typeface="Calibri"/>
                <a:sym typeface="Calibri"/>
              </a:rPr>
              <a:t>ANTES · el gen era la puerta</a:t>
            </a:r>
            <a:endParaRPr b="0" i="0" sz="1400" u="none" cap="none" strike="noStrike">
              <a:solidFill>
                <a:schemeClr val="dk1"/>
              </a:solidFill>
              <a:latin typeface="Calibri"/>
              <a:ea typeface="Calibri"/>
              <a:cs typeface="Calibri"/>
              <a:sym typeface="Calibri"/>
            </a:endParaRPr>
          </a:p>
        </p:txBody>
      </p:sp>
      <p:sp>
        <p:nvSpPr>
          <p:cNvPr id="132" name="Google Shape;132;p6"/>
          <p:cNvSpPr txBox="1"/>
          <p:nvPr/>
        </p:nvSpPr>
        <p:spPr>
          <a:xfrm>
            <a:off x="914400" y="2011680"/>
            <a:ext cx="1005840" cy="411480"/>
          </a:xfrm>
          <a:prstGeom prst="rect">
            <a:avLst/>
          </a:prstGeom>
          <a:solidFill>
            <a:srgbClr val="E4E9EE"/>
          </a:solid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200"/>
              <a:buFont typeface="Calibri"/>
              <a:buNone/>
            </a:pPr>
            <a:r>
              <a:rPr b="0" i="0" lang="en-US" sz="1200" u="none" cap="none" strike="noStrike">
                <a:solidFill>
                  <a:srgbClr val="5A6B7B"/>
                </a:solidFill>
                <a:latin typeface="Calibri"/>
                <a:ea typeface="Calibri"/>
                <a:cs typeface="Calibri"/>
                <a:sym typeface="Calibri"/>
              </a:rPr>
              <a:t>F17</a:t>
            </a:r>
            <a:endParaRPr b="0" i="0" sz="1200" u="none" cap="none" strike="noStrike">
              <a:solidFill>
                <a:schemeClr val="dk1"/>
              </a:solidFill>
              <a:latin typeface="Calibri"/>
              <a:ea typeface="Calibri"/>
              <a:cs typeface="Calibri"/>
              <a:sym typeface="Calibri"/>
            </a:endParaRPr>
          </a:p>
        </p:txBody>
      </p:sp>
      <p:sp>
        <p:nvSpPr>
          <p:cNvPr id="133" name="Google Shape;133;p6"/>
          <p:cNvSpPr txBox="1"/>
          <p:nvPr/>
        </p:nvSpPr>
        <p:spPr>
          <a:xfrm>
            <a:off x="2103120" y="2011680"/>
            <a:ext cx="1005840" cy="411480"/>
          </a:xfrm>
          <a:prstGeom prst="rect">
            <a:avLst/>
          </a:prstGeom>
          <a:solidFill>
            <a:srgbClr val="E4E9EE"/>
          </a:solid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200"/>
              <a:buFont typeface="Calibri"/>
              <a:buNone/>
            </a:pPr>
            <a:r>
              <a:rPr b="0" i="0" lang="en-US" sz="1200" u="none" cap="none" strike="noStrike">
                <a:solidFill>
                  <a:srgbClr val="5A6B7B"/>
                </a:solidFill>
                <a:latin typeface="Calibri"/>
                <a:ea typeface="Calibri"/>
                <a:cs typeface="Calibri"/>
                <a:sym typeface="Calibri"/>
              </a:rPr>
              <a:t>F03</a:t>
            </a:r>
            <a:endParaRPr b="0" i="0" sz="1200" u="none" cap="none" strike="noStrike">
              <a:solidFill>
                <a:schemeClr val="dk1"/>
              </a:solidFill>
              <a:latin typeface="Calibri"/>
              <a:ea typeface="Calibri"/>
              <a:cs typeface="Calibri"/>
              <a:sym typeface="Calibri"/>
            </a:endParaRPr>
          </a:p>
        </p:txBody>
      </p:sp>
      <p:sp>
        <p:nvSpPr>
          <p:cNvPr id="134" name="Google Shape;134;p6"/>
          <p:cNvSpPr txBox="1"/>
          <p:nvPr/>
        </p:nvSpPr>
        <p:spPr>
          <a:xfrm>
            <a:off x="3291840" y="2011680"/>
            <a:ext cx="1005840" cy="411480"/>
          </a:xfrm>
          <a:prstGeom prst="rect">
            <a:avLst/>
          </a:prstGeom>
          <a:solidFill>
            <a:srgbClr val="E4E9EE"/>
          </a:solid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200"/>
              <a:buFont typeface="Calibri"/>
              <a:buNone/>
            </a:pPr>
            <a:r>
              <a:rPr b="0" i="0" lang="en-US" sz="1200" u="none" cap="none" strike="noStrike">
                <a:solidFill>
                  <a:srgbClr val="5A6B7B"/>
                </a:solidFill>
                <a:latin typeface="Calibri"/>
                <a:ea typeface="Calibri"/>
                <a:cs typeface="Calibri"/>
                <a:sym typeface="Calibri"/>
              </a:rPr>
              <a:t>F25</a:t>
            </a:r>
            <a:endParaRPr b="0" i="0" sz="1200" u="none" cap="none" strike="noStrike">
              <a:solidFill>
                <a:schemeClr val="dk1"/>
              </a:solidFill>
              <a:latin typeface="Calibri"/>
              <a:ea typeface="Calibri"/>
              <a:cs typeface="Calibri"/>
              <a:sym typeface="Calibri"/>
            </a:endParaRPr>
          </a:p>
        </p:txBody>
      </p:sp>
      <p:sp>
        <p:nvSpPr>
          <p:cNvPr id="135" name="Google Shape;135;p6"/>
          <p:cNvSpPr txBox="1"/>
          <p:nvPr/>
        </p:nvSpPr>
        <p:spPr>
          <a:xfrm>
            <a:off x="4480560" y="2011680"/>
            <a:ext cx="1005840" cy="411480"/>
          </a:xfrm>
          <a:prstGeom prst="rect">
            <a:avLst/>
          </a:prstGeom>
          <a:solidFill>
            <a:srgbClr val="E4E9EE"/>
          </a:solid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200"/>
              <a:buFont typeface="Calibri"/>
              <a:buNone/>
            </a:pPr>
            <a:r>
              <a:rPr b="0" i="0" lang="en-US" sz="1200" u="none" cap="none" strike="noStrike">
                <a:solidFill>
                  <a:srgbClr val="5A6B7B"/>
                </a:solidFill>
                <a:latin typeface="Calibri"/>
                <a:ea typeface="Calibri"/>
                <a:cs typeface="Calibri"/>
                <a:sym typeface="Calibri"/>
              </a:rPr>
              <a:t>F08</a:t>
            </a:r>
            <a:endParaRPr b="0" i="0" sz="1200" u="none" cap="none" strike="noStrike">
              <a:solidFill>
                <a:schemeClr val="dk1"/>
              </a:solidFill>
              <a:latin typeface="Calibri"/>
              <a:ea typeface="Calibri"/>
              <a:cs typeface="Calibri"/>
              <a:sym typeface="Calibri"/>
            </a:endParaRPr>
          </a:p>
        </p:txBody>
      </p:sp>
      <p:sp>
        <p:nvSpPr>
          <p:cNvPr id="136" name="Google Shape;136;p6"/>
          <p:cNvSpPr txBox="1"/>
          <p:nvPr/>
        </p:nvSpPr>
        <p:spPr>
          <a:xfrm>
            <a:off x="914400" y="2514600"/>
            <a:ext cx="1005840" cy="411480"/>
          </a:xfrm>
          <a:prstGeom prst="rect">
            <a:avLst/>
          </a:prstGeom>
          <a:solidFill>
            <a:srgbClr val="D64550"/>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G4</a:t>
            </a:r>
            <a:endParaRPr b="0" i="0" sz="1200" u="none" cap="none" strike="noStrike">
              <a:solidFill>
                <a:schemeClr val="dk1"/>
              </a:solidFill>
              <a:latin typeface="Calibri"/>
              <a:ea typeface="Calibri"/>
              <a:cs typeface="Calibri"/>
              <a:sym typeface="Calibri"/>
            </a:endParaRPr>
          </a:p>
        </p:txBody>
      </p:sp>
      <p:sp>
        <p:nvSpPr>
          <p:cNvPr id="137" name="Google Shape;137;p6"/>
          <p:cNvSpPr txBox="1"/>
          <p:nvPr/>
        </p:nvSpPr>
        <p:spPr>
          <a:xfrm>
            <a:off x="2103120" y="2514600"/>
            <a:ext cx="1005840" cy="411480"/>
          </a:xfrm>
          <a:prstGeom prst="rect">
            <a:avLst/>
          </a:prstGeom>
          <a:solidFill>
            <a:srgbClr val="D64550"/>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G9</a:t>
            </a:r>
            <a:endParaRPr b="0" i="0" sz="1200" u="none" cap="none" strike="noStrike">
              <a:solidFill>
                <a:schemeClr val="dk1"/>
              </a:solidFill>
              <a:latin typeface="Calibri"/>
              <a:ea typeface="Calibri"/>
              <a:cs typeface="Calibri"/>
              <a:sym typeface="Calibri"/>
            </a:endParaRPr>
          </a:p>
        </p:txBody>
      </p:sp>
      <p:sp>
        <p:nvSpPr>
          <p:cNvPr id="138" name="Google Shape;138;p6"/>
          <p:cNvSpPr txBox="1"/>
          <p:nvPr/>
        </p:nvSpPr>
        <p:spPr>
          <a:xfrm>
            <a:off x="3291840" y="2514600"/>
            <a:ext cx="1005840" cy="411480"/>
          </a:xfrm>
          <a:prstGeom prst="rect">
            <a:avLst/>
          </a:prstGeom>
          <a:solidFill>
            <a:srgbClr val="D64550"/>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G1</a:t>
            </a:r>
            <a:endParaRPr b="0" i="0" sz="1200" u="none" cap="none" strike="noStrike">
              <a:solidFill>
                <a:schemeClr val="dk1"/>
              </a:solidFill>
              <a:latin typeface="Calibri"/>
              <a:ea typeface="Calibri"/>
              <a:cs typeface="Calibri"/>
              <a:sym typeface="Calibri"/>
            </a:endParaRPr>
          </a:p>
        </p:txBody>
      </p:sp>
      <p:sp>
        <p:nvSpPr>
          <p:cNvPr id="139" name="Google Shape;139;p6"/>
          <p:cNvSpPr txBox="1"/>
          <p:nvPr/>
        </p:nvSpPr>
        <p:spPr>
          <a:xfrm>
            <a:off x="4480560" y="2514600"/>
            <a:ext cx="1005840" cy="411480"/>
          </a:xfrm>
          <a:prstGeom prst="rect">
            <a:avLst/>
          </a:prstGeom>
          <a:solidFill>
            <a:srgbClr val="D64550"/>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G6</a:t>
            </a:r>
            <a:endParaRPr b="0" i="0" sz="1200" u="none" cap="none" strike="noStrike">
              <a:solidFill>
                <a:schemeClr val="dk1"/>
              </a:solidFill>
              <a:latin typeface="Calibri"/>
              <a:ea typeface="Calibri"/>
              <a:cs typeface="Calibri"/>
              <a:sym typeface="Calibri"/>
            </a:endParaRPr>
          </a:p>
        </p:txBody>
      </p:sp>
      <p:sp>
        <p:nvSpPr>
          <p:cNvPr id="140" name="Google Shape;140;p6"/>
          <p:cNvSpPr txBox="1"/>
          <p:nvPr/>
        </p:nvSpPr>
        <p:spPr>
          <a:xfrm>
            <a:off x="868680" y="3154680"/>
            <a:ext cx="4754880" cy="109728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5A6B7B"/>
              </a:buClr>
              <a:buSzPts val="1250"/>
              <a:buFont typeface="Calibri"/>
              <a:buNone/>
            </a:pPr>
            <a:r>
              <a:rPr b="0" i="0" lang="en-US" sz="1250" u="none" cap="none" strike="noStrike">
                <a:solidFill>
                  <a:srgbClr val="5A6B7B"/>
                </a:solidFill>
                <a:latin typeface="Calibri"/>
                <a:ea typeface="Calibri"/>
                <a:cs typeface="Calibri"/>
                <a:sym typeface="Calibri"/>
              </a:rPr>
              <a:t>Solo la fila de puertas se recombina. Los vuelos son un dato fijo heredado del primer padre, así que la decisión de a quién atender queda fuera de la evolución.</a:t>
            </a:r>
            <a:endParaRPr b="0" i="0" sz="1250" u="none" cap="none" strike="noStrike">
              <a:solidFill>
                <a:schemeClr val="dk1"/>
              </a:solidFill>
              <a:latin typeface="Calibri"/>
              <a:ea typeface="Calibri"/>
              <a:cs typeface="Calibri"/>
              <a:sym typeface="Calibri"/>
            </a:endParaRPr>
          </a:p>
        </p:txBody>
      </p:sp>
      <p:sp>
        <p:nvSpPr>
          <p:cNvPr id="141" name="Google Shape;141;p6"/>
          <p:cNvSpPr txBox="1"/>
          <p:nvPr/>
        </p:nvSpPr>
        <p:spPr>
          <a:xfrm>
            <a:off x="868680" y="4709160"/>
            <a:ext cx="4754880" cy="82296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D64550"/>
              </a:buClr>
              <a:buSzPts val="1250"/>
              <a:buFont typeface="Calibri"/>
              <a:buNone/>
            </a:pPr>
            <a:r>
              <a:rPr b="1" i="0" lang="en-US" sz="1250" u="none" cap="none" strike="noStrike">
                <a:solidFill>
                  <a:srgbClr val="D64550"/>
                </a:solidFill>
                <a:latin typeface="Calibri"/>
                <a:ea typeface="Calibri"/>
                <a:cs typeface="Calibri"/>
                <a:sym typeface="Calibri"/>
              </a:rPr>
              <a:t>Al mezclar dos permutaciones posición por posición, el hijo repite puertas casi siempre.</a:t>
            </a:r>
            <a:endParaRPr b="0" i="0" sz="1250" u="none" cap="none" strike="noStrike">
              <a:solidFill>
                <a:schemeClr val="dk1"/>
              </a:solidFill>
              <a:latin typeface="Calibri"/>
              <a:ea typeface="Calibri"/>
              <a:cs typeface="Calibri"/>
              <a:sym typeface="Calibri"/>
            </a:endParaRPr>
          </a:p>
        </p:txBody>
      </p:sp>
      <p:sp>
        <p:nvSpPr>
          <p:cNvPr id="142" name="Google Shape;142;p6"/>
          <p:cNvSpPr/>
          <p:nvPr/>
        </p:nvSpPr>
        <p:spPr>
          <a:xfrm>
            <a:off x="6263640" y="1280160"/>
            <a:ext cx="5394960" cy="4480560"/>
          </a:xfrm>
          <a:prstGeom prst="roundRect">
            <a:avLst>
              <a:gd fmla="val 1633"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6"/>
          <p:cNvSpPr txBox="1"/>
          <p:nvPr/>
        </p:nvSpPr>
        <p:spPr>
          <a:xfrm>
            <a:off x="6583680" y="1508760"/>
            <a:ext cx="47548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1400"/>
              <a:buFont typeface="Calibri"/>
              <a:buNone/>
            </a:pPr>
            <a:r>
              <a:rPr b="1" i="0" lang="en-US" sz="1400" u="none" cap="none" strike="noStrike">
                <a:solidFill>
                  <a:srgbClr val="F2A65A"/>
                </a:solidFill>
                <a:latin typeface="Calibri"/>
                <a:ea typeface="Calibri"/>
                <a:cs typeface="Calibri"/>
                <a:sym typeface="Calibri"/>
              </a:rPr>
              <a:t>AHORA · el gen es la asignación</a:t>
            </a:r>
            <a:endParaRPr b="0" i="0" sz="1400" u="none" cap="none" strike="noStrike">
              <a:solidFill>
                <a:schemeClr val="dk1"/>
              </a:solidFill>
              <a:latin typeface="Calibri"/>
              <a:ea typeface="Calibri"/>
              <a:cs typeface="Calibri"/>
              <a:sym typeface="Calibri"/>
            </a:endParaRPr>
          </a:p>
        </p:txBody>
      </p:sp>
      <p:sp>
        <p:nvSpPr>
          <p:cNvPr id="144" name="Google Shape;144;p6"/>
          <p:cNvSpPr txBox="1"/>
          <p:nvPr/>
        </p:nvSpPr>
        <p:spPr>
          <a:xfrm>
            <a:off x="6629400" y="2011680"/>
            <a:ext cx="1005840" cy="914400"/>
          </a:xfrm>
          <a:prstGeom prst="rect">
            <a:avLst/>
          </a:prstGeom>
          <a:solidFill>
            <a:srgbClr val="F2A65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F2B46"/>
              </a:buClr>
              <a:buSzPts val="1200"/>
              <a:buFont typeface="Calibri"/>
              <a:buNone/>
            </a:pPr>
            <a:r>
              <a:rPr b="1" i="0" lang="en-US" sz="1200" u="none" cap="none" strike="noStrike">
                <a:solidFill>
                  <a:srgbClr val="0F2B46"/>
                </a:solidFill>
                <a:latin typeface="Calibri"/>
                <a:ea typeface="Calibri"/>
                <a:cs typeface="Calibri"/>
                <a:sym typeface="Calibri"/>
              </a:rPr>
              <a:t>F17</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F2B46"/>
              </a:buClr>
              <a:buSzPts val="1200"/>
              <a:buFont typeface="Calibri"/>
              <a:buNone/>
            </a:pPr>
            <a:r>
              <a:rPr b="1" i="0" lang="en-US" sz="1200" u="none" cap="none" strike="noStrike">
                <a:solidFill>
                  <a:srgbClr val="0F2B46"/>
                </a:solidFill>
                <a:latin typeface="Calibri"/>
                <a:ea typeface="Calibri"/>
                <a:cs typeface="Calibri"/>
                <a:sym typeface="Calibri"/>
              </a:rPr>
              <a:t>G4</a:t>
            </a:r>
            <a:endParaRPr b="0" i="0" sz="1200" u="none" cap="none" strike="noStrike">
              <a:solidFill>
                <a:schemeClr val="dk1"/>
              </a:solidFill>
              <a:latin typeface="Calibri"/>
              <a:ea typeface="Calibri"/>
              <a:cs typeface="Calibri"/>
              <a:sym typeface="Calibri"/>
            </a:endParaRPr>
          </a:p>
        </p:txBody>
      </p:sp>
      <p:sp>
        <p:nvSpPr>
          <p:cNvPr id="145" name="Google Shape;145;p6"/>
          <p:cNvSpPr txBox="1"/>
          <p:nvPr/>
        </p:nvSpPr>
        <p:spPr>
          <a:xfrm>
            <a:off x="7818120" y="2011680"/>
            <a:ext cx="1005840" cy="914400"/>
          </a:xfrm>
          <a:prstGeom prst="rect">
            <a:avLst/>
          </a:prstGeom>
          <a:solidFill>
            <a:srgbClr val="F2A65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F2B46"/>
              </a:buClr>
              <a:buSzPts val="1200"/>
              <a:buFont typeface="Calibri"/>
              <a:buNone/>
            </a:pPr>
            <a:r>
              <a:rPr b="1" i="0" lang="en-US" sz="1200" u="none" cap="none" strike="noStrike">
                <a:solidFill>
                  <a:srgbClr val="0F2B46"/>
                </a:solidFill>
                <a:latin typeface="Calibri"/>
                <a:ea typeface="Calibri"/>
                <a:cs typeface="Calibri"/>
                <a:sym typeface="Calibri"/>
              </a:rPr>
              <a:t>F03</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F2B46"/>
              </a:buClr>
              <a:buSzPts val="1200"/>
              <a:buFont typeface="Calibri"/>
              <a:buNone/>
            </a:pPr>
            <a:r>
              <a:rPr b="1" i="0" lang="en-US" sz="1200" u="none" cap="none" strike="noStrike">
                <a:solidFill>
                  <a:srgbClr val="0F2B46"/>
                </a:solidFill>
                <a:latin typeface="Calibri"/>
                <a:ea typeface="Calibri"/>
                <a:cs typeface="Calibri"/>
                <a:sym typeface="Calibri"/>
              </a:rPr>
              <a:t>G9</a:t>
            </a:r>
            <a:endParaRPr b="0" i="0" sz="1200" u="none" cap="none" strike="noStrike">
              <a:solidFill>
                <a:schemeClr val="dk1"/>
              </a:solidFill>
              <a:latin typeface="Calibri"/>
              <a:ea typeface="Calibri"/>
              <a:cs typeface="Calibri"/>
              <a:sym typeface="Calibri"/>
            </a:endParaRPr>
          </a:p>
        </p:txBody>
      </p:sp>
      <p:sp>
        <p:nvSpPr>
          <p:cNvPr id="146" name="Google Shape;146;p6"/>
          <p:cNvSpPr txBox="1"/>
          <p:nvPr/>
        </p:nvSpPr>
        <p:spPr>
          <a:xfrm>
            <a:off x="9006840" y="2011680"/>
            <a:ext cx="1005840" cy="914400"/>
          </a:xfrm>
          <a:prstGeom prst="rect">
            <a:avLst/>
          </a:prstGeom>
          <a:solidFill>
            <a:srgbClr val="F2A65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F2B46"/>
              </a:buClr>
              <a:buSzPts val="1200"/>
              <a:buFont typeface="Calibri"/>
              <a:buNone/>
            </a:pPr>
            <a:r>
              <a:rPr b="1" i="0" lang="en-US" sz="1200" u="none" cap="none" strike="noStrike">
                <a:solidFill>
                  <a:srgbClr val="0F2B46"/>
                </a:solidFill>
                <a:latin typeface="Calibri"/>
                <a:ea typeface="Calibri"/>
                <a:cs typeface="Calibri"/>
                <a:sym typeface="Calibri"/>
              </a:rPr>
              <a:t>F25</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F2B46"/>
              </a:buClr>
              <a:buSzPts val="1200"/>
              <a:buFont typeface="Calibri"/>
              <a:buNone/>
            </a:pPr>
            <a:r>
              <a:rPr b="1" i="0" lang="en-US" sz="1200" u="none" cap="none" strike="noStrike">
                <a:solidFill>
                  <a:srgbClr val="0F2B46"/>
                </a:solidFill>
                <a:latin typeface="Calibri"/>
                <a:ea typeface="Calibri"/>
                <a:cs typeface="Calibri"/>
                <a:sym typeface="Calibri"/>
              </a:rPr>
              <a:t>G1</a:t>
            </a:r>
            <a:endParaRPr b="0" i="0" sz="1200" u="none" cap="none" strike="noStrike">
              <a:solidFill>
                <a:schemeClr val="dk1"/>
              </a:solidFill>
              <a:latin typeface="Calibri"/>
              <a:ea typeface="Calibri"/>
              <a:cs typeface="Calibri"/>
              <a:sym typeface="Calibri"/>
            </a:endParaRPr>
          </a:p>
        </p:txBody>
      </p:sp>
      <p:sp>
        <p:nvSpPr>
          <p:cNvPr id="147" name="Google Shape;147;p6"/>
          <p:cNvSpPr txBox="1"/>
          <p:nvPr/>
        </p:nvSpPr>
        <p:spPr>
          <a:xfrm>
            <a:off x="10195560" y="2011680"/>
            <a:ext cx="1005840" cy="914400"/>
          </a:xfrm>
          <a:prstGeom prst="rect">
            <a:avLst/>
          </a:prstGeom>
          <a:solidFill>
            <a:srgbClr val="F2A65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F2B46"/>
              </a:buClr>
              <a:buSzPts val="1200"/>
              <a:buFont typeface="Calibri"/>
              <a:buNone/>
            </a:pPr>
            <a:r>
              <a:rPr b="1" i="0" lang="en-US" sz="1200" u="none" cap="none" strike="noStrike">
                <a:solidFill>
                  <a:srgbClr val="0F2B46"/>
                </a:solidFill>
                <a:latin typeface="Calibri"/>
                <a:ea typeface="Calibri"/>
                <a:cs typeface="Calibri"/>
                <a:sym typeface="Calibri"/>
              </a:rPr>
              <a:t>F08</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F2B46"/>
              </a:buClr>
              <a:buSzPts val="1200"/>
              <a:buFont typeface="Calibri"/>
              <a:buNone/>
            </a:pPr>
            <a:r>
              <a:rPr b="1" i="0" lang="en-US" sz="1200" u="none" cap="none" strike="noStrike">
                <a:solidFill>
                  <a:srgbClr val="0F2B46"/>
                </a:solidFill>
                <a:latin typeface="Calibri"/>
                <a:ea typeface="Calibri"/>
                <a:cs typeface="Calibri"/>
                <a:sym typeface="Calibri"/>
              </a:rPr>
              <a:t>G6</a:t>
            </a:r>
            <a:endParaRPr b="0" i="0" sz="1200" u="none" cap="none" strike="noStrike">
              <a:solidFill>
                <a:schemeClr val="dk1"/>
              </a:solidFill>
              <a:latin typeface="Calibri"/>
              <a:ea typeface="Calibri"/>
              <a:cs typeface="Calibri"/>
              <a:sym typeface="Calibri"/>
            </a:endParaRPr>
          </a:p>
        </p:txBody>
      </p:sp>
      <p:sp>
        <p:nvSpPr>
          <p:cNvPr id="148" name="Google Shape;148;p6"/>
          <p:cNvSpPr txBox="1"/>
          <p:nvPr/>
        </p:nvSpPr>
        <p:spPr>
          <a:xfrm>
            <a:off x="6583680" y="3154680"/>
            <a:ext cx="4754880" cy="118872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CADCFC"/>
              </a:buClr>
              <a:buSzPts val="1250"/>
              <a:buFont typeface="Calibri"/>
              <a:buNone/>
            </a:pPr>
            <a:r>
              <a:rPr b="0" i="0" lang="en-US" sz="1250" u="none" cap="none" strike="noStrike">
                <a:solidFill>
                  <a:srgbClr val="CADCFC"/>
                </a:solidFill>
                <a:latin typeface="Calibri"/>
                <a:ea typeface="Calibri"/>
                <a:cs typeface="Calibri"/>
                <a:sym typeface="Calibri"/>
              </a:rPr>
              <a:t>Se hereda el par completo. El valor de una decisión no está en “usar la puerta 4”, sino en poner ese vuelo en esa puerta: un vuelo de 54 pasajeros en la puerta 9 rinde 1,06 y uno de 4 pasajeros la desperdicia.</a:t>
            </a:r>
            <a:endParaRPr b="0" i="0" sz="1250" u="none" cap="none" strike="noStrike">
              <a:solidFill>
                <a:schemeClr val="dk1"/>
              </a:solidFill>
              <a:latin typeface="Calibri"/>
              <a:ea typeface="Calibri"/>
              <a:cs typeface="Calibri"/>
              <a:sym typeface="Calibri"/>
            </a:endParaRPr>
          </a:p>
        </p:txBody>
      </p:sp>
      <p:sp>
        <p:nvSpPr>
          <p:cNvPr id="149" name="Google Shape;149;p6"/>
          <p:cNvSpPr txBox="1"/>
          <p:nvPr/>
        </p:nvSpPr>
        <p:spPr>
          <a:xfrm>
            <a:off x="6583680" y="4709160"/>
            <a:ext cx="4754880" cy="82296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2A65A"/>
              </a:buClr>
              <a:buSzPts val="1250"/>
              <a:buFont typeface="Calibri"/>
              <a:buNone/>
            </a:pPr>
            <a:r>
              <a:rPr b="1" i="0" lang="en-US" sz="1250" u="none" cap="none" strike="noStrike">
                <a:solidFill>
                  <a:srgbClr val="F2A65A"/>
                </a:solidFill>
                <a:latin typeface="Calibri"/>
                <a:ea typeface="Calibri"/>
                <a:cs typeface="Calibri"/>
                <a:sym typeface="Calibri"/>
              </a:rPr>
              <a:t>Ahora las dos decisiones son heredables, mutables y sujetas a selección.</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 name="Shape 154"/>
        <p:cNvGrpSpPr/>
        <p:nvPr/>
      </p:nvGrpSpPr>
      <p:grpSpPr>
        <a:xfrm>
          <a:off x="0" y="0"/>
          <a:ext cx="0" cy="0"/>
          <a:chOff x="0" y="0"/>
          <a:chExt cx="0" cy="0"/>
        </a:xfrm>
      </p:grpSpPr>
      <p:sp>
        <p:nvSpPr>
          <p:cNvPr id="155" name="Google Shape;155;p7"/>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100"/>
              <a:buFont typeface="Calibri"/>
              <a:buNone/>
            </a:pPr>
            <a:r>
              <a:rPr b="1" i="0" lang="en-US" sz="1100" u="none" cap="none" strike="noStrike">
                <a:solidFill>
                  <a:srgbClr val="1C7293"/>
                </a:solidFill>
                <a:latin typeface="Calibri"/>
                <a:ea typeface="Calibri"/>
                <a:cs typeface="Calibri"/>
                <a:sym typeface="Calibri"/>
              </a:rPr>
              <a:t>REDISEÑO · 2 DE 3</a:t>
            </a:r>
            <a:endParaRPr b="0" i="0" sz="1100" u="none" cap="none" strike="noStrike">
              <a:solidFill>
                <a:schemeClr val="dk1"/>
              </a:solidFill>
              <a:latin typeface="Calibri"/>
              <a:ea typeface="Calibri"/>
              <a:cs typeface="Calibri"/>
              <a:sym typeface="Calibri"/>
            </a:endParaRPr>
          </a:p>
        </p:txBody>
      </p:sp>
      <p:sp>
        <p:nvSpPr>
          <p:cNvPr id="156" name="Google Shape;156;p7"/>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3000"/>
              <a:buFont typeface="Cambria"/>
              <a:buNone/>
            </a:pPr>
            <a:r>
              <a:rPr b="1" i="0" lang="en-US" sz="3000" u="none" cap="none" strike="noStrike">
                <a:solidFill>
                  <a:srgbClr val="1B2733"/>
                </a:solidFill>
                <a:latin typeface="Cambria"/>
                <a:ea typeface="Cambria"/>
                <a:cs typeface="Cambria"/>
                <a:sym typeface="Cambria"/>
              </a:rPr>
              <a:t>Reparación en tres fases</a:t>
            </a:r>
            <a:endParaRPr b="0" i="0" sz="3000" u="none" cap="none" strike="noStrike">
              <a:solidFill>
                <a:schemeClr val="dk1"/>
              </a:solidFill>
              <a:latin typeface="Calibri"/>
              <a:ea typeface="Calibri"/>
              <a:cs typeface="Calibri"/>
              <a:sym typeface="Calibri"/>
            </a:endParaRPr>
          </a:p>
        </p:txBody>
      </p:sp>
      <p:sp>
        <p:nvSpPr>
          <p:cNvPr id="157" name="Google Shape;157;p7"/>
          <p:cNvSpPr txBox="1"/>
          <p:nvPr/>
        </p:nvSpPr>
        <p:spPr>
          <a:xfrm>
            <a:off x="548640" y="1188720"/>
            <a:ext cx="11109960" cy="5486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B2733"/>
              </a:buClr>
              <a:buSzPts val="1400"/>
              <a:buFont typeface="Calibri"/>
              <a:buNone/>
            </a:pPr>
            <a:r>
              <a:rPr b="0" i="0" lang="en-US" sz="1400" u="none" cap="none" strike="noStrike">
                <a:solidFill>
                  <a:srgbClr val="1B2733"/>
                </a:solidFill>
                <a:latin typeface="Calibri"/>
                <a:ea typeface="Calibri"/>
                <a:cs typeface="Calibri"/>
                <a:sym typeface="Calibri"/>
              </a:rPr>
              <a:t>Mezclar pares genera conflictos: dos genes que usan la misma puerta, o el mismo vuelo. En vez de rechazar al hijo o penalizarlo, se le repara conservando el máximo de material heredado.</a:t>
            </a:r>
            <a:endParaRPr b="0" i="0" sz="1400" u="none" cap="none" strike="noStrike">
              <a:solidFill>
                <a:schemeClr val="dk1"/>
              </a:solidFill>
              <a:latin typeface="Calibri"/>
              <a:ea typeface="Calibri"/>
              <a:cs typeface="Calibri"/>
              <a:sym typeface="Calibri"/>
            </a:endParaRPr>
          </a:p>
        </p:txBody>
      </p:sp>
      <p:sp>
        <p:nvSpPr>
          <p:cNvPr id="158" name="Google Shape;158;p7"/>
          <p:cNvSpPr/>
          <p:nvPr/>
        </p:nvSpPr>
        <p:spPr>
          <a:xfrm>
            <a:off x="548640" y="1965960"/>
            <a:ext cx="3566160" cy="2468880"/>
          </a:xfrm>
          <a:prstGeom prst="roundRect">
            <a:avLst>
              <a:gd fmla="val 2963"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7"/>
          <p:cNvSpPr/>
          <p:nvPr/>
        </p:nvSpPr>
        <p:spPr>
          <a:xfrm>
            <a:off x="822960" y="2194560"/>
            <a:ext cx="457200" cy="457200"/>
          </a:xfrm>
          <a:prstGeom prst="ellipse">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7"/>
          <p:cNvSpPr txBox="1"/>
          <p:nvPr/>
        </p:nvSpPr>
        <p:spPr>
          <a:xfrm>
            <a:off x="822960" y="219456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1</a:t>
            </a:r>
            <a:endParaRPr b="0" i="0" sz="1100" u="none" cap="none" strike="noStrike">
              <a:solidFill>
                <a:schemeClr val="dk1"/>
              </a:solidFill>
              <a:latin typeface="Calibri"/>
              <a:ea typeface="Calibri"/>
              <a:cs typeface="Calibri"/>
              <a:sym typeface="Calibri"/>
            </a:endParaRPr>
          </a:p>
        </p:txBody>
      </p:sp>
      <p:sp>
        <p:nvSpPr>
          <p:cNvPr id="161" name="Google Shape;161;p7"/>
          <p:cNvSpPr txBox="1"/>
          <p:nvPr/>
        </p:nvSpPr>
        <p:spPr>
          <a:xfrm>
            <a:off x="822960" y="2743200"/>
            <a:ext cx="3017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500"/>
              <a:buFont typeface="Calibri"/>
              <a:buNone/>
            </a:pPr>
            <a:r>
              <a:rPr b="1" i="0" lang="en-US" sz="1500" u="none" cap="none" strike="noStrike">
                <a:solidFill>
                  <a:srgbClr val="1B2733"/>
                </a:solidFill>
                <a:latin typeface="Calibri"/>
                <a:ea typeface="Calibri"/>
                <a:cs typeface="Calibri"/>
                <a:sym typeface="Calibri"/>
              </a:rPr>
              <a:t>Herencia directa</a:t>
            </a:r>
            <a:endParaRPr b="0" i="0" sz="1500" u="none" cap="none" strike="noStrike">
              <a:solidFill>
                <a:schemeClr val="dk1"/>
              </a:solidFill>
              <a:latin typeface="Calibri"/>
              <a:ea typeface="Calibri"/>
              <a:cs typeface="Calibri"/>
              <a:sym typeface="Calibri"/>
            </a:endParaRPr>
          </a:p>
        </p:txBody>
      </p:sp>
      <p:sp>
        <p:nvSpPr>
          <p:cNvPr id="162" name="Google Shape;162;p7"/>
          <p:cNvSpPr txBox="1"/>
          <p:nvPr/>
        </p:nvSpPr>
        <p:spPr>
          <a:xfrm>
            <a:off x="822960" y="3108960"/>
            <a:ext cx="3017520" cy="9144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5A6B7B"/>
              </a:buClr>
              <a:buSzPts val="1250"/>
              <a:buFont typeface="Calibri"/>
              <a:buNone/>
            </a:pPr>
            <a:r>
              <a:rPr b="0" i="0" lang="en-US" sz="1250" u="none" cap="none" strike="noStrike">
                <a:solidFill>
                  <a:srgbClr val="5A6B7B"/>
                </a:solidFill>
                <a:latin typeface="Calibri"/>
                <a:ea typeface="Calibri"/>
                <a:cs typeface="Calibri"/>
                <a:sym typeface="Calibri"/>
              </a:rPr>
              <a:t>Acepta el par heredado si su vuelo y su puerta siguen libres.</a:t>
            </a:r>
            <a:endParaRPr b="0" i="0" sz="1250" u="none" cap="none" strike="noStrike">
              <a:solidFill>
                <a:schemeClr val="dk1"/>
              </a:solidFill>
              <a:latin typeface="Calibri"/>
              <a:ea typeface="Calibri"/>
              <a:cs typeface="Calibri"/>
              <a:sym typeface="Calibri"/>
            </a:endParaRPr>
          </a:p>
        </p:txBody>
      </p:sp>
      <p:sp>
        <p:nvSpPr>
          <p:cNvPr id="163" name="Google Shape;163;p7"/>
          <p:cNvSpPr txBox="1"/>
          <p:nvPr/>
        </p:nvSpPr>
        <p:spPr>
          <a:xfrm>
            <a:off x="822960" y="4023360"/>
            <a:ext cx="3017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100"/>
              <a:buFont typeface="Calibri"/>
              <a:buNone/>
            </a:pPr>
            <a:r>
              <a:rPr b="0" i="1" lang="en-US" sz="1100" u="none" cap="none" strike="noStrike">
                <a:solidFill>
                  <a:srgbClr val="1C7293"/>
                </a:solidFill>
                <a:latin typeface="Calibri"/>
                <a:ea typeface="Calibri"/>
                <a:cs typeface="Calibri"/>
                <a:sym typeface="Calibri"/>
              </a:rPr>
              <a:t>conserva el par completo</a:t>
            </a:r>
            <a:endParaRPr b="0" i="0" sz="1100" u="none" cap="none" strike="noStrike">
              <a:solidFill>
                <a:schemeClr val="dk1"/>
              </a:solidFill>
              <a:latin typeface="Calibri"/>
              <a:ea typeface="Calibri"/>
              <a:cs typeface="Calibri"/>
              <a:sym typeface="Calibri"/>
            </a:endParaRPr>
          </a:p>
        </p:txBody>
      </p:sp>
      <p:sp>
        <p:nvSpPr>
          <p:cNvPr id="164" name="Google Shape;164;p7"/>
          <p:cNvSpPr/>
          <p:nvPr/>
        </p:nvSpPr>
        <p:spPr>
          <a:xfrm>
            <a:off x="4178808" y="3063240"/>
            <a:ext cx="182880" cy="274320"/>
          </a:xfrm>
          <a:prstGeom prst="rightArrow">
            <a:avLst>
              <a:gd fmla="val 50000" name="adj1"/>
              <a:gd fmla="val 50000" name="adj2"/>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7"/>
          <p:cNvSpPr/>
          <p:nvPr/>
        </p:nvSpPr>
        <p:spPr>
          <a:xfrm>
            <a:off x="4343400" y="1965960"/>
            <a:ext cx="3566160" cy="2468880"/>
          </a:xfrm>
          <a:prstGeom prst="roundRect">
            <a:avLst>
              <a:gd fmla="val 2963"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7"/>
          <p:cNvSpPr/>
          <p:nvPr/>
        </p:nvSpPr>
        <p:spPr>
          <a:xfrm>
            <a:off x="4617720" y="2194560"/>
            <a:ext cx="457200" cy="457200"/>
          </a:xfrm>
          <a:prstGeom prst="ellipse">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7"/>
          <p:cNvSpPr txBox="1"/>
          <p:nvPr/>
        </p:nvSpPr>
        <p:spPr>
          <a:xfrm>
            <a:off x="4617720" y="219456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2</a:t>
            </a:r>
            <a:endParaRPr b="0" i="0" sz="1100" u="none" cap="none" strike="noStrike">
              <a:solidFill>
                <a:schemeClr val="dk1"/>
              </a:solidFill>
              <a:latin typeface="Calibri"/>
              <a:ea typeface="Calibri"/>
              <a:cs typeface="Calibri"/>
              <a:sym typeface="Calibri"/>
            </a:endParaRPr>
          </a:p>
        </p:txBody>
      </p:sp>
      <p:sp>
        <p:nvSpPr>
          <p:cNvPr id="168" name="Google Shape;168;p7"/>
          <p:cNvSpPr txBox="1"/>
          <p:nvPr/>
        </p:nvSpPr>
        <p:spPr>
          <a:xfrm>
            <a:off x="4617720" y="2743200"/>
            <a:ext cx="3017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500"/>
              <a:buFont typeface="Calibri"/>
              <a:buNone/>
            </a:pPr>
            <a:r>
              <a:rPr b="1" i="0" lang="en-US" sz="1500" u="none" cap="none" strike="noStrike">
                <a:solidFill>
                  <a:srgbClr val="1B2733"/>
                </a:solidFill>
                <a:latin typeface="Calibri"/>
                <a:ea typeface="Calibri"/>
                <a:cs typeface="Calibri"/>
                <a:sym typeface="Calibri"/>
              </a:rPr>
              <a:t>Segunda oportunidad</a:t>
            </a:r>
            <a:endParaRPr b="0" i="0" sz="1500" u="none" cap="none" strike="noStrike">
              <a:solidFill>
                <a:schemeClr val="dk1"/>
              </a:solidFill>
              <a:latin typeface="Calibri"/>
              <a:ea typeface="Calibri"/>
              <a:cs typeface="Calibri"/>
              <a:sym typeface="Calibri"/>
            </a:endParaRPr>
          </a:p>
        </p:txBody>
      </p:sp>
      <p:sp>
        <p:nvSpPr>
          <p:cNvPr id="169" name="Google Shape;169;p7"/>
          <p:cNvSpPr txBox="1"/>
          <p:nvPr/>
        </p:nvSpPr>
        <p:spPr>
          <a:xfrm>
            <a:off x="4617720" y="3108960"/>
            <a:ext cx="3017520" cy="9144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5A6B7B"/>
              </a:buClr>
              <a:buSzPts val="1250"/>
              <a:buFont typeface="Calibri"/>
              <a:buNone/>
            </a:pPr>
            <a:r>
              <a:rPr b="0" i="0" lang="en-US" sz="1250" u="none" cap="none" strike="noStrike">
                <a:solidFill>
                  <a:srgbClr val="5A6B7B"/>
                </a:solidFill>
                <a:latin typeface="Calibri"/>
                <a:ea typeface="Calibri"/>
                <a:cs typeface="Calibri"/>
                <a:sym typeface="Calibri"/>
              </a:rPr>
              <a:t>Si hay conflicto, prueba el par que el otro padre tenía en esa posición.</a:t>
            </a:r>
            <a:endParaRPr b="0" i="0" sz="1250" u="none" cap="none" strike="noStrike">
              <a:solidFill>
                <a:schemeClr val="dk1"/>
              </a:solidFill>
              <a:latin typeface="Calibri"/>
              <a:ea typeface="Calibri"/>
              <a:cs typeface="Calibri"/>
              <a:sym typeface="Calibri"/>
            </a:endParaRPr>
          </a:p>
        </p:txBody>
      </p:sp>
      <p:sp>
        <p:nvSpPr>
          <p:cNvPr id="170" name="Google Shape;170;p7"/>
          <p:cNvSpPr txBox="1"/>
          <p:nvPr/>
        </p:nvSpPr>
        <p:spPr>
          <a:xfrm>
            <a:off x="4617720" y="4023360"/>
            <a:ext cx="3017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100"/>
              <a:buFont typeface="Calibri"/>
              <a:buNone/>
            </a:pPr>
            <a:r>
              <a:rPr b="0" i="1" lang="en-US" sz="1100" u="none" cap="none" strike="noStrike">
                <a:solidFill>
                  <a:srgbClr val="1C7293"/>
                </a:solidFill>
                <a:latin typeface="Calibri"/>
                <a:ea typeface="Calibri"/>
                <a:cs typeface="Calibri"/>
                <a:sym typeface="Calibri"/>
              </a:rPr>
              <a:t>conserva un par del otro padre</a:t>
            </a:r>
            <a:endParaRPr b="0" i="0" sz="1100" u="none" cap="none" strike="noStrike">
              <a:solidFill>
                <a:schemeClr val="dk1"/>
              </a:solidFill>
              <a:latin typeface="Calibri"/>
              <a:ea typeface="Calibri"/>
              <a:cs typeface="Calibri"/>
              <a:sym typeface="Calibri"/>
            </a:endParaRPr>
          </a:p>
        </p:txBody>
      </p:sp>
      <p:sp>
        <p:nvSpPr>
          <p:cNvPr id="171" name="Google Shape;171;p7"/>
          <p:cNvSpPr/>
          <p:nvPr/>
        </p:nvSpPr>
        <p:spPr>
          <a:xfrm>
            <a:off x="7973568" y="3063240"/>
            <a:ext cx="182880" cy="274320"/>
          </a:xfrm>
          <a:prstGeom prst="rightArrow">
            <a:avLst>
              <a:gd fmla="val 50000" name="adj1"/>
              <a:gd fmla="val 50000" name="adj2"/>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7"/>
          <p:cNvSpPr/>
          <p:nvPr/>
        </p:nvSpPr>
        <p:spPr>
          <a:xfrm>
            <a:off x="8138160" y="1965960"/>
            <a:ext cx="3566160" cy="2468880"/>
          </a:xfrm>
          <a:prstGeom prst="roundRect">
            <a:avLst>
              <a:gd fmla="val 2963"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7"/>
          <p:cNvSpPr/>
          <p:nvPr/>
        </p:nvSpPr>
        <p:spPr>
          <a:xfrm>
            <a:off x="8412480" y="2194560"/>
            <a:ext cx="457200" cy="457200"/>
          </a:xfrm>
          <a:prstGeom prst="ellipse">
            <a:avLst/>
          </a:prstGeom>
          <a:solidFill>
            <a:srgbClr val="F2A65A"/>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7"/>
          <p:cNvSpPr txBox="1"/>
          <p:nvPr/>
        </p:nvSpPr>
        <p:spPr>
          <a:xfrm>
            <a:off x="8412480" y="219456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3</a:t>
            </a:r>
            <a:endParaRPr b="0" i="0" sz="1100" u="none" cap="none" strike="noStrike">
              <a:solidFill>
                <a:schemeClr val="dk1"/>
              </a:solidFill>
              <a:latin typeface="Calibri"/>
              <a:ea typeface="Calibri"/>
              <a:cs typeface="Calibri"/>
              <a:sym typeface="Calibri"/>
            </a:endParaRPr>
          </a:p>
        </p:txBody>
      </p:sp>
      <p:sp>
        <p:nvSpPr>
          <p:cNvPr id="175" name="Google Shape;175;p7"/>
          <p:cNvSpPr txBox="1"/>
          <p:nvPr/>
        </p:nvSpPr>
        <p:spPr>
          <a:xfrm>
            <a:off x="8412480" y="2743200"/>
            <a:ext cx="3017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Rescate parcial</a:t>
            </a:r>
            <a:endParaRPr b="0" i="0" sz="1500" u="none" cap="none" strike="noStrike">
              <a:solidFill>
                <a:schemeClr val="dk1"/>
              </a:solidFill>
              <a:latin typeface="Calibri"/>
              <a:ea typeface="Calibri"/>
              <a:cs typeface="Calibri"/>
              <a:sym typeface="Calibri"/>
            </a:endParaRPr>
          </a:p>
        </p:txBody>
      </p:sp>
      <p:sp>
        <p:nvSpPr>
          <p:cNvPr id="176" name="Google Shape;176;p7"/>
          <p:cNvSpPr txBox="1"/>
          <p:nvPr/>
        </p:nvSpPr>
        <p:spPr>
          <a:xfrm>
            <a:off x="8412480" y="3108960"/>
            <a:ext cx="3017520" cy="9144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CADCFC"/>
              </a:buClr>
              <a:buSzPts val="1250"/>
              <a:buFont typeface="Calibri"/>
              <a:buNone/>
            </a:pPr>
            <a:r>
              <a:rPr b="0" i="0" lang="en-US" sz="1250" u="none" cap="none" strike="noStrike">
                <a:solidFill>
                  <a:srgbClr val="CADCFC"/>
                </a:solidFill>
                <a:latin typeface="Calibri"/>
                <a:ea typeface="Calibri"/>
                <a:cs typeface="Calibri"/>
                <a:sym typeface="Calibri"/>
              </a:rPr>
              <a:t>Conserva la mitad libre —vuelo o puerta— y completa la otra con un elemento libre al azar.</a:t>
            </a:r>
            <a:endParaRPr b="0" i="0" sz="1250" u="none" cap="none" strike="noStrike">
              <a:solidFill>
                <a:schemeClr val="dk1"/>
              </a:solidFill>
              <a:latin typeface="Calibri"/>
              <a:ea typeface="Calibri"/>
              <a:cs typeface="Calibri"/>
              <a:sym typeface="Calibri"/>
            </a:endParaRPr>
          </a:p>
        </p:txBody>
      </p:sp>
      <p:sp>
        <p:nvSpPr>
          <p:cNvPr id="177" name="Google Shape;177;p7"/>
          <p:cNvSpPr txBox="1"/>
          <p:nvPr/>
        </p:nvSpPr>
        <p:spPr>
          <a:xfrm>
            <a:off x="8412480" y="4023360"/>
            <a:ext cx="30175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1100"/>
              <a:buFont typeface="Calibri"/>
              <a:buNone/>
            </a:pPr>
            <a:r>
              <a:rPr b="0" i="1" lang="en-US" sz="1100" u="none" cap="none" strike="noStrike">
                <a:solidFill>
                  <a:srgbClr val="F2A65A"/>
                </a:solidFill>
                <a:latin typeface="Calibri"/>
                <a:ea typeface="Calibri"/>
                <a:cs typeface="Calibri"/>
                <a:sym typeface="Calibri"/>
              </a:rPr>
              <a:t>media asignación + diversidad</a:t>
            </a:r>
            <a:endParaRPr b="0" i="0" sz="1100" u="none" cap="none" strike="noStrike">
              <a:solidFill>
                <a:schemeClr val="dk1"/>
              </a:solidFill>
              <a:latin typeface="Calibri"/>
              <a:ea typeface="Calibri"/>
              <a:cs typeface="Calibri"/>
              <a:sym typeface="Calibri"/>
            </a:endParaRPr>
          </a:p>
        </p:txBody>
      </p:sp>
      <p:sp>
        <p:nvSpPr>
          <p:cNvPr id="178" name="Google Shape;178;p7"/>
          <p:cNvSpPr/>
          <p:nvPr/>
        </p:nvSpPr>
        <p:spPr>
          <a:xfrm>
            <a:off x="548640" y="4709160"/>
            <a:ext cx="11109960" cy="1051560"/>
          </a:xfrm>
          <a:prstGeom prst="roundRect">
            <a:avLst>
              <a:gd fmla="val 6957"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7"/>
          <p:cNvSpPr txBox="1"/>
          <p:nvPr/>
        </p:nvSpPr>
        <p:spPr>
          <a:xfrm>
            <a:off x="914400" y="4709160"/>
            <a:ext cx="10378440" cy="105156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2E9E6B"/>
              </a:buClr>
              <a:buSzPts val="1300"/>
              <a:buFont typeface="Calibri"/>
              <a:buNone/>
            </a:pPr>
            <a:r>
              <a:rPr b="1" i="0" lang="en-US" sz="1300" u="none" cap="none" strike="noStrike">
                <a:solidFill>
                  <a:srgbClr val="2E9E6B"/>
                </a:solidFill>
                <a:latin typeface="Calibri"/>
                <a:ea typeface="Calibri"/>
                <a:cs typeface="Calibri"/>
                <a:sym typeface="Calibri"/>
              </a:rPr>
              <a:t>La fase 3 siempre puede completarse</a:t>
            </a:r>
            <a:r>
              <a:rPr b="0" i="0" lang="en-US" sz="1300" u="none" cap="none" strike="noStrike">
                <a:solidFill>
                  <a:srgbClr val="1B2733"/>
                </a:solidFill>
                <a:latin typeface="Calibri"/>
                <a:ea typeface="Calibri"/>
                <a:cs typeface="Calibri"/>
                <a:sym typeface="Calibri"/>
              </a:rPr>
              <a:t>  —como K = mín(vuelos, puertas), nunca se agotan los elementos libres—, así que el hijo es factible por construcción: no hace falta verificar nada después. Además inyecta vuelos nuevos, de modo que el cruzamiento también explora “a quién atender”.</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 name="Shape 184"/>
        <p:cNvGrpSpPr/>
        <p:nvPr/>
      </p:nvGrpSpPr>
      <p:grpSpPr>
        <a:xfrm>
          <a:off x="0" y="0"/>
          <a:ext cx="0" cy="0"/>
          <a:chOff x="0" y="0"/>
          <a:chExt cx="0" cy="0"/>
        </a:xfrm>
      </p:grpSpPr>
      <p:sp>
        <p:nvSpPr>
          <p:cNvPr id="185" name="Google Shape;185;p8"/>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100"/>
              <a:buFont typeface="Calibri"/>
              <a:buNone/>
            </a:pPr>
            <a:r>
              <a:rPr b="1" i="0" lang="en-US" sz="1100" u="none" cap="none" strike="noStrike">
                <a:solidFill>
                  <a:srgbClr val="1C7293"/>
                </a:solidFill>
                <a:latin typeface="Calibri"/>
                <a:ea typeface="Calibri"/>
                <a:cs typeface="Calibri"/>
                <a:sym typeface="Calibri"/>
              </a:rPr>
              <a:t>REDISEÑO · 3 DE 3</a:t>
            </a:r>
            <a:endParaRPr b="0" i="0" sz="1100" u="none" cap="none" strike="noStrike">
              <a:solidFill>
                <a:schemeClr val="dk1"/>
              </a:solidFill>
              <a:latin typeface="Calibri"/>
              <a:ea typeface="Calibri"/>
              <a:cs typeface="Calibri"/>
              <a:sym typeface="Calibri"/>
            </a:endParaRPr>
          </a:p>
        </p:txBody>
      </p:sp>
      <p:sp>
        <p:nvSpPr>
          <p:cNvPr id="186" name="Google Shape;186;p8"/>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3000"/>
              <a:buFont typeface="Cambria"/>
              <a:buNone/>
            </a:pPr>
            <a:r>
              <a:rPr b="1" i="0" lang="en-US" sz="3000" u="none" cap="none" strike="noStrike">
                <a:solidFill>
                  <a:srgbClr val="1B2733"/>
                </a:solidFill>
                <a:latin typeface="Cambria"/>
                <a:ea typeface="Cambria"/>
                <a:cs typeface="Cambria"/>
                <a:sym typeface="Cambria"/>
              </a:rPr>
              <a:t>Mutación en los dos niveles de decisión</a:t>
            </a:r>
            <a:endParaRPr b="0" i="0" sz="3000" u="none" cap="none" strike="noStrike">
              <a:solidFill>
                <a:schemeClr val="dk1"/>
              </a:solidFill>
              <a:latin typeface="Calibri"/>
              <a:ea typeface="Calibri"/>
              <a:cs typeface="Calibri"/>
              <a:sym typeface="Calibri"/>
            </a:endParaRPr>
          </a:p>
        </p:txBody>
      </p:sp>
      <p:sp>
        <p:nvSpPr>
          <p:cNvPr id="187" name="Google Shape;187;p8"/>
          <p:cNvSpPr/>
          <p:nvPr/>
        </p:nvSpPr>
        <p:spPr>
          <a:xfrm>
            <a:off x="548640" y="1325880"/>
            <a:ext cx="5394960" cy="2286000"/>
          </a:xfrm>
          <a:prstGeom prst="roundRect">
            <a:avLst>
              <a:gd fmla="val 3200"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8"/>
          <p:cNvSpPr/>
          <p:nvPr/>
        </p:nvSpPr>
        <p:spPr>
          <a:xfrm>
            <a:off x="868680" y="1600200"/>
            <a:ext cx="457200" cy="457200"/>
          </a:xfrm>
          <a:prstGeom prst="ellipse">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8"/>
          <p:cNvSpPr txBox="1"/>
          <p:nvPr/>
        </p:nvSpPr>
        <p:spPr>
          <a:xfrm>
            <a:off x="868680" y="16002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Q</a:t>
            </a:r>
            <a:endParaRPr b="0" i="0" sz="1100" u="none" cap="none" strike="noStrike">
              <a:solidFill>
                <a:schemeClr val="dk1"/>
              </a:solidFill>
              <a:latin typeface="Calibri"/>
              <a:ea typeface="Calibri"/>
              <a:cs typeface="Calibri"/>
              <a:sym typeface="Calibri"/>
            </a:endParaRPr>
          </a:p>
        </p:txBody>
      </p:sp>
      <p:sp>
        <p:nvSpPr>
          <p:cNvPr id="190" name="Google Shape;190;p8"/>
          <p:cNvSpPr txBox="1"/>
          <p:nvPr/>
        </p:nvSpPr>
        <p:spPr>
          <a:xfrm>
            <a:off x="1463040" y="1627632"/>
            <a:ext cx="4206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500"/>
              <a:buFont typeface="Calibri"/>
              <a:buNone/>
            </a:pPr>
            <a:r>
              <a:rPr b="1" i="0" lang="en-US" sz="1500" u="none" cap="none" strike="noStrike">
                <a:solidFill>
                  <a:srgbClr val="1B2733"/>
                </a:solidFill>
                <a:latin typeface="Calibri"/>
                <a:ea typeface="Calibri"/>
                <a:cs typeface="Calibri"/>
                <a:sym typeface="Calibri"/>
              </a:rPr>
              <a:t>mutate_flight  ·  ¿QUÉ atender?</a:t>
            </a:r>
            <a:endParaRPr b="0" i="0" sz="1500" u="none" cap="none" strike="noStrike">
              <a:solidFill>
                <a:schemeClr val="dk1"/>
              </a:solidFill>
              <a:latin typeface="Calibri"/>
              <a:ea typeface="Calibri"/>
              <a:cs typeface="Calibri"/>
              <a:sym typeface="Calibri"/>
            </a:endParaRPr>
          </a:p>
        </p:txBody>
      </p:sp>
      <p:sp>
        <p:nvSpPr>
          <p:cNvPr id="191" name="Google Shape;191;p8"/>
          <p:cNvSpPr txBox="1"/>
          <p:nvPr/>
        </p:nvSpPr>
        <p:spPr>
          <a:xfrm>
            <a:off x="868680" y="2194560"/>
            <a:ext cx="4754880" cy="118872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5A6B7B"/>
              </a:buClr>
              <a:buSzPts val="1300"/>
              <a:buFont typeface="Calibri"/>
              <a:buNone/>
            </a:pPr>
            <a:r>
              <a:rPr b="0" i="0" lang="en-US" sz="1300" u="none" cap="none" strike="noStrike">
                <a:solidFill>
                  <a:srgbClr val="5A6B7B"/>
                </a:solidFill>
                <a:latin typeface="Calibri"/>
                <a:ea typeface="Calibri"/>
                <a:cs typeface="Calibri"/>
                <a:sym typeface="Calibri"/>
              </a:rPr>
              <a:t>Saca un vuelo de la programación y mete uno de los 20 que quedaron fuera, conservando su puerta. Es el operador que el código base no tenía.</a:t>
            </a:r>
            <a:endParaRPr b="0" i="0" sz="1300" u="none" cap="none" strike="noStrike">
              <a:solidFill>
                <a:schemeClr val="dk1"/>
              </a:solidFill>
              <a:latin typeface="Calibri"/>
              <a:ea typeface="Calibri"/>
              <a:cs typeface="Calibri"/>
              <a:sym typeface="Calibri"/>
            </a:endParaRPr>
          </a:p>
        </p:txBody>
      </p:sp>
      <p:sp>
        <p:nvSpPr>
          <p:cNvPr id="192" name="Google Shape;192;p8"/>
          <p:cNvSpPr/>
          <p:nvPr/>
        </p:nvSpPr>
        <p:spPr>
          <a:xfrm>
            <a:off x="6263640" y="1325880"/>
            <a:ext cx="5394960" cy="2286000"/>
          </a:xfrm>
          <a:prstGeom prst="roundRect">
            <a:avLst>
              <a:gd fmla="val 3200"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8"/>
          <p:cNvSpPr/>
          <p:nvPr/>
        </p:nvSpPr>
        <p:spPr>
          <a:xfrm>
            <a:off x="6583680" y="1600200"/>
            <a:ext cx="457200" cy="457200"/>
          </a:xfrm>
          <a:prstGeom prst="ellipse">
            <a:avLst/>
          </a:prstGeom>
          <a:solidFill>
            <a:srgbClr val="F2A65A"/>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8"/>
          <p:cNvSpPr txBox="1"/>
          <p:nvPr/>
        </p:nvSpPr>
        <p:spPr>
          <a:xfrm>
            <a:off x="6583680" y="160020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D</a:t>
            </a:r>
            <a:endParaRPr b="0" i="0" sz="1100" u="none" cap="none" strike="noStrike">
              <a:solidFill>
                <a:schemeClr val="dk1"/>
              </a:solidFill>
              <a:latin typeface="Calibri"/>
              <a:ea typeface="Calibri"/>
              <a:cs typeface="Calibri"/>
              <a:sym typeface="Calibri"/>
            </a:endParaRPr>
          </a:p>
        </p:txBody>
      </p:sp>
      <p:sp>
        <p:nvSpPr>
          <p:cNvPr id="195" name="Google Shape;195;p8"/>
          <p:cNvSpPr txBox="1"/>
          <p:nvPr/>
        </p:nvSpPr>
        <p:spPr>
          <a:xfrm>
            <a:off x="7178040" y="1627632"/>
            <a:ext cx="4206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500"/>
              <a:buFont typeface="Calibri"/>
              <a:buNone/>
            </a:pPr>
            <a:r>
              <a:rPr b="1" i="0" lang="en-US" sz="1500" u="none" cap="none" strike="noStrike">
                <a:solidFill>
                  <a:srgbClr val="1B2733"/>
                </a:solidFill>
                <a:latin typeface="Calibri"/>
                <a:ea typeface="Calibri"/>
                <a:cs typeface="Calibri"/>
                <a:sym typeface="Calibri"/>
              </a:rPr>
              <a:t>mutate_gate  ·  ¿DÓNDE atender?</a:t>
            </a:r>
            <a:endParaRPr b="0" i="0" sz="1500" u="none" cap="none" strike="noStrike">
              <a:solidFill>
                <a:schemeClr val="dk1"/>
              </a:solidFill>
              <a:latin typeface="Calibri"/>
              <a:ea typeface="Calibri"/>
              <a:cs typeface="Calibri"/>
              <a:sym typeface="Calibri"/>
            </a:endParaRPr>
          </a:p>
        </p:txBody>
      </p:sp>
      <p:sp>
        <p:nvSpPr>
          <p:cNvPr id="196" name="Google Shape;196;p8"/>
          <p:cNvSpPr txBox="1"/>
          <p:nvPr/>
        </p:nvSpPr>
        <p:spPr>
          <a:xfrm>
            <a:off x="6583680" y="2194560"/>
            <a:ext cx="4754880" cy="118872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5A6B7B"/>
              </a:buClr>
              <a:buSzPts val="1300"/>
              <a:buFont typeface="Calibri"/>
              <a:buNone/>
            </a:pPr>
            <a:r>
              <a:rPr b="0" i="0" lang="en-US" sz="1300" u="none" cap="none" strike="noStrike">
                <a:solidFill>
                  <a:srgbClr val="5A6B7B"/>
                </a:solidFill>
                <a:latin typeface="Calibri"/>
                <a:ea typeface="Calibri"/>
                <a:cs typeface="Calibri"/>
                <a:sym typeface="Calibri"/>
              </a:rPr>
              <a:t>Si hay puertas libres, reasigna una libre. Si todas están ocupadas —K = 10 = número de puertas—, intercambia las puertas de dos asignaciones.</a:t>
            </a:r>
            <a:endParaRPr b="0" i="0" sz="1300" u="none" cap="none" strike="noStrike">
              <a:solidFill>
                <a:schemeClr val="dk1"/>
              </a:solidFill>
              <a:latin typeface="Calibri"/>
              <a:ea typeface="Calibri"/>
              <a:cs typeface="Calibri"/>
              <a:sym typeface="Calibri"/>
            </a:endParaRPr>
          </a:p>
        </p:txBody>
      </p:sp>
      <p:sp>
        <p:nvSpPr>
          <p:cNvPr id="197" name="Google Shape;197;p8"/>
          <p:cNvSpPr/>
          <p:nvPr/>
        </p:nvSpPr>
        <p:spPr>
          <a:xfrm>
            <a:off x="548640" y="3794760"/>
            <a:ext cx="11109960" cy="1965960"/>
          </a:xfrm>
          <a:prstGeom prst="roundRect">
            <a:avLst>
              <a:gd fmla="val 3721"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8"/>
          <p:cNvSpPr txBox="1"/>
          <p:nvPr/>
        </p:nvSpPr>
        <p:spPr>
          <a:xfrm>
            <a:off x="914400" y="4023360"/>
            <a:ext cx="56692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600"/>
              <a:buFont typeface="Cambria"/>
              <a:buNone/>
            </a:pPr>
            <a:r>
              <a:rPr b="1" i="0" lang="en-US" sz="1600" u="none" cap="none" strike="noStrike">
                <a:solidFill>
                  <a:srgbClr val="FFFFFF"/>
                </a:solidFill>
                <a:latin typeface="Cambria"/>
                <a:ea typeface="Cambria"/>
                <a:cs typeface="Cambria"/>
                <a:sym typeface="Cambria"/>
              </a:rPr>
              <a:t>mutate_flight_and_gate  ·  mutate_flight_or_gate</a:t>
            </a:r>
            <a:endParaRPr b="0" i="0" sz="1600" u="none" cap="none" strike="noStrike">
              <a:solidFill>
                <a:schemeClr val="dk1"/>
              </a:solidFill>
              <a:latin typeface="Calibri"/>
              <a:ea typeface="Calibri"/>
              <a:cs typeface="Calibri"/>
              <a:sym typeface="Calibri"/>
            </a:endParaRPr>
          </a:p>
        </p:txBody>
      </p:sp>
      <p:sp>
        <p:nvSpPr>
          <p:cNvPr id="199" name="Google Shape;199;p8"/>
          <p:cNvSpPr txBox="1"/>
          <p:nvPr/>
        </p:nvSpPr>
        <p:spPr>
          <a:xfrm>
            <a:off x="914400" y="4434840"/>
            <a:ext cx="5669280" cy="10058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CADCFC"/>
              </a:buClr>
              <a:buSzPts val="1300"/>
              <a:buFont typeface="Calibri"/>
              <a:buNone/>
            </a:pPr>
            <a:r>
              <a:rPr b="0" i="0" lang="en-US" sz="1300" u="none" cap="none" strike="noStrike">
                <a:solidFill>
                  <a:srgbClr val="CADCFC"/>
                </a:solidFill>
                <a:latin typeface="Calibri"/>
                <a:ea typeface="Calibri"/>
                <a:cs typeface="Calibri"/>
                <a:sym typeface="Calibri"/>
              </a:rPr>
              <a:t>and aplica las dos mutaciones en cadena; or elige una de las dos al azar en cada evento. Todos preservan la factibilidad por diseño y no necesitan reparación posterior. La variante or, de perturbación más localizada, es la que gana en los experimentos.</a:t>
            </a:r>
            <a:endParaRPr b="0" i="0" sz="1300" u="none" cap="none" strike="noStrike">
              <a:solidFill>
                <a:schemeClr val="dk1"/>
              </a:solidFill>
              <a:latin typeface="Calibri"/>
              <a:ea typeface="Calibri"/>
              <a:cs typeface="Calibri"/>
              <a:sym typeface="Calibri"/>
            </a:endParaRPr>
          </a:p>
        </p:txBody>
      </p:sp>
      <p:sp>
        <p:nvSpPr>
          <p:cNvPr id="200" name="Google Shape;200;p8"/>
          <p:cNvSpPr txBox="1"/>
          <p:nvPr/>
        </p:nvSpPr>
        <p:spPr>
          <a:xfrm>
            <a:off x="7132320" y="4114800"/>
            <a:ext cx="210312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9E6B"/>
              </a:buClr>
              <a:buSzPts val="3400"/>
              <a:buFont typeface="Cambria"/>
              <a:buNone/>
            </a:pPr>
            <a:r>
              <a:rPr b="1" i="0" lang="en-US" sz="3400" u="none" cap="none" strike="noStrike">
                <a:solidFill>
                  <a:srgbClr val="2E9E6B"/>
                </a:solidFill>
                <a:latin typeface="Cambria"/>
                <a:ea typeface="Cambria"/>
                <a:cs typeface="Cambria"/>
                <a:sym typeface="Cambria"/>
              </a:rPr>
              <a:t>100 %</a:t>
            </a:r>
            <a:endParaRPr b="0" i="0" sz="3400" u="none" cap="none" strike="noStrike">
              <a:solidFill>
                <a:schemeClr val="dk1"/>
              </a:solidFill>
              <a:latin typeface="Calibri"/>
              <a:ea typeface="Calibri"/>
              <a:cs typeface="Calibri"/>
              <a:sym typeface="Calibri"/>
            </a:endParaRPr>
          </a:p>
        </p:txBody>
      </p:sp>
      <p:sp>
        <p:nvSpPr>
          <p:cNvPr id="201" name="Google Shape;201;p8"/>
          <p:cNvSpPr txBox="1"/>
          <p:nvPr/>
        </p:nvSpPr>
        <p:spPr>
          <a:xfrm>
            <a:off x="7132320" y="4773168"/>
            <a:ext cx="2103120"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hijos válidos, siempre</a:t>
            </a:r>
            <a:endParaRPr b="0" i="0" sz="1100" u="none" cap="none" strike="noStrike">
              <a:solidFill>
                <a:schemeClr val="dk1"/>
              </a:solidFill>
              <a:latin typeface="Calibri"/>
              <a:ea typeface="Calibri"/>
              <a:cs typeface="Calibri"/>
              <a:sym typeface="Calibri"/>
            </a:endParaRPr>
          </a:p>
        </p:txBody>
      </p:sp>
      <p:sp>
        <p:nvSpPr>
          <p:cNvPr id="202" name="Google Shape;202;p8"/>
          <p:cNvSpPr txBox="1"/>
          <p:nvPr/>
        </p:nvSpPr>
        <p:spPr>
          <a:xfrm>
            <a:off x="9418320" y="4114800"/>
            <a:ext cx="210312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A65A"/>
              </a:buClr>
              <a:buSzPts val="3000"/>
              <a:buFont typeface="Cambria"/>
              <a:buNone/>
            </a:pPr>
            <a:r>
              <a:rPr b="1" i="0" lang="en-US" sz="3000" u="none" cap="none" strike="noStrike">
                <a:solidFill>
                  <a:srgbClr val="F2A65A"/>
                </a:solidFill>
                <a:latin typeface="Cambria"/>
                <a:ea typeface="Cambria"/>
                <a:cs typeface="Cambria"/>
                <a:sym typeface="Cambria"/>
              </a:rPr>
              <a:t>2 niveles</a:t>
            </a:r>
            <a:endParaRPr b="0" i="0" sz="3000" u="none" cap="none" strike="noStrike">
              <a:solidFill>
                <a:schemeClr val="dk1"/>
              </a:solidFill>
              <a:latin typeface="Calibri"/>
              <a:ea typeface="Calibri"/>
              <a:cs typeface="Calibri"/>
              <a:sym typeface="Calibri"/>
            </a:endParaRPr>
          </a:p>
        </p:txBody>
      </p:sp>
      <p:sp>
        <p:nvSpPr>
          <p:cNvPr id="203" name="Google Shape;203;p8"/>
          <p:cNvSpPr txBox="1"/>
          <p:nvPr/>
        </p:nvSpPr>
        <p:spPr>
          <a:xfrm>
            <a:off x="9418320" y="4773168"/>
            <a:ext cx="2103120"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de decisión mutados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 name="Shape 208"/>
        <p:cNvGrpSpPr/>
        <p:nvPr/>
      </p:nvGrpSpPr>
      <p:grpSpPr>
        <a:xfrm>
          <a:off x="0" y="0"/>
          <a:ext cx="0" cy="0"/>
          <a:chOff x="0" y="0"/>
          <a:chExt cx="0" cy="0"/>
        </a:xfrm>
      </p:grpSpPr>
      <p:sp>
        <p:nvSpPr>
          <p:cNvPr id="209" name="Google Shape;209;p9"/>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100"/>
              <a:buFont typeface="Calibri"/>
              <a:buNone/>
            </a:pPr>
            <a:r>
              <a:rPr b="1" i="0" lang="en-US" sz="1100" u="none" cap="none" strike="noStrike">
                <a:solidFill>
                  <a:srgbClr val="1C7293"/>
                </a:solidFill>
                <a:latin typeface="Calibri"/>
                <a:ea typeface="Calibri"/>
                <a:cs typeface="Calibri"/>
                <a:sym typeface="Calibri"/>
              </a:rPr>
              <a:t>EXPERIMENTACIÓN</a:t>
            </a:r>
            <a:endParaRPr b="0" i="0" sz="1100" u="none" cap="none" strike="noStrike">
              <a:solidFill>
                <a:schemeClr val="dk1"/>
              </a:solidFill>
              <a:latin typeface="Calibri"/>
              <a:ea typeface="Calibri"/>
              <a:cs typeface="Calibri"/>
              <a:sym typeface="Calibri"/>
            </a:endParaRPr>
          </a:p>
        </p:txBody>
      </p:sp>
      <p:sp>
        <p:nvSpPr>
          <p:cNvPr id="210" name="Google Shape;210;p9"/>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3000"/>
              <a:buFont typeface="Cambria"/>
              <a:buNone/>
            </a:pPr>
            <a:r>
              <a:rPr b="1" i="0" lang="en-US" sz="3000" u="none" cap="none" strike="noStrike">
                <a:solidFill>
                  <a:srgbClr val="1B2733"/>
                </a:solidFill>
                <a:latin typeface="Cambria"/>
                <a:ea typeface="Cambria"/>
                <a:cs typeface="Cambria"/>
                <a:sym typeface="Cambria"/>
              </a:rPr>
              <a:t>Diseño experimental</a:t>
            </a:r>
            <a:endParaRPr b="0" i="0" sz="3000" u="none" cap="none" strike="noStrike">
              <a:solidFill>
                <a:schemeClr val="dk1"/>
              </a:solidFill>
              <a:latin typeface="Calibri"/>
              <a:ea typeface="Calibri"/>
              <a:cs typeface="Calibri"/>
              <a:sym typeface="Calibri"/>
            </a:endParaRPr>
          </a:p>
        </p:txBody>
      </p:sp>
      <p:sp>
        <p:nvSpPr>
          <p:cNvPr id="211" name="Google Shape;211;p9"/>
          <p:cNvSpPr/>
          <p:nvPr/>
        </p:nvSpPr>
        <p:spPr>
          <a:xfrm>
            <a:off x="548640" y="1280160"/>
            <a:ext cx="5394960" cy="4480560"/>
          </a:xfrm>
          <a:prstGeom prst="roundRect">
            <a:avLst>
              <a:gd fmla="val 1633"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9"/>
          <p:cNvSpPr txBox="1"/>
          <p:nvPr/>
        </p:nvSpPr>
        <p:spPr>
          <a:xfrm>
            <a:off x="868680" y="1508760"/>
            <a:ext cx="47548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600"/>
              <a:buFont typeface="Cambria"/>
              <a:buNone/>
            </a:pPr>
            <a:r>
              <a:rPr b="1" i="0" lang="en-US" sz="1600" u="none" cap="none" strike="noStrike">
                <a:solidFill>
                  <a:srgbClr val="1C7293"/>
                </a:solidFill>
                <a:latin typeface="Cambria"/>
                <a:ea typeface="Cambria"/>
                <a:cs typeface="Cambria"/>
                <a:sym typeface="Cambria"/>
              </a:rPr>
              <a:t>Setup</a:t>
            </a:r>
            <a:endParaRPr b="0" i="0" sz="1600" u="none" cap="none" strike="noStrike">
              <a:solidFill>
                <a:schemeClr val="dk1"/>
              </a:solidFill>
              <a:latin typeface="Calibri"/>
              <a:ea typeface="Calibri"/>
              <a:cs typeface="Calibri"/>
              <a:sym typeface="Calibri"/>
            </a:endParaRPr>
          </a:p>
        </p:txBody>
      </p:sp>
      <p:sp>
        <p:nvSpPr>
          <p:cNvPr id="213" name="Google Shape;213;p9"/>
          <p:cNvSpPr txBox="1"/>
          <p:nvPr/>
        </p:nvSpPr>
        <p:spPr>
          <a:xfrm>
            <a:off x="868680" y="1920240"/>
            <a:ext cx="4754880" cy="3657600"/>
          </a:xfrm>
          <a:prstGeom prst="rect">
            <a:avLst/>
          </a:prstGeom>
          <a:noFill/>
          <a:ln>
            <a:noFill/>
          </a:ln>
        </p:spPr>
        <p:txBody>
          <a:bodyPr anchorCtr="0" anchor="t" bIns="0" lIns="0" spcFirstLastPara="1" rIns="0" wrap="square" tIns="0">
            <a:noAutofit/>
          </a:bodyPr>
          <a:lstStyle/>
          <a:p>
            <a:pPr indent="-177800" lvl="0" marL="177800" marR="0" rtl="0" algn="l">
              <a:lnSpc>
                <a:spcPct val="105000"/>
              </a:lnSpc>
              <a:spcBef>
                <a:spcPts val="0"/>
              </a:spcBef>
              <a:spcAft>
                <a:spcPts val="0"/>
              </a:spcAft>
              <a:buClr>
                <a:srgbClr val="1B2733"/>
              </a:buClr>
              <a:buSzPts val="1300"/>
              <a:buFont typeface="Calibri"/>
              <a:buChar char="•"/>
            </a:pPr>
            <a:r>
              <a:rPr b="0" i="0" lang="en-US" sz="1300" u="none" cap="none" strike="noStrike">
                <a:solidFill>
                  <a:srgbClr val="1B2733"/>
                </a:solidFill>
                <a:latin typeface="Calibri"/>
                <a:ea typeface="Calibri"/>
                <a:cs typeface="Calibri"/>
                <a:sym typeface="Calibri"/>
              </a:rPr>
              <a:t>Instancia fija: 30 vuelos, 10 puertas y 1087 pasajeros, semilla 0. La misma en todos los experimentos.</a:t>
            </a:r>
            <a:endParaRPr b="0" i="0" sz="1300" u="none" cap="none" strike="noStrike">
              <a:solidFill>
                <a:schemeClr val="dk1"/>
              </a:solidFill>
              <a:latin typeface="Calibri"/>
              <a:ea typeface="Calibri"/>
              <a:cs typeface="Calibri"/>
              <a:sym typeface="Calibri"/>
            </a:endParaRPr>
          </a:p>
          <a:p>
            <a:pPr indent="-177800" lvl="0" marL="177800" marR="0" rtl="0" algn="l">
              <a:lnSpc>
                <a:spcPct val="105000"/>
              </a:lnSpc>
              <a:spcBef>
                <a:spcPts val="800"/>
              </a:spcBef>
              <a:spcAft>
                <a:spcPts val="0"/>
              </a:spcAft>
              <a:buClr>
                <a:srgbClr val="1B2733"/>
              </a:buClr>
              <a:buSzPts val="1300"/>
              <a:buFont typeface="Calibri"/>
              <a:buChar char="•"/>
            </a:pPr>
            <a:r>
              <a:rPr b="0" i="0" lang="en-US" sz="1300" u="none" cap="none" strike="noStrike">
                <a:solidFill>
                  <a:srgbClr val="1B2733"/>
                </a:solidFill>
                <a:latin typeface="Calibri"/>
                <a:ea typeface="Calibri"/>
                <a:cs typeface="Calibri"/>
                <a:sym typeface="Calibri"/>
              </a:rPr>
              <a:t>Población de 50 individuos, 100 generaciones, ruleta y reemplazo elitista por ranking.</a:t>
            </a:r>
            <a:endParaRPr b="0" i="0" sz="1300" u="none" cap="none" strike="noStrike">
              <a:solidFill>
                <a:schemeClr val="dk1"/>
              </a:solidFill>
              <a:latin typeface="Calibri"/>
              <a:ea typeface="Calibri"/>
              <a:cs typeface="Calibri"/>
              <a:sym typeface="Calibri"/>
            </a:endParaRPr>
          </a:p>
          <a:p>
            <a:pPr indent="-177800" lvl="0" marL="177800" marR="0" rtl="0" algn="l">
              <a:lnSpc>
                <a:spcPct val="105000"/>
              </a:lnSpc>
              <a:spcBef>
                <a:spcPts val="800"/>
              </a:spcBef>
              <a:spcAft>
                <a:spcPts val="0"/>
              </a:spcAft>
              <a:buClr>
                <a:srgbClr val="1B2733"/>
              </a:buClr>
              <a:buSzPts val="1300"/>
              <a:buFont typeface="Calibri"/>
              <a:buChar char="•"/>
            </a:pPr>
            <a:r>
              <a:rPr b="0" i="0" lang="en-US" sz="1300" u="none" cap="none" strike="noStrike">
                <a:solidFill>
                  <a:srgbClr val="1B2733"/>
                </a:solidFill>
                <a:latin typeface="Calibri"/>
                <a:ea typeface="Calibri"/>
                <a:cs typeface="Calibri"/>
                <a:sym typeface="Calibri"/>
              </a:rPr>
              <a:t>10 corridas por configuración; la corrida r usa la semilla 1000 + r en todas ellas (diseño pareado).</a:t>
            </a:r>
            <a:endParaRPr b="0" i="0" sz="1300" u="none" cap="none" strike="noStrike">
              <a:solidFill>
                <a:schemeClr val="dk1"/>
              </a:solidFill>
              <a:latin typeface="Calibri"/>
              <a:ea typeface="Calibri"/>
              <a:cs typeface="Calibri"/>
              <a:sym typeface="Calibri"/>
            </a:endParaRPr>
          </a:p>
          <a:p>
            <a:pPr indent="-177800" lvl="0" marL="177800" marR="0" rtl="0" algn="l">
              <a:lnSpc>
                <a:spcPct val="105000"/>
              </a:lnSpc>
              <a:spcBef>
                <a:spcPts val="800"/>
              </a:spcBef>
              <a:spcAft>
                <a:spcPts val="0"/>
              </a:spcAft>
              <a:buClr>
                <a:srgbClr val="1B2733"/>
              </a:buClr>
              <a:buSzPts val="1300"/>
              <a:buFont typeface="Calibri"/>
              <a:buChar char="•"/>
            </a:pPr>
            <a:r>
              <a:rPr b="0" i="0" lang="en-US" sz="1300" u="none" cap="none" strike="noStrike">
                <a:solidFill>
                  <a:srgbClr val="1B2733"/>
                </a:solidFill>
                <a:latin typeface="Calibri"/>
                <a:ea typeface="Calibri"/>
                <a:cs typeface="Calibri"/>
                <a:sym typeface="Calibri"/>
              </a:rPr>
              <a:t>NSGA-II: 50 individuos, 100 generaciones, 5 corridas.</a:t>
            </a:r>
            <a:endParaRPr b="0" i="0" sz="1300" u="none" cap="none" strike="noStrike">
              <a:solidFill>
                <a:schemeClr val="dk1"/>
              </a:solidFill>
              <a:latin typeface="Calibri"/>
              <a:ea typeface="Calibri"/>
              <a:cs typeface="Calibri"/>
              <a:sym typeface="Calibri"/>
            </a:endParaRPr>
          </a:p>
          <a:p>
            <a:pPr indent="-177800" lvl="0" marL="177800" marR="0" rtl="0" algn="l">
              <a:lnSpc>
                <a:spcPct val="105000"/>
              </a:lnSpc>
              <a:spcBef>
                <a:spcPts val="800"/>
              </a:spcBef>
              <a:spcAft>
                <a:spcPts val="0"/>
              </a:spcAft>
              <a:buClr>
                <a:srgbClr val="1B2733"/>
              </a:buClr>
              <a:buSzPts val="1300"/>
              <a:buFont typeface="Calibri"/>
              <a:buChar char="•"/>
            </a:pPr>
            <a:r>
              <a:rPr b="0" i="0" lang="en-US" sz="1300" u="none" cap="none" strike="noStrike">
                <a:solidFill>
                  <a:srgbClr val="1B2733"/>
                </a:solidFill>
                <a:latin typeface="Calibri"/>
                <a:ea typeface="Calibri"/>
                <a:cs typeface="Calibri"/>
                <a:sym typeface="Calibri"/>
              </a:rPr>
              <a:t>Prueba de permutación pareada exacta (1024 cambios de signo) en Python puro: no asume normalidad.</a:t>
            </a:r>
            <a:endParaRPr b="0" i="0" sz="1300" u="none" cap="none" strike="noStrike">
              <a:solidFill>
                <a:schemeClr val="dk1"/>
              </a:solidFill>
              <a:latin typeface="Calibri"/>
              <a:ea typeface="Calibri"/>
              <a:cs typeface="Calibri"/>
              <a:sym typeface="Calibri"/>
            </a:endParaRPr>
          </a:p>
        </p:txBody>
      </p:sp>
      <p:sp>
        <p:nvSpPr>
          <p:cNvPr id="214" name="Google Shape;214;p9"/>
          <p:cNvSpPr/>
          <p:nvPr/>
        </p:nvSpPr>
        <p:spPr>
          <a:xfrm>
            <a:off x="6263640" y="1280160"/>
            <a:ext cx="5394960" cy="4480560"/>
          </a:xfrm>
          <a:prstGeom prst="roundRect">
            <a:avLst>
              <a:gd fmla="val 1633"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9"/>
          <p:cNvSpPr txBox="1"/>
          <p:nvPr/>
        </p:nvSpPr>
        <p:spPr>
          <a:xfrm>
            <a:off x="6583680" y="1508760"/>
            <a:ext cx="47548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1600"/>
              <a:buFont typeface="Cambria"/>
              <a:buNone/>
            </a:pPr>
            <a:r>
              <a:rPr b="1" i="0" lang="en-US" sz="1600" u="none" cap="none" strike="noStrike">
                <a:solidFill>
                  <a:srgbClr val="F2A65A"/>
                </a:solidFill>
                <a:latin typeface="Cambria"/>
                <a:ea typeface="Cambria"/>
                <a:cs typeface="Cambria"/>
                <a:sym typeface="Cambria"/>
              </a:rPr>
              <a:t>Métricas</a:t>
            </a:r>
            <a:endParaRPr b="0" i="0" sz="1600" u="none" cap="none" strike="noStrike">
              <a:solidFill>
                <a:schemeClr val="dk1"/>
              </a:solidFill>
              <a:latin typeface="Calibri"/>
              <a:ea typeface="Calibri"/>
              <a:cs typeface="Calibri"/>
              <a:sym typeface="Calibri"/>
            </a:endParaRPr>
          </a:p>
        </p:txBody>
      </p:sp>
      <p:sp>
        <p:nvSpPr>
          <p:cNvPr id="216" name="Google Shape;216;p9"/>
          <p:cNvSpPr txBox="1"/>
          <p:nvPr/>
        </p:nvSpPr>
        <p:spPr>
          <a:xfrm>
            <a:off x="6583680" y="196596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Validez</a:t>
            </a:r>
            <a:endParaRPr b="0" i="0" sz="1300" u="none" cap="none" strike="noStrike">
              <a:solidFill>
                <a:schemeClr val="dk1"/>
              </a:solidFill>
              <a:latin typeface="Calibri"/>
              <a:ea typeface="Calibri"/>
              <a:cs typeface="Calibri"/>
              <a:sym typeface="Calibri"/>
            </a:endParaRPr>
          </a:p>
        </p:txBody>
      </p:sp>
      <p:sp>
        <p:nvSpPr>
          <p:cNvPr id="217" name="Google Shape;217;p9"/>
          <p:cNvSpPr txBox="1"/>
          <p:nvPr/>
        </p:nvSpPr>
        <p:spPr>
          <a:xfrm>
            <a:off x="6583680" y="2221992"/>
            <a:ext cx="47548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ADCFC"/>
              </a:buClr>
              <a:buSzPts val="1150"/>
              <a:buFont typeface="Calibri"/>
              <a:buNone/>
            </a:pPr>
            <a:r>
              <a:rPr b="0" i="0" lang="en-US" sz="1150" u="none" cap="none" strike="noStrike">
                <a:solidFill>
                  <a:srgbClr val="CADCFC"/>
                </a:solidFill>
                <a:latin typeface="Calibri"/>
                <a:ea typeface="Calibri"/>
                <a:cs typeface="Calibri"/>
                <a:sym typeface="Calibri"/>
              </a:rPr>
              <a:t>¿el mejor individuo es ejecutable? — restricción dura</a:t>
            </a:r>
            <a:endParaRPr b="0" i="0" sz="1150" u="none" cap="none" strike="noStrike">
              <a:solidFill>
                <a:schemeClr val="dk1"/>
              </a:solidFill>
              <a:latin typeface="Calibri"/>
              <a:ea typeface="Calibri"/>
              <a:cs typeface="Calibri"/>
              <a:sym typeface="Calibri"/>
            </a:endParaRPr>
          </a:p>
        </p:txBody>
      </p:sp>
      <p:sp>
        <p:nvSpPr>
          <p:cNvPr id="218" name="Google Shape;218;p9"/>
          <p:cNvSpPr txBox="1"/>
          <p:nvPr/>
        </p:nvSpPr>
        <p:spPr>
          <a:xfrm>
            <a:off x="6583680" y="269748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Mejor fitness</a:t>
            </a:r>
            <a:endParaRPr b="0" i="0" sz="1300" u="none" cap="none" strike="noStrike">
              <a:solidFill>
                <a:schemeClr val="dk1"/>
              </a:solidFill>
              <a:latin typeface="Calibri"/>
              <a:ea typeface="Calibri"/>
              <a:cs typeface="Calibri"/>
              <a:sym typeface="Calibri"/>
            </a:endParaRPr>
          </a:p>
        </p:txBody>
      </p:sp>
      <p:sp>
        <p:nvSpPr>
          <p:cNvPr id="219" name="Google Shape;219;p9"/>
          <p:cNvSpPr txBox="1"/>
          <p:nvPr/>
        </p:nvSpPr>
        <p:spPr>
          <a:xfrm>
            <a:off x="6583680" y="2953512"/>
            <a:ext cx="47548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ADCFC"/>
              </a:buClr>
              <a:buSzPts val="1150"/>
              <a:buFont typeface="Calibri"/>
              <a:buNone/>
            </a:pPr>
            <a:r>
              <a:rPr b="0" i="0" lang="en-US" sz="1150" u="none" cap="none" strike="noStrike">
                <a:solidFill>
                  <a:srgbClr val="CADCFC"/>
                </a:solidFill>
                <a:latin typeface="Calibri"/>
                <a:ea typeface="Calibri"/>
                <a:cs typeface="Calibri"/>
                <a:sym typeface="Calibri"/>
              </a:rPr>
              <a:t>pasajeros por unidad de tiempo</a:t>
            </a:r>
            <a:endParaRPr b="0" i="0" sz="1150" u="none" cap="none" strike="noStrike">
              <a:solidFill>
                <a:schemeClr val="dk1"/>
              </a:solidFill>
              <a:latin typeface="Calibri"/>
              <a:ea typeface="Calibri"/>
              <a:cs typeface="Calibri"/>
              <a:sym typeface="Calibri"/>
            </a:endParaRPr>
          </a:p>
        </p:txBody>
      </p:sp>
      <p:sp>
        <p:nvSpPr>
          <p:cNvPr id="220" name="Google Shape;220;p9"/>
          <p:cNvSpPr txBox="1"/>
          <p:nvPr/>
        </p:nvSpPr>
        <p:spPr>
          <a:xfrm>
            <a:off x="6583680" y="342900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Gap al óptimo</a:t>
            </a:r>
            <a:endParaRPr b="0" i="0" sz="1300" u="none" cap="none" strike="noStrike">
              <a:solidFill>
                <a:schemeClr val="dk1"/>
              </a:solidFill>
              <a:latin typeface="Calibri"/>
              <a:ea typeface="Calibri"/>
              <a:cs typeface="Calibri"/>
              <a:sym typeface="Calibri"/>
            </a:endParaRPr>
          </a:p>
        </p:txBody>
      </p:sp>
      <p:sp>
        <p:nvSpPr>
          <p:cNvPr id="221" name="Google Shape;221;p9"/>
          <p:cNvSpPr txBox="1"/>
          <p:nvPr/>
        </p:nvSpPr>
        <p:spPr>
          <a:xfrm>
            <a:off x="6583680" y="3685032"/>
            <a:ext cx="47548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ADCFC"/>
              </a:buClr>
              <a:buSzPts val="1150"/>
              <a:buFont typeface="Calibri"/>
              <a:buNone/>
            </a:pPr>
            <a:r>
              <a:rPr b="0" i="0" lang="en-US" sz="1150" u="none" cap="none" strike="noStrike">
                <a:solidFill>
                  <a:srgbClr val="CADCFC"/>
                </a:solidFill>
                <a:latin typeface="Calibri"/>
                <a:ea typeface="Calibri"/>
                <a:cs typeface="Calibri"/>
                <a:sym typeface="Calibri"/>
              </a:rPr>
              <a:t>distancia porcentual al óptimo exacto</a:t>
            </a:r>
            <a:endParaRPr b="0" i="0" sz="1150" u="none" cap="none" strike="noStrike">
              <a:solidFill>
                <a:schemeClr val="dk1"/>
              </a:solidFill>
              <a:latin typeface="Calibri"/>
              <a:ea typeface="Calibri"/>
              <a:cs typeface="Calibri"/>
              <a:sym typeface="Calibri"/>
            </a:endParaRPr>
          </a:p>
        </p:txBody>
      </p:sp>
      <p:sp>
        <p:nvSpPr>
          <p:cNvPr id="222" name="Google Shape;222;p9"/>
          <p:cNvSpPr txBox="1"/>
          <p:nvPr/>
        </p:nvSpPr>
        <p:spPr>
          <a:xfrm>
            <a:off x="6583680" y="416052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Tasa de éxito</a:t>
            </a:r>
            <a:endParaRPr b="0" i="0" sz="1300" u="none" cap="none" strike="noStrike">
              <a:solidFill>
                <a:schemeClr val="dk1"/>
              </a:solidFill>
              <a:latin typeface="Calibri"/>
              <a:ea typeface="Calibri"/>
              <a:cs typeface="Calibri"/>
              <a:sym typeface="Calibri"/>
            </a:endParaRPr>
          </a:p>
        </p:txBody>
      </p:sp>
      <p:sp>
        <p:nvSpPr>
          <p:cNvPr id="223" name="Google Shape;223;p9"/>
          <p:cNvSpPr txBox="1"/>
          <p:nvPr/>
        </p:nvSpPr>
        <p:spPr>
          <a:xfrm>
            <a:off x="6583680" y="4416552"/>
            <a:ext cx="47548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ADCFC"/>
              </a:buClr>
              <a:buSzPts val="1150"/>
              <a:buFont typeface="Calibri"/>
              <a:buNone/>
            </a:pPr>
            <a:r>
              <a:rPr b="0" i="0" lang="en-US" sz="1150" u="none" cap="none" strike="noStrike">
                <a:solidFill>
                  <a:srgbClr val="CADCFC"/>
                </a:solidFill>
                <a:latin typeface="Calibri"/>
                <a:ea typeface="Calibri"/>
                <a:cs typeface="Calibri"/>
                <a:sym typeface="Calibri"/>
              </a:rPr>
              <a:t>corridas que alcanzan el óptimo exacto — la métrica decisiva</a:t>
            </a:r>
            <a:endParaRPr b="0" i="0" sz="1150" u="none" cap="none" strike="noStrike">
              <a:solidFill>
                <a:schemeClr val="dk1"/>
              </a:solidFill>
              <a:latin typeface="Calibri"/>
              <a:ea typeface="Calibri"/>
              <a:cs typeface="Calibri"/>
              <a:sym typeface="Calibri"/>
            </a:endParaRPr>
          </a:p>
        </p:txBody>
      </p:sp>
      <p:sp>
        <p:nvSpPr>
          <p:cNvPr id="224" name="Google Shape;224;p9"/>
          <p:cNvSpPr txBox="1"/>
          <p:nvPr/>
        </p:nvSpPr>
        <p:spPr>
          <a:xfrm>
            <a:off x="6583680" y="4892040"/>
            <a:ext cx="4754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Hipervolumen</a:t>
            </a:r>
            <a:endParaRPr b="0" i="0" sz="1300" u="none" cap="none" strike="noStrike">
              <a:solidFill>
                <a:schemeClr val="dk1"/>
              </a:solidFill>
              <a:latin typeface="Calibri"/>
              <a:ea typeface="Calibri"/>
              <a:cs typeface="Calibri"/>
              <a:sym typeface="Calibri"/>
            </a:endParaRPr>
          </a:p>
        </p:txBody>
      </p:sp>
      <p:sp>
        <p:nvSpPr>
          <p:cNvPr id="225" name="Google Shape;225;p9"/>
          <p:cNvSpPr txBox="1"/>
          <p:nvPr/>
        </p:nvSpPr>
        <p:spPr>
          <a:xfrm>
            <a:off x="6583680" y="5148072"/>
            <a:ext cx="47548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ADCFC"/>
              </a:buClr>
              <a:buSzPts val="1150"/>
              <a:buFont typeface="Calibri"/>
              <a:buNone/>
            </a:pPr>
            <a:r>
              <a:rPr b="0" i="0" lang="en-US" sz="1150" u="none" cap="none" strike="noStrike">
                <a:solidFill>
                  <a:srgbClr val="CADCFC"/>
                </a:solidFill>
                <a:latin typeface="Calibri"/>
                <a:ea typeface="Calibri"/>
                <a:cs typeface="Calibri"/>
                <a:sym typeface="Calibri"/>
              </a:rPr>
              <a:t>calidad y extensión de la frontera de Pareto</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0"/>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100"/>
              <a:buFont typeface="Calibri"/>
              <a:buNone/>
            </a:pPr>
            <a:r>
              <a:rPr b="1" i="0" lang="en-US" sz="1100" u="none" cap="none" strike="noStrike">
                <a:solidFill>
                  <a:srgbClr val="1C7293"/>
                </a:solidFill>
                <a:latin typeface="Calibri"/>
                <a:ea typeface="Calibri"/>
                <a:cs typeface="Calibri"/>
                <a:sym typeface="Calibri"/>
              </a:rPr>
              <a:t>LA VARA DE MEDIR</a:t>
            </a:r>
            <a:endParaRPr b="0" i="0" sz="1100" u="none" cap="none" strike="noStrike">
              <a:solidFill>
                <a:schemeClr val="dk1"/>
              </a:solidFill>
              <a:latin typeface="Calibri"/>
              <a:ea typeface="Calibri"/>
              <a:cs typeface="Calibri"/>
              <a:sym typeface="Calibri"/>
            </a:endParaRPr>
          </a:p>
        </p:txBody>
      </p:sp>
      <p:sp>
        <p:nvSpPr>
          <p:cNvPr id="231" name="Google Shape;231;p10"/>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3000"/>
              <a:buFont typeface="Cambria"/>
              <a:buNone/>
            </a:pPr>
            <a:r>
              <a:rPr b="1" i="0" lang="en-US" sz="3000" u="none" cap="none" strike="noStrike">
                <a:solidFill>
                  <a:srgbClr val="1B2733"/>
                </a:solidFill>
                <a:latin typeface="Cambria"/>
                <a:ea typeface="Cambria"/>
                <a:cs typeface="Cambria"/>
                <a:sym typeface="Cambria"/>
              </a:rPr>
              <a:t>El óptimo exacto de la instancia</a:t>
            </a:r>
            <a:endParaRPr b="0" i="0" sz="3000" u="none" cap="none" strike="noStrike">
              <a:solidFill>
                <a:schemeClr val="dk1"/>
              </a:solidFill>
              <a:latin typeface="Calibri"/>
              <a:ea typeface="Calibri"/>
              <a:cs typeface="Calibri"/>
              <a:sym typeface="Calibri"/>
            </a:endParaRPr>
          </a:p>
        </p:txBody>
      </p:sp>
      <p:sp>
        <p:nvSpPr>
          <p:cNvPr id="232" name="Google Shape;232;p10"/>
          <p:cNvSpPr/>
          <p:nvPr/>
        </p:nvSpPr>
        <p:spPr>
          <a:xfrm>
            <a:off x="548640" y="1280160"/>
            <a:ext cx="3566160" cy="1965960"/>
          </a:xfrm>
          <a:prstGeom prst="roundRect">
            <a:avLst>
              <a:gd fmla="val 3721"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0"/>
          <p:cNvSpPr/>
          <p:nvPr/>
        </p:nvSpPr>
        <p:spPr>
          <a:xfrm>
            <a:off x="822960" y="1508760"/>
            <a:ext cx="384048" cy="384048"/>
          </a:xfrm>
          <a:prstGeom prst="ellipse">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0"/>
          <p:cNvSpPr txBox="1"/>
          <p:nvPr/>
        </p:nvSpPr>
        <p:spPr>
          <a:xfrm>
            <a:off x="822960" y="150876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1</a:t>
            </a:r>
            <a:endParaRPr b="0" i="0" sz="1100" u="none" cap="none" strike="noStrike">
              <a:solidFill>
                <a:schemeClr val="dk1"/>
              </a:solidFill>
              <a:latin typeface="Calibri"/>
              <a:ea typeface="Calibri"/>
              <a:cs typeface="Calibri"/>
              <a:sym typeface="Calibri"/>
            </a:endParaRPr>
          </a:p>
        </p:txBody>
      </p:sp>
      <p:sp>
        <p:nvSpPr>
          <p:cNvPr id="235" name="Google Shape;235;p10"/>
          <p:cNvSpPr txBox="1"/>
          <p:nvPr/>
        </p:nvSpPr>
        <p:spPr>
          <a:xfrm>
            <a:off x="822960" y="2011680"/>
            <a:ext cx="3017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500"/>
              <a:buFont typeface="Calibri"/>
              <a:buNone/>
            </a:pPr>
            <a:r>
              <a:rPr b="1" i="0" lang="en-US" sz="1500" u="none" cap="none" strike="noStrike">
                <a:solidFill>
                  <a:srgbClr val="1B2733"/>
                </a:solidFill>
                <a:latin typeface="Calibri"/>
                <a:ea typeface="Calibri"/>
                <a:cs typeface="Calibri"/>
                <a:sym typeface="Calibri"/>
              </a:rPr>
              <a:t>Fitness aditivo</a:t>
            </a:r>
            <a:endParaRPr b="0" i="0" sz="1500" u="none" cap="none" strike="noStrike">
              <a:solidFill>
                <a:schemeClr val="dk1"/>
              </a:solidFill>
              <a:latin typeface="Calibri"/>
              <a:ea typeface="Calibri"/>
              <a:cs typeface="Calibri"/>
              <a:sym typeface="Calibri"/>
            </a:endParaRPr>
          </a:p>
        </p:txBody>
      </p:sp>
      <p:sp>
        <p:nvSpPr>
          <p:cNvPr id="236" name="Google Shape;236;p10"/>
          <p:cNvSpPr txBox="1"/>
          <p:nvPr/>
        </p:nvSpPr>
        <p:spPr>
          <a:xfrm>
            <a:off x="822960" y="2331720"/>
            <a:ext cx="301752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5A6B7B"/>
              </a:buClr>
              <a:buSzPts val="1250"/>
              <a:buFont typeface="Calibri"/>
              <a:buNone/>
            </a:pPr>
            <a:r>
              <a:rPr b="0" i="0" lang="en-US" sz="1250" u="none" cap="none" strike="noStrike">
                <a:solidFill>
                  <a:srgbClr val="5A6B7B"/>
                </a:solidFill>
                <a:latin typeface="Calibri"/>
                <a:ea typeface="Calibri"/>
                <a:cs typeface="Calibri"/>
                <a:sym typeface="Calibri"/>
              </a:rPr>
              <a:t>El fitness suma un término independiente por asignación: las 10 decisiones no interactúan entre sí.</a:t>
            </a:r>
            <a:endParaRPr b="0" i="0" sz="1250" u="none" cap="none" strike="noStrike">
              <a:solidFill>
                <a:schemeClr val="dk1"/>
              </a:solidFill>
              <a:latin typeface="Calibri"/>
              <a:ea typeface="Calibri"/>
              <a:cs typeface="Calibri"/>
              <a:sym typeface="Calibri"/>
            </a:endParaRPr>
          </a:p>
        </p:txBody>
      </p:sp>
      <p:sp>
        <p:nvSpPr>
          <p:cNvPr id="237" name="Google Shape;237;p10"/>
          <p:cNvSpPr/>
          <p:nvPr/>
        </p:nvSpPr>
        <p:spPr>
          <a:xfrm>
            <a:off x="4343400" y="1280160"/>
            <a:ext cx="3566160" cy="1965960"/>
          </a:xfrm>
          <a:prstGeom prst="roundRect">
            <a:avLst>
              <a:gd fmla="val 3721"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0"/>
          <p:cNvSpPr/>
          <p:nvPr/>
        </p:nvSpPr>
        <p:spPr>
          <a:xfrm>
            <a:off x="4617720" y="1508760"/>
            <a:ext cx="384048" cy="384048"/>
          </a:xfrm>
          <a:prstGeom prst="ellipse">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0"/>
          <p:cNvSpPr txBox="1"/>
          <p:nvPr/>
        </p:nvSpPr>
        <p:spPr>
          <a:xfrm>
            <a:off x="4617720" y="150876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2</a:t>
            </a:r>
            <a:endParaRPr b="0" i="0" sz="1100" u="none" cap="none" strike="noStrike">
              <a:solidFill>
                <a:schemeClr val="dk1"/>
              </a:solidFill>
              <a:latin typeface="Calibri"/>
              <a:ea typeface="Calibri"/>
              <a:cs typeface="Calibri"/>
              <a:sym typeface="Calibri"/>
            </a:endParaRPr>
          </a:p>
        </p:txBody>
      </p:sp>
      <p:sp>
        <p:nvSpPr>
          <p:cNvPr id="240" name="Google Shape;240;p10"/>
          <p:cNvSpPr txBox="1"/>
          <p:nvPr/>
        </p:nvSpPr>
        <p:spPr>
          <a:xfrm>
            <a:off x="4617720" y="2011680"/>
            <a:ext cx="3017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500"/>
              <a:buFont typeface="Calibri"/>
              <a:buNone/>
            </a:pPr>
            <a:r>
              <a:rPr b="1" i="0" lang="en-US" sz="1500" u="none" cap="none" strike="noStrike">
                <a:solidFill>
                  <a:srgbClr val="1B2733"/>
                </a:solidFill>
                <a:latin typeface="Calibri"/>
                <a:ea typeface="Calibri"/>
                <a:cs typeface="Calibri"/>
                <a:sym typeface="Calibri"/>
              </a:rPr>
              <a:t>Estado compacto</a:t>
            </a:r>
            <a:endParaRPr b="0" i="0" sz="1500" u="none" cap="none" strike="noStrike">
              <a:solidFill>
                <a:schemeClr val="dk1"/>
              </a:solidFill>
              <a:latin typeface="Calibri"/>
              <a:ea typeface="Calibri"/>
              <a:cs typeface="Calibri"/>
              <a:sym typeface="Calibri"/>
            </a:endParaRPr>
          </a:p>
        </p:txBody>
      </p:sp>
      <p:sp>
        <p:nvSpPr>
          <p:cNvPr id="241" name="Google Shape;241;p10"/>
          <p:cNvSpPr txBox="1"/>
          <p:nvPr/>
        </p:nvSpPr>
        <p:spPr>
          <a:xfrm>
            <a:off x="4617720" y="2331720"/>
            <a:ext cx="301752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5A6B7B"/>
              </a:buClr>
              <a:buSzPts val="1250"/>
              <a:buFont typeface="Calibri"/>
              <a:buNone/>
            </a:pPr>
            <a:r>
              <a:rPr b="0" i="0" lang="en-US" sz="1250" u="none" cap="none" strike="noStrike">
                <a:solidFill>
                  <a:srgbClr val="5A6B7B"/>
                </a:solidFill>
                <a:latin typeface="Calibri"/>
                <a:ea typeface="Calibri"/>
                <a:cs typeface="Calibri"/>
                <a:sym typeface="Calibri"/>
              </a:rPr>
              <a:t>Con 10 puertas, qué puertas ya se usaron cabe en una máscara de 10 bits: solo 1024 estados posibles.</a:t>
            </a:r>
            <a:endParaRPr b="0" i="0" sz="1250" u="none" cap="none" strike="noStrike">
              <a:solidFill>
                <a:schemeClr val="dk1"/>
              </a:solidFill>
              <a:latin typeface="Calibri"/>
              <a:ea typeface="Calibri"/>
              <a:cs typeface="Calibri"/>
              <a:sym typeface="Calibri"/>
            </a:endParaRPr>
          </a:p>
        </p:txBody>
      </p:sp>
      <p:sp>
        <p:nvSpPr>
          <p:cNvPr id="242" name="Google Shape;242;p10"/>
          <p:cNvSpPr/>
          <p:nvPr/>
        </p:nvSpPr>
        <p:spPr>
          <a:xfrm>
            <a:off x="8138160" y="1280160"/>
            <a:ext cx="3566160" cy="1965960"/>
          </a:xfrm>
          <a:prstGeom prst="roundRect">
            <a:avLst>
              <a:gd fmla="val 3721"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0"/>
          <p:cNvSpPr/>
          <p:nvPr/>
        </p:nvSpPr>
        <p:spPr>
          <a:xfrm>
            <a:off x="8412480" y="1508760"/>
            <a:ext cx="384048" cy="384048"/>
          </a:xfrm>
          <a:prstGeom prst="ellipse">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10"/>
          <p:cNvSpPr txBox="1"/>
          <p:nvPr/>
        </p:nvSpPr>
        <p:spPr>
          <a:xfrm>
            <a:off x="8412480" y="150876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3</a:t>
            </a:r>
            <a:endParaRPr b="0" i="0" sz="1100" u="none" cap="none" strike="noStrike">
              <a:solidFill>
                <a:schemeClr val="dk1"/>
              </a:solidFill>
              <a:latin typeface="Calibri"/>
              <a:ea typeface="Calibri"/>
              <a:cs typeface="Calibri"/>
              <a:sym typeface="Calibri"/>
            </a:endParaRPr>
          </a:p>
        </p:txBody>
      </p:sp>
      <p:sp>
        <p:nvSpPr>
          <p:cNvPr id="245" name="Google Shape;245;p10"/>
          <p:cNvSpPr txBox="1"/>
          <p:nvPr/>
        </p:nvSpPr>
        <p:spPr>
          <a:xfrm>
            <a:off x="8412480" y="2011680"/>
            <a:ext cx="3017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500"/>
              <a:buFont typeface="Calibri"/>
              <a:buNone/>
            </a:pPr>
            <a:r>
              <a:rPr b="1" i="0" lang="en-US" sz="1500" u="none" cap="none" strike="noStrike">
                <a:solidFill>
                  <a:srgbClr val="1B2733"/>
                </a:solidFill>
                <a:latin typeface="Calibri"/>
                <a:ea typeface="Calibri"/>
                <a:cs typeface="Calibri"/>
                <a:sym typeface="Calibri"/>
              </a:rPr>
              <a:t>Programación dinámica</a:t>
            </a:r>
            <a:endParaRPr b="0" i="0" sz="1500" u="none" cap="none" strike="noStrike">
              <a:solidFill>
                <a:schemeClr val="dk1"/>
              </a:solidFill>
              <a:latin typeface="Calibri"/>
              <a:ea typeface="Calibri"/>
              <a:cs typeface="Calibri"/>
              <a:sym typeface="Calibri"/>
            </a:endParaRPr>
          </a:p>
        </p:txBody>
      </p:sp>
      <p:sp>
        <p:nvSpPr>
          <p:cNvPr id="246" name="Google Shape;246;p10"/>
          <p:cNvSpPr txBox="1"/>
          <p:nvPr/>
        </p:nvSpPr>
        <p:spPr>
          <a:xfrm>
            <a:off x="8412480" y="2331720"/>
            <a:ext cx="301752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5A6B7B"/>
              </a:buClr>
              <a:buSzPts val="1250"/>
              <a:buFont typeface="Calibri"/>
              <a:buNone/>
            </a:pPr>
            <a:r>
              <a:rPr b="0" i="0" lang="en-US" sz="1250" u="none" cap="none" strike="noStrike">
                <a:solidFill>
                  <a:srgbClr val="5A6B7B"/>
                </a:solidFill>
                <a:latin typeface="Calibri"/>
                <a:ea typeface="Calibri"/>
                <a:cs typeface="Calibri"/>
                <a:sym typeface="Calibri"/>
              </a:rPr>
              <a:t>Se recorre vuelo por vuelo: omitirlo o asignarlo a una puerta libre. 307 200 transiciones en total.</a:t>
            </a:r>
            <a:endParaRPr b="0" i="0" sz="1250" u="none" cap="none" strike="noStrike">
              <a:solidFill>
                <a:schemeClr val="dk1"/>
              </a:solidFill>
              <a:latin typeface="Calibri"/>
              <a:ea typeface="Calibri"/>
              <a:cs typeface="Calibri"/>
              <a:sym typeface="Calibri"/>
            </a:endParaRPr>
          </a:p>
        </p:txBody>
      </p:sp>
      <p:sp>
        <p:nvSpPr>
          <p:cNvPr id="247" name="Google Shape;247;p10"/>
          <p:cNvSpPr/>
          <p:nvPr/>
        </p:nvSpPr>
        <p:spPr>
          <a:xfrm>
            <a:off x="548640" y="3611880"/>
            <a:ext cx="11109960" cy="2148840"/>
          </a:xfrm>
          <a:prstGeom prst="roundRect">
            <a:avLst>
              <a:gd fmla="val 3404"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0"/>
          <p:cNvSpPr txBox="1"/>
          <p:nvPr/>
        </p:nvSpPr>
        <p:spPr>
          <a:xfrm>
            <a:off x="914400" y="3840480"/>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700"/>
              <a:buFont typeface="Cambria"/>
              <a:buNone/>
            </a:pPr>
            <a:r>
              <a:rPr b="1" i="0" lang="en-US" sz="1700" u="none" cap="none" strike="noStrike">
                <a:solidFill>
                  <a:srgbClr val="FFFFFF"/>
                </a:solidFill>
                <a:latin typeface="Cambria"/>
                <a:ea typeface="Cambria"/>
                <a:cs typeface="Cambria"/>
                <a:sym typeface="Cambria"/>
              </a:rPr>
              <a:t>Por qué esto cambia todo el análisis</a:t>
            </a:r>
            <a:endParaRPr b="0" i="0" sz="1700" u="none" cap="none" strike="noStrike">
              <a:solidFill>
                <a:schemeClr val="dk1"/>
              </a:solidFill>
              <a:latin typeface="Calibri"/>
              <a:ea typeface="Calibri"/>
              <a:cs typeface="Calibri"/>
              <a:sym typeface="Calibri"/>
            </a:endParaRPr>
          </a:p>
        </p:txBody>
      </p:sp>
      <p:sp>
        <p:nvSpPr>
          <p:cNvPr id="249" name="Google Shape;249;p10"/>
          <p:cNvSpPr txBox="1"/>
          <p:nvPr/>
        </p:nvSpPr>
        <p:spPr>
          <a:xfrm>
            <a:off x="914400" y="4251960"/>
            <a:ext cx="5943600" cy="109728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CADCFC"/>
              </a:buClr>
              <a:buSzPts val="1300"/>
              <a:buFont typeface="Calibri"/>
              <a:buNone/>
            </a:pPr>
            <a:r>
              <a:rPr b="0" i="0" lang="en-US" sz="1300" u="none" cap="none" strike="noStrike">
                <a:solidFill>
                  <a:srgbClr val="CADCFC"/>
                </a:solidFill>
                <a:latin typeface="Calibri"/>
                <a:ea typeface="Calibri"/>
                <a:cs typeface="Calibri"/>
                <a:sym typeface="Calibri"/>
              </a:rPr>
              <a:t>Hasta aquí solo podíamos decir que el AG encontró algo bueno. Con el óptimo calculado podemos decir si lo encontró y con qué frecuencia. La calidad deja de medirse contra el mejor resultado del propio algoritmo y pasa a medirse contra el mejor valor que existe.</a:t>
            </a:r>
            <a:endParaRPr b="0" i="0" sz="1300" u="none" cap="none" strike="noStrike">
              <a:solidFill>
                <a:schemeClr val="dk1"/>
              </a:solidFill>
              <a:latin typeface="Calibri"/>
              <a:ea typeface="Calibri"/>
              <a:cs typeface="Calibri"/>
              <a:sym typeface="Calibri"/>
            </a:endParaRPr>
          </a:p>
        </p:txBody>
      </p:sp>
      <p:sp>
        <p:nvSpPr>
          <p:cNvPr id="250" name="Google Shape;250;p10"/>
          <p:cNvSpPr txBox="1"/>
          <p:nvPr/>
        </p:nvSpPr>
        <p:spPr>
          <a:xfrm>
            <a:off x="7315200" y="3931920"/>
            <a:ext cx="201168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C7293"/>
              </a:buClr>
              <a:buSzPts val="4000"/>
              <a:buFont typeface="Cambria"/>
              <a:buNone/>
            </a:pPr>
            <a:r>
              <a:rPr b="1" i="0" lang="en-US" sz="4000" u="none" cap="none" strike="noStrike">
                <a:solidFill>
                  <a:srgbClr val="1C7293"/>
                </a:solidFill>
                <a:latin typeface="Cambria"/>
                <a:ea typeface="Cambria"/>
                <a:cs typeface="Cambria"/>
                <a:sym typeface="Cambria"/>
              </a:rPr>
              <a:t>5,0819</a:t>
            </a:r>
            <a:endParaRPr b="0" i="0" sz="4000" u="none" cap="none" strike="noStrike">
              <a:solidFill>
                <a:schemeClr val="dk1"/>
              </a:solidFill>
              <a:latin typeface="Calibri"/>
              <a:ea typeface="Calibri"/>
              <a:cs typeface="Calibri"/>
              <a:sym typeface="Calibri"/>
            </a:endParaRPr>
          </a:p>
        </p:txBody>
      </p:sp>
      <p:sp>
        <p:nvSpPr>
          <p:cNvPr id="251" name="Google Shape;251;p10"/>
          <p:cNvSpPr txBox="1"/>
          <p:nvPr/>
        </p:nvSpPr>
        <p:spPr>
          <a:xfrm>
            <a:off x="7315200" y="4590288"/>
            <a:ext cx="2011680"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óptimo exacto demostrado</a:t>
            </a:r>
            <a:endParaRPr b="0" i="0" sz="1100" u="none" cap="none" strike="noStrike">
              <a:solidFill>
                <a:schemeClr val="dk1"/>
              </a:solidFill>
              <a:latin typeface="Calibri"/>
              <a:ea typeface="Calibri"/>
              <a:cs typeface="Calibri"/>
              <a:sym typeface="Calibri"/>
            </a:endParaRPr>
          </a:p>
        </p:txBody>
      </p:sp>
      <p:sp>
        <p:nvSpPr>
          <p:cNvPr id="252" name="Google Shape;252;p10"/>
          <p:cNvSpPr txBox="1"/>
          <p:nvPr/>
        </p:nvSpPr>
        <p:spPr>
          <a:xfrm>
            <a:off x="9464040" y="3931920"/>
            <a:ext cx="201168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C7293"/>
              </a:buClr>
              <a:buSzPts val="4000"/>
              <a:buFont typeface="Cambria"/>
              <a:buNone/>
            </a:pPr>
            <a:r>
              <a:rPr b="1" i="0" lang="en-US" sz="4000" u="none" cap="none" strike="noStrike">
                <a:solidFill>
                  <a:srgbClr val="1C7293"/>
                </a:solidFill>
                <a:latin typeface="Cambria"/>
                <a:ea typeface="Cambria"/>
                <a:cs typeface="Cambria"/>
                <a:sym typeface="Cambria"/>
              </a:rPr>
              <a:t>1024</a:t>
            </a:r>
            <a:endParaRPr b="0" i="0" sz="4000" u="none" cap="none" strike="noStrike">
              <a:solidFill>
                <a:schemeClr val="dk1"/>
              </a:solidFill>
              <a:latin typeface="Calibri"/>
              <a:ea typeface="Calibri"/>
              <a:cs typeface="Calibri"/>
              <a:sym typeface="Calibri"/>
            </a:endParaRPr>
          </a:p>
        </p:txBody>
      </p:sp>
      <p:sp>
        <p:nvSpPr>
          <p:cNvPr id="253" name="Google Shape;253;p10"/>
          <p:cNvSpPr txBox="1"/>
          <p:nvPr/>
        </p:nvSpPr>
        <p:spPr>
          <a:xfrm>
            <a:off x="9464040" y="4590288"/>
            <a:ext cx="2011680" cy="4572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estados de la programación dinámica</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 name="Shape 258"/>
        <p:cNvGrpSpPr/>
        <p:nvPr/>
      </p:nvGrpSpPr>
      <p:grpSpPr>
        <a:xfrm>
          <a:off x="0" y="0"/>
          <a:ext cx="0" cy="0"/>
          <a:chOff x="0" y="0"/>
          <a:chExt cx="0" cy="0"/>
        </a:xfrm>
      </p:grpSpPr>
      <p:sp>
        <p:nvSpPr>
          <p:cNvPr id="259" name="Google Shape;259;p11"/>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100"/>
              <a:buFont typeface="Calibri"/>
              <a:buNone/>
            </a:pPr>
            <a:r>
              <a:rPr b="1" i="0" lang="en-US" sz="1100" u="none" cap="none" strike="noStrike">
                <a:solidFill>
                  <a:srgbClr val="1C7293"/>
                </a:solidFill>
                <a:latin typeface="Calibri"/>
                <a:ea typeface="Calibri"/>
                <a:cs typeface="Calibri"/>
                <a:sym typeface="Calibri"/>
              </a:rPr>
              <a:t>RESULTADO 1</a:t>
            </a:r>
            <a:endParaRPr b="0" i="0" sz="1100" u="none" cap="none" strike="noStrike">
              <a:solidFill>
                <a:schemeClr val="dk1"/>
              </a:solidFill>
              <a:latin typeface="Calibri"/>
              <a:ea typeface="Calibri"/>
              <a:cs typeface="Calibri"/>
              <a:sym typeface="Calibri"/>
            </a:endParaRPr>
          </a:p>
        </p:txBody>
      </p:sp>
      <p:sp>
        <p:nvSpPr>
          <p:cNvPr id="260" name="Google Shape;260;p11"/>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3000"/>
              <a:buFont typeface="Cambria"/>
              <a:buNone/>
            </a:pPr>
            <a:r>
              <a:rPr b="1" i="0" lang="en-US" sz="3000" u="none" cap="none" strike="noStrike">
                <a:solidFill>
                  <a:srgbClr val="1B2733"/>
                </a:solidFill>
                <a:latin typeface="Cambria"/>
                <a:ea typeface="Cambria"/>
                <a:cs typeface="Cambria"/>
                <a:sym typeface="Cambria"/>
              </a:rPr>
              <a:t>Auditoría directa de los operadores</a:t>
            </a:r>
            <a:endParaRPr b="0" i="0" sz="3000" u="none" cap="none" strike="noStrike">
              <a:solidFill>
                <a:schemeClr val="dk1"/>
              </a:solidFill>
              <a:latin typeface="Calibri"/>
              <a:ea typeface="Calibri"/>
              <a:cs typeface="Calibri"/>
              <a:sym typeface="Calibri"/>
            </a:endParaRPr>
          </a:p>
        </p:txBody>
      </p:sp>
      <p:sp>
        <p:nvSpPr>
          <p:cNvPr id="261" name="Google Shape;261;p11"/>
          <p:cNvSpPr txBox="1"/>
          <p:nvPr/>
        </p:nvSpPr>
        <p:spPr>
          <a:xfrm>
            <a:off x="548640" y="1143000"/>
            <a:ext cx="7315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B7B"/>
              </a:buClr>
              <a:buSzPts val="1300"/>
              <a:buFont typeface="Calibri"/>
              <a:buNone/>
            </a:pPr>
            <a:r>
              <a:rPr b="0" i="0" lang="en-US" sz="1300" u="none" cap="none" strike="noStrike">
                <a:solidFill>
                  <a:srgbClr val="5A6B7B"/>
                </a:solidFill>
                <a:latin typeface="Calibri"/>
                <a:ea typeface="Calibri"/>
                <a:cs typeface="Calibri"/>
                <a:sym typeface="Calibri"/>
              </a:rPr>
              <a:t>2000 parejas de padres factibles, midiendo solo el efecto del operador.</a:t>
            </a:r>
            <a:endParaRPr b="0" i="0" sz="1300" u="none" cap="none" strike="noStrike">
              <a:solidFill>
                <a:schemeClr val="dk1"/>
              </a:solidFill>
              <a:latin typeface="Calibri"/>
              <a:ea typeface="Calibri"/>
              <a:cs typeface="Calibri"/>
              <a:sym typeface="Calibri"/>
            </a:endParaRPr>
          </a:p>
        </p:txBody>
      </p:sp>
      <p:graphicFrame>
        <p:nvGraphicFramePr>
          <p:cNvPr id="262" name="Google Shape;262;p11"/>
          <p:cNvGraphicFramePr/>
          <p:nvPr/>
        </p:nvGraphicFramePr>
        <p:xfrm>
          <a:off x="548640" y="1600200"/>
          <a:ext cx="3000000" cy="3000000"/>
        </p:xfrm>
        <a:graphic>
          <a:graphicData uri="http://schemas.openxmlformats.org/drawingml/2006/table">
            <a:tbl>
              <a:tblPr>
                <a:noFill/>
                <a:tableStyleId>{1EACBFD3-367F-4D06-B59E-283CCBDB9967}</a:tableStyleId>
              </a:tblPr>
              <a:tblGrid>
                <a:gridCol w="3383275"/>
                <a:gridCol w="1280150"/>
                <a:gridCol w="1645925"/>
                <a:gridCol w="1463050"/>
              </a:tblGrid>
              <a:tr h="279800">
                <a:tc>
                  <a:txBody>
                    <a:bodyPr/>
                    <a:lstStyle/>
                    <a:p>
                      <a:pPr indent="0" lvl="0" marL="0" marR="0" rtl="0" algn="l">
                        <a:spcBef>
                          <a:spcPts val="0"/>
                        </a:spcBef>
                        <a:spcAft>
                          <a:spcPts val="0"/>
                        </a:spcAft>
                        <a:buClr>
                          <a:srgbClr val="FFFFFF"/>
                        </a:buClr>
                        <a:buSzPts val="1150"/>
                        <a:buFont typeface="Calibri"/>
                        <a:buNone/>
                      </a:pPr>
                      <a:r>
                        <a:rPr b="1" lang="en-US" sz="1150" u="none" cap="none" strike="noStrike">
                          <a:solidFill>
                            <a:srgbClr val="FFFFFF"/>
                          </a:solidFill>
                          <a:latin typeface="Calibri"/>
                          <a:ea typeface="Calibri"/>
                          <a:cs typeface="Calibri"/>
                          <a:sym typeface="Calibri"/>
                        </a:rPr>
                        <a:t>Operador</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solidFill>
                      <a:srgbClr val="0F2B46"/>
                    </a:solidFill>
                  </a:tcPr>
                </a:tc>
                <a:tc>
                  <a:txBody>
                    <a:bodyPr/>
                    <a:lstStyle/>
                    <a:p>
                      <a:pPr indent="0" lvl="0" marL="0" marR="0" rtl="0" algn="ctr">
                        <a:spcBef>
                          <a:spcPts val="0"/>
                        </a:spcBef>
                        <a:spcAft>
                          <a:spcPts val="0"/>
                        </a:spcAft>
                        <a:buClr>
                          <a:srgbClr val="FFFFFF"/>
                        </a:buClr>
                        <a:buSzPts val="1150"/>
                        <a:buFont typeface="Calibri"/>
                        <a:buNone/>
                      </a:pPr>
                      <a:r>
                        <a:rPr b="1" lang="en-US" sz="1150" u="none" cap="none" strike="noStrike">
                          <a:solidFill>
                            <a:srgbClr val="FFFFFF"/>
                          </a:solidFill>
                          <a:latin typeface="Calibri"/>
                          <a:ea typeface="Calibri"/>
                          <a:cs typeface="Calibri"/>
                          <a:sym typeface="Calibri"/>
                        </a:rPr>
                        <a:t>Validez</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solidFill>
                      <a:srgbClr val="0F2B46"/>
                    </a:solidFill>
                  </a:tcPr>
                </a:tc>
                <a:tc>
                  <a:txBody>
                    <a:bodyPr/>
                    <a:lstStyle/>
                    <a:p>
                      <a:pPr indent="0" lvl="0" marL="0" marR="0" rtl="0" algn="ctr">
                        <a:spcBef>
                          <a:spcPts val="0"/>
                        </a:spcBef>
                        <a:spcAft>
                          <a:spcPts val="0"/>
                        </a:spcAft>
                        <a:buClr>
                          <a:srgbClr val="FFFFFF"/>
                        </a:buClr>
                        <a:buSzPts val="1150"/>
                        <a:buFont typeface="Calibri"/>
                        <a:buNone/>
                      </a:pPr>
                      <a:r>
                        <a:rPr b="1" lang="en-US" sz="1150" u="none" cap="none" strike="noStrike">
                          <a:solidFill>
                            <a:srgbClr val="FFFFFF"/>
                          </a:solidFill>
                          <a:latin typeface="Calibri"/>
                          <a:ea typeface="Calibri"/>
                          <a:cs typeface="Calibri"/>
                          <a:sym typeface="Calibri"/>
                        </a:rPr>
                        <a:t>Puertas repetidas</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solidFill>
                      <a:srgbClr val="0F2B46"/>
                    </a:solidFill>
                  </a:tcPr>
                </a:tc>
                <a:tc>
                  <a:txBody>
                    <a:bodyPr/>
                    <a:lstStyle/>
                    <a:p>
                      <a:pPr indent="0" lvl="0" marL="0" marR="0" rtl="0" algn="ctr">
                        <a:spcBef>
                          <a:spcPts val="0"/>
                        </a:spcBef>
                        <a:spcAft>
                          <a:spcPts val="0"/>
                        </a:spcAft>
                        <a:buClr>
                          <a:srgbClr val="FFFFFF"/>
                        </a:buClr>
                        <a:buSzPts val="1150"/>
                        <a:buFont typeface="Calibri"/>
                        <a:buNone/>
                      </a:pPr>
                      <a:r>
                        <a:rPr b="1" lang="en-US" sz="1150" u="none" cap="none" strike="noStrike">
                          <a:solidFill>
                            <a:srgbClr val="FFFFFF"/>
                          </a:solidFill>
                          <a:latin typeface="Calibri"/>
                          <a:ea typeface="Calibri"/>
                          <a:cs typeface="Calibri"/>
                          <a:sym typeface="Calibri"/>
                        </a:rPr>
                        <a:t>¿Cambia los vuelos?</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solidFill>
                      <a:srgbClr val="0F2B46"/>
                    </a:solidFill>
                  </a:tcPr>
                </a:tc>
              </a:tr>
              <a:tr h="279800">
                <a:tc>
                  <a:txBody>
                    <a:bodyPr/>
                    <a:lstStyle/>
                    <a:p>
                      <a:pPr indent="0" lvl="0" marL="0" marR="0" rtl="0" algn="l">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BASE  crossover_onepoint</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D64550"/>
                        </a:buClr>
                        <a:buSzPts val="1150"/>
                        <a:buFont typeface="Calibri"/>
                        <a:buNone/>
                      </a:pPr>
                      <a:r>
                        <a:rPr b="1" lang="en-US" sz="1150" u="none" cap="none" strike="noStrike">
                          <a:solidFill>
                            <a:srgbClr val="D64550"/>
                          </a:solidFill>
                          <a:latin typeface="Calibri"/>
                          <a:ea typeface="Calibri"/>
                          <a:cs typeface="Calibri"/>
                          <a:sym typeface="Calibri"/>
                        </a:rPr>
                        <a:t>12,6 %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1,62</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D64550"/>
                        </a:buClr>
                        <a:buSzPts val="1150"/>
                        <a:buFont typeface="Calibri"/>
                        <a:buNone/>
                      </a:pPr>
                      <a:r>
                        <a:rPr lang="en-US" sz="1150" u="none" cap="none" strike="noStrike">
                          <a:solidFill>
                            <a:srgbClr val="D64550"/>
                          </a:solidFill>
                          <a:latin typeface="Calibri"/>
                          <a:ea typeface="Calibri"/>
                          <a:cs typeface="Calibri"/>
                          <a:sym typeface="Calibri"/>
                        </a:rPr>
                        <a:t>0 %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r>
              <a:tr h="279800">
                <a:tc>
                  <a:txBody>
                    <a:bodyPr/>
                    <a:lstStyle/>
                    <a:p>
                      <a:pPr indent="0" lvl="0" marL="0" marR="0" rtl="0" algn="l">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BASE  crossover_uniform</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D64550"/>
                        </a:buClr>
                        <a:buSzPts val="1150"/>
                        <a:buFont typeface="Calibri"/>
                        <a:buNone/>
                      </a:pPr>
                      <a:r>
                        <a:rPr b="1" lang="en-US" sz="1150" u="none" cap="none" strike="noStrike">
                          <a:solidFill>
                            <a:srgbClr val="D64550"/>
                          </a:solidFill>
                          <a:latin typeface="Calibri"/>
                          <a:ea typeface="Calibri"/>
                          <a:cs typeface="Calibri"/>
                          <a:sym typeface="Calibri"/>
                        </a:rPr>
                        <a:t>0,8 %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2,22</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D64550"/>
                        </a:buClr>
                        <a:buSzPts val="1150"/>
                        <a:buFont typeface="Calibri"/>
                        <a:buNone/>
                      </a:pPr>
                      <a:r>
                        <a:rPr lang="en-US" sz="1150" u="none" cap="none" strike="noStrike">
                          <a:solidFill>
                            <a:srgbClr val="D64550"/>
                          </a:solidFill>
                          <a:latin typeface="Calibri"/>
                          <a:ea typeface="Calibri"/>
                          <a:cs typeface="Calibri"/>
                          <a:sym typeface="Calibri"/>
                        </a:rPr>
                        <a:t>0 %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r>
              <a:tr h="279800">
                <a:tc>
                  <a:txBody>
                    <a:bodyPr/>
                    <a:lstStyle/>
                    <a:p>
                      <a:pPr indent="0" lvl="0" marL="0" marR="0" rtl="0" algn="l">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BASE  mutate_position</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D64550"/>
                        </a:buClr>
                        <a:buSzPts val="1150"/>
                        <a:buFont typeface="Calibri"/>
                        <a:buNone/>
                      </a:pPr>
                      <a:r>
                        <a:rPr b="1" lang="en-US" sz="1150" u="none" cap="none" strike="noStrike">
                          <a:solidFill>
                            <a:srgbClr val="D64550"/>
                          </a:solidFill>
                          <a:latin typeface="Calibri"/>
                          <a:ea typeface="Calibri"/>
                          <a:cs typeface="Calibri"/>
                          <a:sym typeface="Calibri"/>
                        </a:rPr>
                        <a:t>10,1 %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0,90</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D64550"/>
                        </a:buClr>
                        <a:buSzPts val="1150"/>
                        <a:buFont typeface="Calibri"/>
                        <a:buNone/>
                      </a:pPr>
                      <a:r>
                        <a:rPr lang="en-US" sz="1150" u="none" cap="none" strike="noStrike">
                          <a:solidFill>
                            <a:srgbClr val="D64550"/>
                          </a:solidFill>
                          <a:latin typeface="Calibri"/>
                          <a:ea typeface="Calibri"/>
                          <a:cs typeface="Calibri"/>
                          <a:sym typeface="Calibri"/>
                        </a:rPr>
                        <a:t>0 %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r>
              <a:tr h="279800">
                <a:tc>
                  <a:txBody>
                    <a:bodyPr/>
                    <a:lstStyle/>
                    <a:p>
                      <a:pPr indent="0" lvl="0" marL="0" marR="0" rtl="0" algn="l">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NUEVO  crossover_onepoint_assignment</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2E9E6B"/>
                        </a:buClr>
                        <a:buSzPts val="1150"/>
                        <a:buFont typeface="Calibri"/>
                        <a:buNone/>
                      </a:pPr>
                      <a:r>
                        <a:rPr b="1" lang="en-US" sz="1150" u="none" cap="none" strike="noStrike">
                          <a:solidFill>
                            <a:srgbClr val="2E9E6B"/>
                          </a:solidFill>
                          <a:latin typeface="Calibri"/>
                          <a:ea typeface="Calibri"/>
                          <a:cs typeface="Calibri"/>
                          <a:sym typeface="Calibri"/>
                        </a:rPr>
                        <a:t>100 %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0,00</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2E9E6B"/>
                        </a:buClr>
                        <a:buSzPts val="1150"/>
                        <a:buFont typeface="Calibri"/>
                        <a:buNone/>
                      </a:pPr>
                      <a:r>
                        <a:rPr lang="en-US" sz="1150" u="none" cap="none" strike="noStrike">
                          <a:solidFill>
                            <a:srgbClr val="2E9E6B"/>
                          </a:solidFill>
                          <a:latin typeface="Calibri"/>
                          <a:ea typeface="Calibri"/>
                          <a:cs typeface="Calibri"/>
                          <a:sym typeface="Calibri"/>
                        </a:rPr>
                        <a:t>87 %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r>
              <a:tr h="279800">
                <a:tc>
                  <a:txBody>
                    <a:bodyPr/>
                    <a:lstStyle/>
                    <a:p>
                      <a:pPr indent="0" lvl="0" marL="0" marR="0" rtl="0" algn="l">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NUEVO  crossover_uniform_assignment</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2E9E6B"/>
                        </a:buClr>
                        <a:buSzPts val="1150"/>
                        <a:buFont typeface="Calibri"/>
                        <a:buNone/>
                      </a:pPr>
                      <a:r>
                        <a:rPr b="1" lang="en-US" sz="1150" u="none" cap="none" strike="noStrike">
                          <a:solidFill>
                            <a:srgbClr val="2E9E6B"/>
                          </a:solidFill>
                          <a:latin typeface="Calibri"/>
                          <a:ea typeface="Calibri"/>
                          <a:cs typeface="Calibri"/>
                          <a:sym typeface="Calibri"/>
                        </a:rPr>
                        <a:t>100 %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0,00</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2E9E6B"/>
                        </a:buClr>
                        <a:buSzPts val="1150"/>
                        <a:buFont typeface="Calibri"/>
                        <a:buNone/>
                      </a:pPr>
                      <a:r>
                        <a:rPr lang="en-US" sz="1150" u="none" cap="none" strike="noStrike">
                          <a:solidFill>
                            <a:srgbClr val="2E9E6B"/>
                          </a:solidFill>
                          <a:latin typeface="Calibri"/>
                          <a:ea typeface="Calibri"/>
                          <a:cs typeface="Calibri"/>
                          <a:sym typeface="Calibri"/>
                        </a:rPr>
                        <a:t>97 %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r>
              <a:tr h="279800">
                <a:tc>
                  <a:txBody>
                    <a:bodyPr/>
                    <a:lstStyle/>
                    <a:p>
                      <a:pPr indent="0" lvl="0" marL="0" marR="0" rtl="0" algn="l">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NUEVO  mutate_flight</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2E9E6B"/>
                        </a:buClr>
                        <a:buSzPts val="1150"/>
                        <a:buFont typeface="Calibri"/>
                        <a:buNone/>
                      </a:pPr>
                      <a:r>
                        <a:rPr b="1" lang="en-US" sz="1150" u="none" cap="none" strike="noStrike">
                          <a:solidFill>
                            <a:srgbClr val="2E9E6B"/>
                          </a:solidFill>
                          <a:latin typeface="Calibri"/>
                          <a:ea typeface="Calibri"/>
                          <a:cs typeface="Calibri"/>
                          <a:sym typeface="Calibri"/>
                        </a:rPr>
                        <a:t>100 %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0,00</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2E9E6B"/>
                        </a:buClr>
                        <a:buSzPts val="1150"/>
                        <a:buFont typeface="Calibri"/>
                        <a:buNone/>
                      </a:pPr>
                      <a:r>
                        <a:rPr lang="en-US" sz="1150" u="none" cap="none" strike="noStrike">
                          <a:solidFill>
                            <a:srgbClr val="2E9E6B"/>
                          </a:solidFill>
                          <a:latin typeface="Calibri"/>
                          <a:ea typeface="Calibri"/>
                          <a:cs typeface="Calibri"/>
                          <a:sym typeface="Calibri"/>
                        </a:rPr>
                        <a:t>100 %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r>
              <a:tr h="279800">
                <a:tc>
                  <a:txBody>
                    <a:bodyPr/>
                    <a:lstStyle/>
                    <a:p>
                      <a:pPr indent="0" lvl="0" marL="0" marR="0" rtl="0" algn="l">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NUEVO  mutate_gate</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2E9E6B"/>
                        </a:buClr>
                        <a:buSzPts val="1150"/>
                        <a:buFont typeface="Calibri"/>
                        <a:buNone/>
                      </a:pPr>
                      <a:r>
                        <a:rPr b="1" lang="en-US" sz="1150" u="none" cap="none" strike="noStrike">
                          <a:solidFill>
                            <a:srgbClr val="2E9E6B"/>
                          </a:solidFill>
                          <a:latin typeface="Calibri"/>
                          <a:ea typeface="Calibri"/>
                          <a:cs typeface="Calibri"/>
                          <a:sym typeface="Calibri"/>
                        </a:rPr>
                        <a:t>100 %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0,00</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0 %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r>
              <a:tr h="279800">
                <a:tc>
                  <a:txBody>
                    <a:bodyPr/>
                    <a:lstStyle/>
                    <a:p>
                      <a:pPr indent="0" lvl="0" marL="0" marR="0" rtl="0" algn="l">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NUEVO  mutate_flight_and_gate</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2E9E6B"/>
                        </a:buClr>
                        <a:buSzPts val="1150"/>
                        <a:buFont typeface="Calibri"/>
                        <a:buNone/>
                      </a:pPr>
                      <a:r>
                        <a:rPr b="1" lang="en-US" sz="1150" u="none" cap="none" strike="noStrike">
                          <a:solidFill>
                            <a:srgbClr val="2E9E6B"/>
                          </a:solidFill>
                          <a:latin typeface="Calibri"/>
                          <a:ea typeface="Calibri"/>
                          <a:cs typeface="Calibri"/>
                          <a:sym typeface="Calibri"/>
                        </a:rPr>
                        <a:t>100 %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0,00</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2E9E6B"/>
                        </a:buClr>
                        <a:buSzPts val="1150"/>
                        <a:buFont typeface="Calibri"/>
                        <a:buNone/>
                      </a:pPr>
                      <a:r>
                        <a:rPr lang="en-US" sz="1150" u="none" cap="none" strike="noStrike">
                          <a:solidFill>
                            <a:srgbClr val="2E9E6B"/>
                          </a:solidFill>
                          <a:latin typeface="Calibri"/>
                          <a:ea typeface="Calibri"/>
                          <a:cs typeface="Calibri"/>
                          <a:sym typeface="Calibri"/>
                        </a:rPr>
                        <a:t>100 %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r>
              <a:tr h="279800">
                <a:tc>
                  <a:txBody>
                    <a:bodyPr/>
                    <a:lstStyle/>
                    <a:p>
                      <a:pPr indent="0" lvl="0" marL="0" marR="0" rtl="0" algn="l">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NUEVO  mutate_flight_or_gate</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2E9E6B"/>
                        </a:buClr>
                        <a:buSzPts val="1150"/>
                        <a:buFont typeface="Calibri"/>
                        <a:buNone/>
                      </a:pPr>
                      <a:r>
                        <a:rPr b="1" lang="en-US" sz="1150" u="none" cap="none" strike="noStrike">
                          <a:solidFill>
                            <a:srgbClr val="2E9E6B"/>
                          </a:solidFill>
                          <a:latin typeface="Calibri"/>
                          <a:ea typeface="Calibri"/>
                          <a:cs typeface="Calibri"/>
                          <a:sym typeface="Calibri"/>
                        </a:rPr>
                        <a:t>100 %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1B2733"/>
                        </a:buClr>
                        <a:buSzPts val="1150"/>
                        <a:buFont typeface="Calibri"/>
                        <a:buNone/>
                      </a:pPr>
                      <a:r>
                        <a:rPr lang="en-US" sz="1150" u="none" cap="none" strike="noStrike">
                          <a:solidFill>
                            <a:srgbClr val="1B2733"/>
                          </a:solidFill>
                          <a:latin typeface="Calibri"/>
                          <a:ea typeface="Calibri"/>
                          <a:cs typeface="Calibri"/>
                          <a:sym typeface="Calibri"/>
                        </a:rPr>
                        <a:t>0,00</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c>
                  <a:txBody>
                    <a:bodyPr/>
                    <a:lstStyle/>
                    <a:p>
                      <a:pPr indent="0" lvl="0" marL="0" marR="0" rtl="0" algn="ctr">
                        <a:spcBef>
                          <a:spcPts val="0"/>
                        </a:spcBef>
                        <a:spcAft>
                          <a:spcPts val="0"/>
                        </a:spcAft>
                        <a:buClr>
                          <a:srgbClr val="2E9E6B"/>
                        </a:buClr>
                        <a:buSzPts val="1150"/>
                        <a:buFont typeface="Calibri"/>
                        <a:buNone/>
                      </a:pPr>
                      <a:r>
                        <a:rPr lang="en-US" sz="1150" u="none" cap="none" strike="noStrike">
                          <a:solidFill>
                            <a:srgbClr val="2E9E6B"/>
                          </a:solidFill>
                          <a:latin typeface="Calibri"/>
                          <a:ea typeface="Calibri"/>
                          <a:cs typeface="Calibri"/>
                          <a:sym typeface="Calibri"/>
                        </a:rPr>
                        <a:t>52 %</a:t>
                      </a:r>
                      <a:endParaRPr sz="1150" u="none" cap="none" strike="noStrike">
                        <a:latin typeface="Calibri"/>
                        <a:ea typeface="Calibri"/>
                        <a:cs typeface="Calibri"/>
                        <a:sym typeface="Calibri"/>
                      </a:endParaRPr>
                    </a:p>
                  </a:txBody>
                  <a:tcPr marT="54875" marB="54875" marR="54875" marL="54875" anchor="ctr">
                    <a:lnL cap="flat" cmpd="sng" w="12700">
                      <a:solidFill>
                        <a:srgbClr val="DDE3E9"/>
                      </a:solidFill>
                      <a:prstDash val="solid"/>
                      <a:round/>
                      <a:headEnd len="sm" w="sm" type="none"/>
                      <a:tailEnd len="sm" w="sm" type="none"/>
                    </a:lnL>
                    <a:lnR cap="flat" cmpd="sng" w="12700">
                      <a:solidFill>
                        <a:srgbClr val="DDE3E9"/>
                      </a:solidFill>
                      <a:prstDash val="solid"/>
                      <a:round/>
                      <a:headEnd len="sm" w="sm" type="none"/>
                      <a:tailEnd len="sm" w="sm" type="none"/>
                    </a:lnR>
                    <a:lnT cap="flat" cmpd="sng" w="12700">
                      <a:solidFill>
                        <a:srgbClr val="DDE3E9"/>
                      </a:solidFill>
                      <a:prstDash val="solid"/>
                      <a:round/>
                      <a:headEnd len="sm" w="sm" type="none"/>
                      <a:tailEnd len="sm" w="sm" type="none"/>
                    </a:lnT>
                    <a:lnB cap="flat" cmpd="sng" w="12700">
                      <a:solidFill>
                        <a:srgbClr val="DDE3E9"/>
                      </a:solidFill>
                      <a:prstDash val="solid"/>
                      <a:round/>
                      <a:headEnd len="sm" w="sm" type="none"/>
                      <a:tailEnd len="sm" w="sm" type="none"/>
                    </a:lnB>
                  </a:tcPr>
                </a:tc>
              </a:tr>
            </a:tbl>
          </a:graphicData>
        </a:graphic>
      </p:graphicFrame>
      <p:sp>
        <p:nvSpPr>
          <p:cNvPr id="263" name="Google Shape;263;p11"/>
          <p:cNvSpPr/>
          <p:nvPr/>
        </p:nvSpPr>
        <p:spPr>
          <a:xfrm>
            <a:off x="8549640" y="1600200"/>
            <a:ext cx="3108960" cy="2926080"/>
          </a:xfrm>
          <a:prstGeom prst="roundRect">
            <a:avLst>
              <a:gd fmla="val 2500"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txBox="1"/>
          <p:nvPr/>
        </p:nvSpPr>
        <p:spPr>
          <a:xfrm>
            <a:off x="8778240" y="1783080"/>
            <a:ext cx="265176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ADCFC"/>
              </a:buClr>
              <a:buSzPts val="1200"/>
              <a:buFont typeface="Calibri"/>
              <a:buNone/>
            </a:pPr>
            <a:r>
              <a:rPr b="0" i="0" lang="en-US" sz="1200" u="none" cap="none" strike="noStrike">
                <a:solidFill>
                  <a:srgbClr val="CADCFC"/>
                </a:solidFill>
                <a:latin typeface="Calibri"/>
                <a:ea typeface="Calibri"/>
                <a:cs typeface="Calibri"/>
                <a:sym typeface="Calibri"/>
              </a:rPr>
              <a:t>El cruzamiento uniforme del código base produce</a:t>
            </a:r>
            <a:endParaRPr b="0" i="0" sz="1200" u="none" cap="none" strike="noStrike">
              <a:solidFill>
                <a:schemeClr val="dk1"/>
              </a:solidFill>
              <a:latin typeface="Calibri"/>
              <a:ea typeface="Calibri"/>
              <a:cs typeface="Calibri"/>
              <a:sym typeface="Calibri"/>
            </a:endParaRPr>
          </a:p>
        </p:txBody>
      </p:sp>
      <p:sp>
        <p:nvSpPr>
          <p:cNvPr id="265" name="Google Shape;265;p11"/>
          <p:cNvSpPr txBox="1"/>
          <p:nvPr/>
        </p:nvSpPr>
        <p:spPr>
          <a:xfrm>
            <a:off x="8778240" y="2286000"/>
            <a:ext cx="265176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64550"/>
              </a:buClr>
              <a:buSzPts val="4400"/>
              <a:buFont typeface="Cambria"/>
              <a:buNone/>
            </a:pPr>
            <a:r>
              <a:rPr b="1" i="0" lang="en-US" sz="4400" u="none" cap="none" strike="noStrike">
                <a:solidFill>
                  <a:srgbClr val="D64550"/>
                </a:solidFill>
                <a:latin typeface="Cambria"/>
                <a:ea typeface="Cambria"/>
                <a:cs typeface="Cambria"/>
                <a:sym typeface="Cambria"/>
              </a:rPr>
              <a:t>0,8 %</a:t>
            </a:r>
            <a:endParaRPr b="0" i="0" sz="4400" u="none" cap="none" strike="noStrike">
              <a:solidFill>
                <a:schemeClr val="dk1"/>
              </a:solidFill>
              <a:latin typeface="Calibri"/>
              <a:ea typeface="Calibri"/>
              <a:cs typeface="Calibri"/>
              <a:sym typeface="Calibri"/>
            </a:endParaRPr>
          </a:p>
        </p:txBody>
      </p:sp>
      <p:sp>
        <p:nvSpPr>
          <p:cNvPr id="266" name="Google Shape;266;p11"/>
          <p:cNvSpPr txBox="1"/>
          <p:nvPr/>
        </p:nvSpPr>
        <p:spPr>
          <a:xfrm>
            <a:off x="8778240" y="2880360"/>
            <a:ext cx="265176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ADCFC"/>
              </a:buClr>
              <a:buSzPts val="1200"/>
              <a:buFont typeface="Calibri"/>
              <a:buNone/>
            </a:pPr>
            <a:r>
              <a:rPr b="0" i="0" lang="en-US" sz="1200" u="none" cap="none" strike="noStrike">
                <a:solidFill>
                  <a:srgbClr val="CADCFC"/>
                </a:solidFill>
                <a:latin typeface="Calibri"/>
                <a:ea typeface="Calibri"/>
                <a:cs typeface="Calibri"/>
                <a:sym typeface="Calibri"/>
              </a:rPr>
              <a:t>de hijos ejecutables</a:t>
            </a:r>
            <a:endParaRPr b="0" i="0" sz="1200" u="none" cap="none" strike="noStrike">
              <a:solidFill>
                <a:schemeClr val="dk1"/>
              </a:solidFill>
              <a:latin typeface="Calibri"/>
              <a:ea typeface="Calibri"/>
              <a:cs typeface="Calibri"/>
              <a:sym typeface="Calibri"/>
            </a:endParaRPr>
          </a:p>
        </p:txBody>
      </p:sp>
      <p:sp>
        <p:nvSpPr>
          <p:cNvPr id="267" name="Google Shape;267;p11"/>
          <p:cNvSpPr txBox="1"/>
          <p:nvPr/>
        </p:nvSpPr>
        <p:spPr>
          <a:xfrm>
            <a:off x="8778240" y="3291840"/>
            <a:ext cx="2651760" cy="10058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2A65A"/>
              </a:buClr>
              <a:buSzPts val="1200"/>
              <a:buFont typeface="Calibri"/>
              <a:buNone/>
            </a:pPr>
            <a:r>
              <a:rPr b="0" i="0" lang="en-US" sz="1200" u="none" cap="none" strike="noStrike">
                <a:solidFill>
                  <a:srgbClr val="F2A65A"/>
                </a:solidFill>
                <a:latin typeface="Calibri"/>
                <a:ea typeface="Calibri"/>
                <a:cs typeface="Calibri"/>
                <a:sym typeface="Calibri"/>
              </a:rPr>
              <a:t>Ningún operador base toca el conjunto de vuelos: 0 % en la última columna.</a:t>
            </a:r>
            <a:endParaRPr b="0" i="0" sz="1200" u="none" cap="none" strike="noStrike">
              <a:solidFill>
                <a:schemeClr val="dk1"/>
              </a:solidFill>
              <a:latin typeface="Calibri"/>
              <a:ea typeface="Calibri"/>
              <a:cs typeface="Calibri"/>
              <a:sym typeface="Calibri"/>
            </a:endParaRPr>
          </a:p>
        </p:txBody>
      </p:sp>
      <p:sp>
        <p:nvSpPr>
          <p:cNvPr id="268" name="Google Shape;268;p11"/>
          <p:cNvSpPr/>
          <p:nvPr/>
        </p:nvSpPr>
        <p:spPr>
          <a:xfrm>
            <a:off x="548640" y="4892040"/>
            <a:ext cx="11109960" cy="1051560"/>
          </a:xfrm>
          <a:prstGeom prst="roundRect">
            <a:avLst>
              <a:gd fmla="val 6957"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11"/>
          <p:cNvSpPr txBox="1"/>
          <p:nvPr/>
        </p:nvSpPr>
        <p:spPr>
          <a:xfrm>
            <a:off x="914400" y="4892040"/>
            <a:ext cx="10378440" cy="105156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C7293"/>
              </a:buClr>
              <a:buSzPts val="1300"/>
              <a:buFont typeface="Calibri"/>
              <a:buNone/>
            </a:pPr>
            <a:r>
              <a:rPr b="1" i="0" lang="en-US" sz="1300" u="none" cap="none" strike="noStrike">
                <a:solidFill>
                  <a:srgbClr val="1C7293"/>
                </a:solidFill>
                <a:latin typeface="Calibri"/>
                <a:ea typeface="Calibri"/>
                <a:cs typeface="Calibri"/>
                <a:sym typeface="Calibri"/>
              </a:rPr>
              <a:t>Por qué el 0,8 %: </a:t>
            </a:r>
            <a:r>
              <a:rPr b="0" i="0" lang="en-US" sz="1300" u="none" cap="none" strike="noStrike">
                <a:solidFill>
                  <a:srgbClr val="1B2733"/>
                </a:solidFill>
                <a:latin typeface="Calibri"/>
                <a:ea typeface="Calibri"/>
                <a:cs typeface="Calibri"/>
                <a:sym typeface="Calibri"/>
              </a:rPr>
              <a:t>al sortear cada posición de forma independiente entre dos permutaciones distintas, la probabilidad de no generar ni una sola colisión en diez posiciones es mínima. Los operadores nuevos no dependen de la suerte: entregan factibilidad por construcción.</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 name="Shape 274"/>
        <p:cNvGrpSpPr/>
        <p:nvPr/>
      </p:nvGrpSpPr>
      <p:grpSpPr>
        <a:xfrm>
          <a:off x="0" y="0"/>
          <a:ext cx="0" cy="0"/>
          <a:chOff x="0" y="0"/>
          <a:chExt cx="0" cy="0"/>
        </a:xfrm>
      </p:grpSpPr>
      <p:sp>
        <p:nvSpPr>
          <p:cNvPr id="275" name="Google Shape;275;p12"/>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100"/>
              <a:buFont typeface="Calibri"/>
              <a:buNone/>
            </a:pPr>
            <a:r>
              <a:rPr b="1" i="0" lang="en-US" sz="1100" u="none" cap="none" strike="noStrike">
                <a:solidFill>
                  <a:srgbClr val="1C7293"/>
                </a:solidFill>
                <a:latin typeface="Calibri"/>
                <a:ea typeface="Calibri"/>
                <a:cs typeface="Calibri"/>
                <a:sym typeface="Calibri"/>
              </a:rPr>
              <a:t>RESULTADO 2</a:t>
            </a:r>
            <a:endParaRPr b="0" i="0" sz="1100" u="none" cap="none" strike="noStrike">
              <a:solidFill>
                <a:schemeClr val="dk1"/>
              </a:solidFill>
              <a:latin typeface="Calibri"/>
              <a:ea typeface="Calibri"/>
              <a:cs typeface="Calibri"/>
              <a:sym typeface="Calibri"/>
            </a:endParaRPr>
          </a:p>
        </p:txBody>
      </p:sp>
      <p:sp>
        <p:nvSpPr>
          <p:cNvPr id="276" name="Google Shape;276;p12"/>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3000"/>
              <a:buFont typeface="Cambria"/>
              <a:buNone/>
            </a:pPr>
            <a:r>
              <a:rPr b="1" i="0" lang="en-US" sz="3000" u="none" cap="none" strike="noStrike">
                <a:solidFill>
                  <a:srgbClr val="1B2733"/>
                </a:solidFill>
                <a:latin typeface="Cambria"/>
                <a:ea typeface="Cambria"/>
                <a:cs typeface="Cambria"/>
                <a:sym typeface="Cambria"/>
              </a:rPr>
              <a:t>Efecto del operador de cruzamiento</a:t>
            </a:r>
            <a:endParaRPr b="0" i="0" sz="3000" u="none" cap="none" strike="noStrike">
              <a:solidFill>
                <a:schemeClr val="dk1"/>
              </a:solidFill>
              <a:latin typeface="Calibri"/>
              <a:ea typeface="Calibri"/>
              <a:cs typeface="Calibri"/>
              <a:sym typeface="Calibri"/>
            </a:endParaRPr>
          </a:p>
        </p:txBody>
      </p:sp>
      <p:pic>
        <p:nvPicPr>
          <p:cNvPr descr="C:/Users/Ampue/Documents/PUCP/Diplomado IA/computacion_evolutiva/trabajo_final/figuras/exp1_cruzamiento.png" id="277" name="Google Shape;277;p12"/>
          <p:cNvPicPr preferRelativeResize="0"/>
          <p:nvPr/>
        </p:nvPicPr>
        <p:blipFill rotWithShape="1">
          <a:blip r:embed="rId3">
            <a:alphaModFix/>
          </a:blip>
          <a:srcRect b="0" l="0" r="0" t="0"/>
          <a:stretch/>
        </p:blipFill>
        <p:spPr>
          <a:xfrm>
            <a:off x="548640" y="1188720"/>
            <a:ext cx="7360920" cy="2642616"/>
          </a:xfrm>
          <a:prstGeom prst="rect">
            <a:avLst/>
          </a:prstGeom>
          <a:noFill/>
          <a:ln>
            <a:noFill/>
          </a:ln>
        </p:spPr>
      </p:pic>
      <p:sp>
        <p:nvSpPr>
          <p:cNvPr id="278" name="Google Shape;278;p12"/>
          <p:cNvSpPr txBox="1"/>
          <p:nvPr/>
        </p:nvSpPr>
        <p:spPr>
          <a:xfrm>
            <a:off x="548640" y="3913632"/>
            <a:ext cx="73609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A6B7B"/>
              </a:buClr>
              <a:buSzPts val="1050"/>
              <a:buFont typeface="Calibri"/>
              <a:buNone/>
            </a:pPr>
            <a:r>
              <a:rPr b="0" i="1" lang="en-US" sz="1050" u="none" cap="none" strike="noStrike">
                <a:solidFill>
                  <a:srgbClr val="5A6B7B"/>
                </a:solidFill>
                <a:latin typeface="Calibri"/>
                <a:ea typeface="Calibri"/>
                <a:cs typeface="Calibri"/>
                <a:sym typeface="Calibri"/>
              </a:rPr>
              <a:t>Curvas punteadas = configuraciones base; su fitness pertenece a soluciones infactibles y no es comparable.</a:t>
            </a:r>
            <a:endParaRPr b="0" i="0" sz="1050" u="none" cap="none" strike="noStrike">
              <a:solidFill>
                <a:schemeClr val="dk1"/>
              </a:solidFill>
              <a:latin typeface="Calibri"/>
              <a:ea typeface="Calibri"/>
              <a:cs typeface="Calibri"/>
              <a:sym typeface="Calibri"/>
            </a:endParaRPr>
          </a:p>
        </p:txBody>
      </p:sp>
      <p:sp>
        <p:nvSpPr>
          <p:cNvPr id="279" name="Google Shape;279;p12"/>
          <p:cNvSpPr/>
          <p:nvPr/>
        </p:nvSpPr>
        <p:spPr>
          <a:xfrm>
            <a:off x="8001000" y="1188720"/>
            <a:ext cx="3657600" cy="4572000"/>
          </a:xfrm>
          <a:prstGeom prst="roundRect">
            <a:avLst>
              <a:gd fmla="val 2000"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2"/>
          <p:cNvSpPr txBox="1"/>
          <p:nvPr/>
        </p:nvSpPr>
        <p:spPr>
          <a:xfrm>
            <a:off x="8275320" y="1371600"/>
            <a:ext cx="310896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500"/>
              <a:buFont typeface="Cambria"/>
              <a:buNone/>
            </a:pPr>
            <a:r>
              <a:rPr b="1" i="0" lang="en-US" sz="1500" u="none" cap="none" strike="noStrike">
                <a:solidFill>
                  <a:srgbClr val="1C7293"/>
                </a:solidFill>
                <a:latin typeface="Cambria"/>
                <a:ea typeface="Cambria"/>
                <a:cs typeface="Cambria"/>
                <a:sym typeface="Cambria"/>
              </a:rPr>
              <a:t>Qué muestra</a:t>
            </a:r>
            <a:endParaRPr b="0" i="0" sz="1500" u="none" cap="none" strike="noStrike">
              <a:solidFill>
                <a:schemeClr val="dk1"/>
              </a:solidFill>
              <a:latin typeface="Calibri"/>
              <a:ea typeface="Calibri"/>
              <a:cs typeface="Calibri"/>
              <a:sym typeface="Calibri"/>
            </a:endParaRPr>
          </a:p>
        </p:txBody>
      </p:sp>
      <p:sp>
        <p:nvSpPr>
          <p:cNvPr id="281" name="Google Shape;281;p12"/>
          <p:cNvSpPr txBox="1"/>
          <p:nvPr/>
        </p:nvSpPr>
        <p:spPr>
          <a:xfrm>
            <a:off x="8275320" y="1783080"/>
            <a:ext cx="3108960" cy="3108960"/>
          </a:xfrm>
          <a:prstGeom prst="rect">
            <a:avLst/>
          </a:prstGeom>
          <a:noFill/>
          <a:ln>
            <a:noFill/>
          </a:ln>
        </p:spPr>
        <p:txBody>
          <a:bodyPr anchorCtr="0" anchor="t" bIns="0" lIns="0" spcFirstLastPara="1" rIns="0" wrap="square" tIns="0">
            <a:noAutofit/>
          </a:bodyPr>
          <a:lstStyle/>
          <a:p>
            <a:pPr indent="-177800" lvl="0" marL="177800" marR="0" rtl="0" algn="l">
              <a:lnSpc>
                <a:spcPct val="105000"/>
              </a:lnSpc>
              <a:spcBef>
                <a:spcPts val="0"/>
              </a:spcBef>
              <a:spcAft>
                <a:spcPts val="0"/>
              </a:spcAft>
              <a:buClr>
                <a:srgbClr val="1B2733"/>
              </a:buClr>
              <a:buSzPts val="1250"/>
              <a:buFont typeface="Calibri"/>
              <a:buChar char="•"/>
            </a:pPr>
            <a:r>
              <a:rPr b="0" i="0" lang="en-US" sz="1250" u="none" cap="none" strike="noStrike">
                <a:solidFill>
                  <a:srgbClr val="1B2733"/>
                </a:solidFill>
                <a:latin typeface="Calibri"/>
                <a:ea typeface="Calibri"/>
                <a:cs typeface="Calibri"/>
                <a:sym typeface="Calibri"/>
              </a:rPr>
              <a:t>Las tres configuraciones base terminan con 0 % de validez: su mejor individuo no es ejecutable.</a:t>
            </a:r>
            <a:endParaRPr b="0" i="0" sz="1250" u="none" cap="none" strike="noStrike">
              <a:solidFill>
                <a:schemeClr val="dk1"/>
              </a:solidFill>
              <a:latin typeface="Calibri"/>
              <a:ea typeface="Calibri"/>
              <a:cs typeface="Calibri"/>
              <a:sym typeface="Calibri"/>
            </a:endParaRPr>
          </a:p>
          <a:p>
            <a:pPr indent="-177800" lvl="0" marL="177800" marR="0" rtl="0" algn="l">
              <a:lnSpc>
                <a:spcPct val="105000"/>
              </a:lnSpc>
              <a:spcBef>
                <a:spcPts val="800"/>
              </a:spcBef>
              <a:spcAft>
                <a:spcPts val="0"/>
              </a:spcAft>
              <a:buClr>
                <a:srgbClr val="1B2733"/>
              </a:buClr>
              <a:buSzPts val="1250"/>
              <a:buFont typeface="Calibri"/>
              <a:buChar char="•"/>
            </a:pPr>
            <a:r>
              <a:rPr b="0" i="0" lang="en-US" sz="1250" u="none" cap="none" strike="noStrike">
                <a:solidFill>
                  <a:srgbClr val="1B2733"/>
                </a:solidFill>
                <a:latin typeface="Calibri"/>
                <a:ea typeface="Calibri"/>
                <a:cs typeface="Calibri"/>
                <a:sym typeface="Calibri"/>
              </a:rPr>
              <a:t>Entre los nuevos, uniform_assignment gana a onepoint_assignment: 4,9546 vs 4,7529 (p = 0,00195).</a:t>
            </a:r>
            <a:endParaRPr b="0" i="0" sz="1250" u="none" cap="none" strike="noStrike">
              <a:solidFill>
                <a:schemeClr val="dk1"/>
              </a:solidFill>
              <a:latin typeface="Calibri"/>
              <a:ea typeface="Calibri"/>
              <a:cs typeface="Calibri"/>
              <a:sym typeface="Calibri"/>
            </a:endParaRPr>
          </a:p>
          <a:p>
            <a:pPr indent="-177800" lvl="0" marL="177800" marR="0" rtl="0" algn="l">
              <a:lnSpc>
                <a:spcPct val="105000"/>
              </a:lnSpc>
              <a:spcBef>
                <a:spcPts val="800"/>
              </a:spcBef>
              <a:spcAft>
                <a:spcPts val="0"/>
              </a:spcAft>
              <a:buClr>
                <a:srgbClr val="1B2733"/>
              </a:buClr>
              <a:buSzPts val="1250"/>
              <a:buFont typeface="Calibri"/>
              <a:buChar char="•"/>
            </a:pPr>
            <a:r>
              <a:rPr b="0" i="0" lang="en-US" sz="1250" u="none" cap="none" strike="noStrike">
                <a:solidFill>
                  <a:srgbClr val="1B2733"/>
                </a:solidFill>
                <a:latin typeface="Calibri"/>
                <a:ea typeface="Calibri"/>
                <a:cs typeface="Calibri"/>
                <a:sym typeface="Calibri"/>
              </a:rPr>
              <a:t>La posición en el cromosoma no significa nada, así que preservar bloques contiguos no aporta.</a:t>
            </a:r>
            <a:endParaRPr b="0" i="0" sz="1250" u="none" cap="none" strike="noStrike">
              <a:solidFill>
                <a:schemeClr val="dk1"/>
              </a:solidFill>
              <a:latin typeface="Calibri"/>
              <a:ea typeface="Calibri"/>
              <a:cs typeface="Calibri"/>
              <a:sym typeface="Calibri"/>
            </a:endParaRPr>
          </a:p>
          <a:p>
            <a:pPr indent="-177800" lvl="0" marL="177800" marR="0" rtl="0" algn="l">
              <a:lnSpc>
                <a:spcPct val="105000"/>
              </a:lnSpc>
              <a:spcBef>
                <a:spcPts val="800"/>
              </a:spcBef>
              <a:spcAft>
                <a:spcPts val="0"/>
              </a:spcAft>
              <a:buClr>
                <a:srgbClr val="1B2733"/>
              </a:buClr>
              <a:buSzPts val="1250"/>
              <a:buFont typeface="Calibri"/>
              <a:buChar char="•"/>
            </a:pPr>
            <a:r>
              <a:rPr b="0" i="0" lang="en-US" sz="1250" u="none" cap="none" strike="noStrike">
                <a:solidFill>
                  <a:srgbClr val="1B2733"/>
                </a:solidFill>
                <a:latin typeface="Calibri"/>
                <a:ea typeface="Calibri"/>
                <a:cs typeface="Calibri"/>
                <a:sym typeface="Calibri"/>
              </a:rPr>
              <a:t>La dispersión cae de 0,27–0,36 a 0,057: entre 4 y 6 veces más repetible.</a:t>
            </a:r>
            <a:endParaRPr b="0" i="0" sz="1250" u="none" cap="none" strike="noStrike">
              <a:solidFill>
                <a:schemeClr val="dk1"/>
              </a:solidFill>
              <a:latin typeface="Calibri"/>
              <a:ea typeface="Calibri"/>
              <a:cs typeface="Calibri"/>
              <a:sym typeface="Calibri"/>
            </a:endParaRPr>
          </a:p>
        </p:txBody>
      </p:sp>
      <p:sp>
        <p:nvSpPr>
          <p:cNvPr id="282" name="Google Shape;282;p12"/>
          <p:cNvSpPr txBox="1"/>
          <p:nvPr/>
        </p:nvSpPr>
        <p:spPr>
          <a:xfrm>
            <a:off x="8275320" y="5029200"/>
            <a:ext cx="3108960" cy="5486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B2733"/>
              </a:buClr>
              <a:buSzPts val="1200"/>
              <a:buFont typeface="Calibri"/>
              <a:buNone/>
            </a:pPr>
            <a:r>
              <a:rPr b="1" i="0" lang="en-US" sz="1200" u="none" cap="none" strike="noStrike">
                <a:solidFill>
                  <a:srgbClr val="1B2733"/>
                </a:solidFill>
                <a:latin typeface="Calibri"/>
                <a:ea typeface="Calibri"/>
                <a:cs typeface="Calibri"/>
                <a:sym typeface="Calibri"/>
              </a:rPr>
              <a:t>Costo de la reparación: +16 % de tiempo por corrida. Despreciable.</a:t>
            </a:r>
            <a:endParaRPr b="0" i="0" sz="1200" u="none" cap="none" strike="noStrike">
              <a:solidFill>
                <a:schemeClr val="dk1"/>
              </a:solidFill>
              <a:latin typeface="Calibri"/>
              <a:ea typeface="Calibri"/>
              <a:cs typeface="Calibri"/>
              <a:sym typeface="Calibri"/>
            </a:endParaRPr>
          </a:p>
        </p:txBody>
      </p:sp>
      <p:sp>
        <p:nvSpPr>
          <p:cNvPr id="283" name="Google Shape;283;p12"/>
          <p:cNvSpPr/>
          <p:nvPr/>
        </p:nvSpPr>
        <p:spPr>
          <a:xfrm>
            <a:off x="548640" y="4343400"/>
            <a:ext cx="3566160" cy="1417320"/>
          </a:xfrm>
          <a:prstGeom prst="roundRect">
            <a:avLst>
              <a:gd fmla="val 5161"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2"/>
          <p:cNvSpPr txBox="1"/>
          <p:nvPr/>
        </p:nvSpPr>
        <p:spPr>
          <a:xfrm>
            <a:off x="731520" y="4526280"/>
            <a:ext cx="320040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64550"/>
              </a:buClr>
              <a:buSzPts val="3000"/>
              <a:buFont typeface="Cambria"/>
              <a:buNone/>
            </a:pPr>
            <a:r>
              <a:rPr b="1" i="0" lang="en-US" sz="3000" u="none" cap="none" strike="noStrike">
                <a:solidFill>
                  <a:srgbClr val="D64550"/>
                </a:solidFill>
                <a:latin typeface="Cambria"/>
                <a:ea typeface="Cambria"/>
                <a:cs typeface="Cambria"/>
                <a:sym typeface="Cambria"/>
              </a:rPr>
              <a:t>0 %</a:t>
            </a:r>
            <a:endParaRPr b="0" i="0" sz="3000" u="none" cap="none" strike="noStrike">
              <a:solidFill>
                <a:schemeClr val="dk1"/>
              </a:solidFill>
              <a:latin typeface="Calibri"/>
              <a:ea typeface="Calibri"/>
              <a:cs typeface="Calibri"/>
              <a:sym typeface="Calibri"/>
            </a:endParaRPr>
          </a:p>
        </p:txBody>
      </p:sp>
      <p:sp>
        <p:nvSpPr>
          <p:cNvPr id="285" name="Google Shape;285;p12"/>
          <p:cNvSpPr txBox="1"/>
          <p:nvPr/>
        </p:nvSpPr>
        <p:spPr>
          <a:xfrm>
            <a:off x="731520" y="5074920"/>
            <a:ext cx="320040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ADCFC"/>
              </a:buClr>
              <a:buSzPts val="1150"/>
              <a:buFont typeface="Calibri"/>
              <a:buNone/>
            </a:pPr>
            <a:r>
              <a:rPr b="0" i="0" lang="en-US" sz="1150" u="none" cap="none" strike="noStrike">
                <a:solidFill>
                  <a:srgbClr val="CADCFC"/>
                </a:solidFill>
                <a:latin typeface="Calibri"/>
                <a:ea typeface="Calibri"/>
                <a:cs typeface="Calibri"/>
                <a:sym typeface="Calibri"/>
              </a:rPr>
              <a:t>corridas con solución ejecutable — operadores base</a:t>
            </a:r>
            <a:endParaRPr b="0" i="0" sz="1150" u="none" cap="none" strike="noStrike">
              <a:solidFill>
                <a:schemeClr val="dk1"/>
              </a:solidFill>
              <a:latin typeface="Calibri"/>
              <a:ea typeface="Calibri"/>
              <a:cs typeface="Calibri"/>
              <a:sym typeface="Calibri"/>
            </a:endParaRPr>
          </a:p>
        </p:txBody>
      </p:sp>
      <p:sp>
        <p:nvSpPr>
          <p:cNvPr id="286" name="Google Shape;286;p12"/>
          <p:cNvSpPr/>
          <p:nvPr/>
        </p:nvSpPr>
        <p:spPr>
          <a:xfrm>
            <a:off x="4343400" y="4343400"/>
            <a:ext cx="3566160" cy="1417320"/>
          </a:xfrm>
          <a:prstGeom prst="roundRect">
            <a:avLst>
              <a:gd fmla="val 5161"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2"/>
          <p:cNvSpPr txBox="1"/>
          <p:nvPr/>
        </p:nvSpPr>
        <p:spPr>
          <a:xfrm>
            <a:off x="4526280" y="4526280"/>
            <a:ext cx="320040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9E6B"/>
              </a:buClr>
              <a:buSzPts val="3000"/>
              <a:buFont typeface="Cambria"/>
              <a:buNone/>
            </a:pPr>
            <a:r>
              <a:rPr b="1" i="0" lang="en-US" sz="3000" u="none" cap="none" strike="noStrike">
                <a:solidFill>
                  <a:srgbClr val="2E9E6B"/>
                </a:solidFill>
                <a:latin typeface="Cambria"/>
                <a:ea typeface="Cambria"/>
                <a:cs typeface="Cambria"/>
                <a:sym typeface="Cambria"/>
              </a:rPr>
              <a:t>100 %</a:t>
            </a:r>
            <a:endParaRPr b="0" i="0" sz="3000" u="none" cap="none" strike="noStrike">
              <a:solidFill>
                <a:schemeClr val="dk1"/>
              </a:solidFill>
              <a:latin typeface="Calibri"/>
              <a:ea typeface="Calibri"/>
              <a:cs typeface="Calibri"/>
              <a:sym typeface="Calibri"/>
            </a:endParaRPr>
          </a:p>
        </p:txBody>
      </p:sp>
      <p:sp>
        <p:nvSpPr>
          <p:cNvPr id="288" name="Google Shape;288;p12"/>
          <p:cNvSpPr txBox="1"/>
          <p:nvPr/>
        </p:nvSpPr>
        <p:spPr>
          <a:xfrm>
            <a:off x="4526280" y="5074920"/>
            <a:ext cx="320040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ADCFC"/>
              </a:buClr>
              <a:buSzPts val="1150"/>
              <a:buFont typeface="Calibri"/>
              <a:buNone/>
            </a:pPr>
            <a:r>
              <a:rPr b="0" i="0" lang="en-US" sz="1150" u="none" cap="none" strike="noStrike">
                <a:solidFill>
                  <a:srgbClr val="CADCFC"/>
                </a:solidFill>
                <a:latin typeface="Calibri"/>
                <a:ea typeface="Calibri"/>
                <a:cs typeface="Calibri"/>
                <a:sym typeface="Calibri"/>
              </a:rPr>
              <a:t>corridas con solución ejecutable — operadores nuevos</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3" name="Shape 293"/>
        <p:cNvGrpSpPr/>
        <p:nvPr/>
      </p:nvGrpSpPr>
      <p:grpSpPr>
        <a:xfrm>
          <a:off x="0" y="0"/>
          <a:ext cx="0" cy="0"/>
          <a:chOff x="0" y="0"/>
          <a:chExt cx="0" cy="0"/>
        </a:xfrm>
      </p:grpSpPr>
      <p:sp>
        <p:nvSpPr>
          <p:cNvPr id="294" name="Google Shape;294;p13"/>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100"/>
              <a:buFont typeface="Calibri"/>
              <a:buNone/>
            </a:pPr>
            <a:r>
              <a:rPr b="1" i="0" lang="en-US" sz="1100" u="none" cap="none" strike="noStrike">
                <a:solidFill>
                  <a:srgbClr val="1C7293"/>
                </a:solidFill>
                <a:latin typeface="Calibri"/>
                <a:ea typeface="Calibri"/>
                <a:cs typeface="Calibri"/>
                <a:sym typeface="Calibri"/>
              </a:rPr>
              <a:t>RESULTADO 3</a:t>
            </a:r>
            <a:endParaRPr b="0" i="0" sz="1100" u="none" cap="none" strike="noStrike">
              <a:solidFill>
                <a:schemeClr val="dk1"/>
              </a:solidFill>
              <a:latin typeface="Calibri"/>
              <a:ea typeface="Calibri"/>
              <a:cs typeface="Calibri"/>
              <a:sym typeface="Calibri"/>
            </a:endParaRPr>
          </a:p>
        </p:txBody>
      </p:sp>
      <p:sp>
        <p:nvSpPr>
          <p:cNvPr id="295" name="Google Shape;295;p13"/>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3000"/>
              <a:buFont typeface="Cambria"/>
              <a:buNone/>
            </a:pPr>
            <a:r>
              <a:rPr b="1" i="0" lang="en-US" sz="3000" u="none" cap="none" strike="noStrike">
                <a:solidFill>
                  <a:srgbClr val="1B2733"/>
                </a:solidFill>
                <a:latin typeface="Cambria"/>
                <a:ea typeface="Cambria"/>
                <a:cs typeface="Cambria"/>
                <a:sym typeface="Cambria"/>
              </a:rPr>
              <a:t>La mutación y su tasa</a:t>
            </a:r>
            <a:endParaRPr b="0" i="0" sz="3000" u="none" cap="none" strike="noStrike">
              <a:solidFill>
                <a:schemeClr val="dk1"/>
              </a:solidFill>
              <a:latin typeface="Calibri"/>
              <a:ea typeface="Calibri"/>
              <a:cs typeface="Calibri"/>
              <a:sym typeface="Calibri"/>
            </a:endParaRPr>
          </a:p>
        </p:txBody>
      </p:sp>
      <p:pic>
        <p:nvPicPr>
          <p:cNvPr descr="C:/Users/Ampue/Documents/PUCP/Diplomado IA/computacion_evolutiva/trabajo_final/figuras/exp2_tasa_mutacion.png" id="296" name="Google Shape;296;p13"/>
          <p:cNvPicPr preferRelativeResize="0"/>
          <p:nvPr/>
        </p:nvPicPr>
        <p:blipFill rotWithShape="1">
          <a:blip r:embed="rId3">
            <a:alphaModFix/>
          </a:blip>
          <a:srcRect b="0" l="0" r="0" t="0"/>
          <a:stretch/>
        </p:blipFill>
        <p:spPr>
          <a:xfrm>
            <a:off x="548640" y="1234440"/>
            <a:ext cx="4362038" cy="3163824"/>
          </a:xfrm>
          <a:prstGeom prst="rect">
            <a:avLst/>
          </a:prstGeom>
          <a:noFill/>
          <a:ln>
            <a:noFill/>
          </a:ln>
        </p:spPr>
      </p:pic>
      <p:sp>
        <p:nvSpPr>
          <p:cNvPr id="297" name="Google Shape;297;p13"/>
          <p:cNvSpPr/>
          <p:nvPr/>
        </p:nvSpPr>
        <p:spPr>
          <a:xfrm>
            <a:off x="6263640" y="1234440"/>
            <a:ext cx="5394960" cy="3163824"/>
          </a:xfrm>
          <a:prstGeom prst="roundRect">
            <a:avLst>
              <a:gd fmla="val 2312"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3"/>
          <p:cNvSpPr txBox="1"/>
          <p:nvPr/>
        </p:nvSpPr>
        <p:spPr>
          <a:xfrm>
            <a:off x="6583680" y="1463040"/>
            <a:ext cx="4754880" cy="2743200"/>
          </a:xfrm>
          <a:prstGeom prst="rect">
            <a:avLst/>
          </a:prstGeom>
          <a:noFill/>
          <a:ln>
            <a:noFill/>
          </a:ln>
        </p:spPr>
        <p:txBody>
          <a:bodyPr anchorCtr="0" anchor="t" bIns="0" lIns="0" spcFirstLastPara="1" rIns="0" wrap="square" tIns="0">
            <a:noAutofit/>
          </a:bodyPr>
          <a:lstStyle/>
          <a:p>
            <a:pPr indent="-177800" lvl="0" marL="177800" marR="0" rtl="0" algn="l">
              <a:lnSpc>
                <a:spcPct val="105000"/>
              </a:lnSpc>
              <a:spcBef>
                <a:spcPts val="0"/>
              </a:spcBef>
              <a:spcAft>
                <a:spcPts val="0"/>
              </a:spcAft>
              <a:buClr>
                <a:srgbClr val="1B2733"/>
              </a:buClr>
              <a:buSzPts val="1250"/>
              <a:buFont typeface="Calibri"/>
              <a:buChar char="•"/>
            </a:pPr>
            <a:r>
              <a:rPr b="0" i="0" lang="en-US" sz="1250" u="none" cap="none" strike="noStrike">
                <a:solidFill>
                  <a:srgbClr val="1B2733"/>
                </a:solidFill>
                <a:latin typeface="Calibri"/>
                <a:ea typeface="Calibri"/>
                <a:cs typeface="Calibri"/>
                <a:sym typeface="Calibri"/>
              </a:rPr>
              <a:t>La mutación lleva del 4,9546 sin mutar hasta el óptimo exacto 5,0819 (p = 0,00195).</a:t>
            </a:r>
            <a:endParaRPr b="0" i="0" sz="1250" u="none" cap="none" strike="noStrike">
              <a:solidFill>
                <a:schemeClr val="dk1"/>
              </a:solidFill>
              <a:latin typeface="Calibri"/>
              <a:ea typeface="Calibri"/>
              <a:cs typeface="Calibri"/>
              <a:sym typeface="Calibri"/>
            </a:endParaRPr>
          </a:p>
          <a:p>
            <a:pPr indent="-177800" lvl="0" marL="177800" marR="0" rtl="0" algn="l">
              <a:lnSpc>
                <a:spcPct val="105000"/>
              </a:lnSpc>
              <a:spcBef>
                <a:spcPts val="800"/>
              </a:spcBef>
              <a:spcAft>
                <a:spcPts val="0"/>
              </a:spcAft>
              <a:buClr>
                <a:srgbClr val="1B2733"/>
              </a:buClr>
              <a:buSzPts val="1250"/>
              <a:buFont typeface="Calibri"/>
              <a:buChar char="•"/>
            </a:pPr>
            <a:r>
              <a:rPr b="0" i="0" lang="en-US" sz="1250" u="none" cap="none" strike="noStrike">
                <a:solidFill>
                  <a:srgbClr val="1B2733"/>
                </a:solidFill>
                <a:latin typeface="Calibri"/>
                <a:ea typeface="Calibri"/>
                <a:cs typeface="Calibri"/>
                <a:sym typeface="Calibri"/>
              </a:rPr>
              <a:t>Con flight_or_gate a pm = 0,7 las 10 corridas alcanzan el óptimo: éxito 100 % y desviación 0.</a:t>
            </a:r>
            <a:endParaRPr b="0" i="0" sz="1250" u="none" cap="none" strike="noStrike">
              <a:solidFill>
                <a:schemeClr val="dk1"/>
              </a:solidFill>
              <a:latin typeface="Calibri"/>
              <a:ea typeface="Calibri"/>
              <a:cs typeface="Calibri"/>
              <a:sym typeface="Calibri"/>
            </a:endParaRPr>
          </a:p>
          <a:p>
            <a:pPr indent="-177800" lvl="0" marL="177800" marR="0" rtl="0" algn="l">
              <a:lnSpc>
                <a:spcPct val="105000"/>
              </a:lnSpc>
              <a:spcBef>
                <a:spcPts val="800"/>
              </a:spcBef>
              <a:spcAft>
                <a:spcPts val="0"/>
              </a:spcAft>
              <a:buClr>
                <a:srgbClr val="1B2733"/>
              </a:buClr>
              <a:buSzPts val="1250"/>
              <a:buFont typeface="Calibri"/>
              <a:buChar char="•"/>
            </a:pPr>
            <a:r>
              <a:rPr b="0" i="0" lang="en-US" sz="1250" u="none" cap="none" strike="noStrike">
                <a:solidFill>
                  <a:srgbClr val="1B2733"/>
                </a:solidFill>
                <a:latin typeface="Calibri"/>
                <a:ea typeface="Calibri"/>
                <a:cs typeface="Calibri"/>
                <a:sym typeface="Calibri"/>
              </a:rPr>
              <a:t>La respuesta a la tasa no es monótona: el éxito sube de 30 % (pm = 0,1) a 100 % (pm = 0,7) y cae a 30 % en pm = 0,9.</a:t>
            </a:r>
            <a:endParaRPr b="0" i="0" sz="1250" u="none" cap="none" strike="noStrike">
              <a:solidFill>
                <a:schemeClr val="dk1"/>
              </a:solidFill>
              <a:latin typeface="Calibri"/>
              <a:ea typeface="Calibri"/>
              <a:cs typeface="Calibri"/>
              <a:sym typeface="Calibri"/>
            </a:endParaRPr>
          </a:p>
          <a:p>
            <a:pPr indent="-177800" lvl="0" marL="177800" marR="0" rtl="0" algn="l">
              <a:lnSpc>
                <a:spcPct val="105000"/>
              </a:lnSpc>
              <a:spcBef>
                <a:spcPts val="800"/>
              </a:spcBef>
              <a:spcAft>
                <a:spcPts val="0"/>
              </a:spcAft>
              <a:buClr>
                <a:srgbClr val="1B2733"/>
              </a:buClr>
              <a:buSzPts val="1250"/>
              <a:buFont typeface="Calibri"/>
              <a:buChar char="•"/>
            </a:pPr>
            <a:r>
              <a:rPr b="0" i="0" lang="en-US" sz="1250" u="none" cap="none" strike="noStrike">
                <a:solidFill>
                  <a:srgbClr val="1B2733"/>
                </a:solidFill>
                <a:latin typeface="Calibri"/>
                <a:ea typeface="Calibri"/>
                <a:cs typeface="Calibri"/>
                <a:sym typeface="Calibri"/>
              </a:rPr>
              <a:t>Mutar un solo nivel por evento supera a mutar los dos en cadena: 100 % contra 10 % de éxito a la misma tasa.</a:t>
            </a:r>
            <a:endParaRPr b="0" i="0" sz="1250" u="none" cap="none" strike="noStrike">
              <a:solidFill>
                <a:schemeClr val="dk1"/>
              </a:solidFill>
              <a:latin typeface="Calibri"/>
              <a:ea typeface="Calibri"/>
              <a:cs typeface="Calibri"/>
              <a:sym typeface="Calibri"/>
            </a:endParaRPr>
          </a:p>
        </p:txBody>
      </p:sp>
      <p:sp>
        <p:nvSpPr>
          <p:cNvPr id="299" name="Google Shape;299;p13"/>
          <p:cNvSpPr/>
          <p:nvPr/>
        </p:nvSpPr>
        <p:spPr>
          <a:xfrm>
            <a:off x="548640" y="4663440"/>
            <a:ext cx="3566160" cy="1097280"/>
          </a:xfrm>
          <a:prstGeom prst="roundRect">
            <a:avLst>
              <a:gd fmla="val 6667"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3"/>
          <p:cNvSpPr txBox="1"/>
          <p:nvPr/>
        </p:nvSpPr>
        <p:spPr>
          <a:xfrm>
            <a:off x="731520" y="4800600"/>
            <a:ext cx="32004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A65A"/>
              </a:buClr>
              <a:buSzPts val="1900"/>
              <a:buFont typeface="Cambria"/>
              <a:buNone/>
            </a:pPr>
            <a:r>
              <a:rPr b="1" i="0" lang="en-US" sz="1900" u="none" cap="none" strike="noStrike">
                <a:solidFill>
                  <a:srgbClr val="F2A65A"/>
                </a:solidFill>
                <a:latin typeface="Cambria"/>
                <a:ea typeface="Cambria"/>
                <a:cs typeface="Cambria"/>
                <a:sym typeface="Cambria"/>
              </a:rPr>
              <a:t>4,9546 → 5,0819</a:t>
            </a:r>
            <a:endParaRPr b="0" i="0" sz="1900" u="none" cap="none" strike="noStrike">
              <a:solidFill>
                <a:schemeClr val="dk1"/>
              </a:solidFill>
              <a:latin typeface="Calibri"/>
              <a:ea typeface="Calibri"/>
              <a:cs typeface="Calibri"/>
              <a:sym typeface="Calibri"/>
            </a:endParaRPr>
          </a:p>
        </p:txBody>
      </p:sp>
      <p:sp>
        <p:nvSpPr>
          <p:cNvPr id="301" name="Google Shape;301;p13"/>
          <p:cNvSpPr txBox="1"/>
          <p:nvPr/>
        </p:nvSpPr>
        <p:spPr>
          <a:xfrm>
            <a:off x="731520" y="5257800"/>
            <a:ext cx="32004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ADCFC"/>
              </a:buClr>
              <a:buSzPts val="1150"/>
              <a:buFont typeface="Calibri"/>
              <a:buNone/>
            </a:pPr>
            <a:r>
              <a:rPr b="0" i="0" lang="en-US" sz="1150" u="none" cap="none" strike="noStrike">
                <a:solidFill>
                  <a:srgbClr val="CADCFC"/>
                </a:solidFill>
                <a:latin typeface="Calibri"/>
                <a:ea typeface="Calibri"/>
                <a:cs typeface="Calibri"/>
                <a:sym typeface="Calibri"/>
              </a:rPr>
              <a:t>fitness medio</a:t>
            </a:r>
            <a:endParaRPr b="0" i="0" sz="1150" u="none" cap="none" strike="noStrike">
              <a:solidFill>
                <a:schemeClr val="dk1"/>
              </a:solidFill>
              <a:latin typeface="Calibri"/>
              <a:ea typeface="Calibri"/>
              <a:cs typeface="Calibri"/>
              <a:sym typeface="Calibri"/>
            </a:endParaRPr>
          </a:p>
        </p:txBody>
      </p:sp>
      <p:sp>
        <p:nvSpPr>
          <p:cNvPr id="302" name="Google Shape;302;p13"/>
          <p:cNvSpPr/>
          <p:nvPr/>
        </p:nvSpPr>
        <p:spPr>
          <a:xfrm>
            <a:off x="4343400" y="4663440"/>
            <a:ext cx="3566160" cy="1097280"/>
          </a:xfrm>
          <a:prstGeom prst="roundRect">
            <a:avLst>
              <a:gd fmla="val 6667"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txBox="1"/>
          <p:nvPr/>
        </p:nvSpPr>
        <p:spPr>
          <a:xfrm>
            <a:off x="4526280" y="4800600"/>
            <a:ext cx="32004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A65A"/>
              </a:buClr>
              <a:buSzPts val="1900"/>
              <a:buFont typeface="Cambria"/>
              <a:buNone/>
            </a:pPr>
            <a:r>
              <a:rPr b="1" i="0" lang="en-US" sz="1900" u="none" cap="none" strike="noStrike">
                <a:solidFill>
                  <a:srgbClr val="F2A65A"/>
                </a:solidFill>
                <a:latin typeface="Cambria"/>
                <a:ea typeface="Cambria"/>
                <a:cs typeface="Cambria"/>
                <a:sym typeface="Cambria"/>
              </a:rPr>
              <a:t>0,0573 → 0,0000</a:t>
            </a:r>
            <a:endParaRPr b="0" i="0" sz="1900" u="none" cap="none" strike="noStrike">
              <a:solidFill>
                <a:schemeClr val="dk1"/>
              </a:solidFill>
              <a:latin typeface="Calibri"/>
              <a:ea typeface="Calibri"/>
              <a:cs typeface="Calibri"/>
              <a:sym typeface="Calibri"/>
            </a:endParaRPr>
          </a:p>
        </p:txBody>
      </p:sp>
      <p:sp>
        <p:nvSpPr>
          <p:cNvPr id="304" name="Google Shape;304;p13"/>
          <p:cNvSpPr txBox="1"/>
          <p:nvPr/>
        </p:nvSpPr>
        <p:spPr>
          <a:xfrm>
            <a:off x="4526280" y="5257800"/>
            <a:ext cx="32004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ADCFC"/>
              </a:buClr>
              <a:buSzPts val="1150"/>
              <a:buFont typeface="Calibri"/>
              <a:buNone/>
            </a:pPr>
            <a:r>
              <a:rPr b="0" i="0" lang="en-US" sz="1150" u="none" cap="none" strike="noStrike">
                <a:solidFill>
                  <a:srgbClr val="CADCFC"/>
                </a:solidFill>
                <a:latin typeface="Calibri"/>
                <a:ea typeface="Calibri"/>
                <a:cs typeface="Calibri"/>
                <a:sym typeface="Calibri"/>
              </a:rPr>
              <a:t>desviación estándar</a:t>
            </a:r>
            <a:endParaRPr b="0" i="0" sz="1150" u="none" cap="none" strike="noStrike">
              <a:solidFill>
                <a:schemeClr val="dk1"/>
              </a:solidFill>
              <a:latin typeface="Calibri"/>
              <a:ea typeface="Calibri"/>
              <a:cs typeface="Calibri"/>
              <a:sym typeface="Calibri"/>
            </a:endParaRPr>
          </a:p>
        </p:txBody>
      </p:sp>
      <p:sp>
        <p:nvSpPr>
          <p:cNvPr id="305" name="Google Shape;305;p13"/>
          <p:cNvSpPr/>
          <p:nvPr/>
        </p:nvSpPr>
        <p:spPr>
          <a:xfrm>
            <a:off x="8138160" y="4663440"/>
            <a:ext cx="3566160" cy="1097280"/>
          </a:xfrm>
          <a:prstGeom prst="roundRect">
            <a:avLst>
              <a:gd fmla="val 6667"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3"/>
          <p:cNvSpPr txBox="1"/>
          <p:nvPr/>
        </p:nvSpPr>
        <p:spPr>
          <a:xfrm>
            <a:off x="8321040" y="4800600"/>
            <a:ext cx="32004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A65A"/>
              </a:buClr>
              <a:buSzPts val="1900"/>
              <a:buFont typeface="Cambria"/>
              <a:buNone/>
            </a:pPr>
            <a:r>
              <a:rPr b="1" i="0" lang="en-US" sz="1900" u="none" cap="none" strike="noStrike">
                <a:solidFill>
                  <a:srgbClr val="F2A65A"/>
                </a:solidFill>
                <a:latin typeface="Cambria"/>
                <a:ea typeface="Cambria"/>
                <a:cs typeface="Cambria"/>
                <a:sym typeface="Cambria"/>
              </a:rPr>
              <a:t>pm = 0,7</a:t>
            </a:r>
            <a:endParaRPr b="0" i="0" sz="1900" u="none" cap="none" strike="noStrike">
              <a:solidFill>
                <a:schemeClr val="dk1"/>
              </a:solidFill>
              <a:latin typeface="Calibri"/>
              <a:ea typeface="Calibri"/>
              <a:cs typeface="Calibri"/>
              <a:sym typeface="Calibri"/>
            </a:endParaRPr>
          </a:p>
        </p:txBody>
      </p:sp>
      <p:sp>
        <p:nvSpPr>
          <p:cNvPr id="307" name="Google Shape;307;p13"/>
          <p:cNvSpPr txBox="1"/>
          <p:nvPr/>
        </p:nvSpPr>
        <p:spPr>
          <a:xfrm>
            <a:off x="8321040" y="5257800"/>
            <a:ext cx="32004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ADCFC"/>
              </a:buClr>
              <a:buSzPts val="1150"/>
              <a:buFont typeface="Calibri"/>
              <a:buNone/>
            </a:pPr>
            <a:r>
              <a:rPr b="0" i="0" lang="en-US" sz="1150" u="none" cap="none" strike="noStrike">
                <a:solidFill>
                  <a:srgbClr val="CADCFC"/>
                </a:solidFill>
                <a:latin typeface="Calibri"/>
                <a:ea typeface="Calibri"/>
                <a:cs typeface="Calibri"/>
                <a:sym typeface="Calibri"/>
              </a:rPr>
              <a:t>con flight_or_gate</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2B46"/>
        </a:solidFill>
      </p:bgPr>
    </p:bg>
    <p:spTree>
      <p:nvGrpSpPr>
        <p:cNvPr id="312" name="Shape 312"/>
        <p:cNvGrpSpPr/>
        <p:nvPr/>
      </p:nvGrpSpPr>
      <p:grpSpPr>
        <a:xfrm>
          <a:off x="0" y="0"/>
          <a:ext cx="0" cy="0"/>
          <a:chOff x="0" y="0"/>
          <a:chExt cx="0" cy="0"/>
        </a:xfrm>
      </p:grpSpPr>
      <p:sp>
        <p:nvSpPr>
          <p:cNvPr id="313" name="Google Shape;313;p14"/>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1100"/>
              <a:buFont typeface="Calibri"/>
              <a:buNone/>
            </a:pPr>
            <a:r>
              <a:rPr b="1" i="0" lang="en-US" sz="1100" u="none" cap="none" strike="noStrike">
                <a:solidFill>
                  <a:srgbClr val="F2A65A"/>
                </a:solidFill>
                <a:latin typeface="Calibri"/>
                <a:ea typeface="Calibri"/>
                <a:cs typeface="Calibri"/>
                <a:sym typeface="Calibri"/>
              </a:rPr>
              <a:t>MULTIOBJETIVO</a:t>
            </a:r>
            <a:endParaRPr b="0" i="0" sz="1100" u="none" cap="none" strike="noStrike">
              <a:solidFill>
                <a:schemeClr val="dk1"/>
              </a:solidFill>
              <a:latin typeface="Calibri"/>
              <a:ea typeface="Calibri"/>
              <a:cs typeface="Calibri"/>
              <a:sym typeface="Calibri"/>
            </a:endParaRPr>
          </a:p>
        </p:txBody>
      </p:sp>
      <p:sp>
        <p:nvSpPr>
          <p:cNvPr id="314" name="Google Shape;314;p14"/>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000"/>
              <a:buFont typeface="Cambria"/>
              <a:buNone/>
            </a:pPr>
            <a:r>
              <a:rPr b="1" i="0" lang="en-US" sz="3000" u="none" cap="none" strike="noStrike">
                <a:solidFill>
                  <a:srgbClr val="FFFFFF"/>
                </a:solidFill>
                <a:latin typeface="Cambria"/>
                <a:ea typeface="Cambria"/>
                <a:cs typeface="Cambria"/>
                <a:sym typeface="Cambria"/>
              </a:rPr>
              <a:t>NSGA-II: dos objetivos en conflicto</a:t>
            </a:r>
            <a:endParaRPr b="0" i="0" sz="3000" u="none" cap="none" strike="noStrike">
              <a:solidFill>
                <a:schemeClr val="dk1"/>
              </a:solidFill>
              <a:latin typeface="Calibri"/>
              <a:ea typeface="Calibri"/>
              <a:cs typeface="Calibri"/>
              <a:sym typeface="Calibri"/>
            </a:endParaRPr>
          </a:p>
        </p:txBody>
      </p:sp>
      <p:sp>
        <p:nvSpPr>
          <p:cNvPr id="315" name="Google Shape;315;p14"/>
          <p:cNvSpPr/>
          <p:nvPr/>
        </p:nvSpPr>
        <p:spPr>
          <a:xfrm>
            <a:off x="548640" y="1280160"/>
            <a:ext cx="5394960" cy="1371600"/>
          </a:xfrm>
          <a:prstGeom prst="roundRect">
            <a:avLst>
              <a:gd fmla="val 5333" name="adj"/>
            </a:avLst>
          </a:prstGeom>
          <a:solidFill>
            <a:srgbClr val="17395B"/>
          </a:solidFill>
          <a:ln cap="flat" cmpd="sng" w="12700">
            <a:solidFill>
              <a:srgbClr val="17395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txBox="1"/>
          <p:nvPr/>
        </p:nvSpPr>
        <p:spPr>
          <a:xfrm>
            <a:off x="868680" y="1463040"/>
            <a:ext cx="4754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1200"/>
              <a:buFont typeface="Calibri"/>
              <a:buNone/>
            </a:pPr>
            <a:r>
              <a:rPr b="1" i="0" lang="en-US" sz="1200" u="none" cap="none" strike="noStrike">
                <a:solidFill>
                  <a:srgbClr val="F2A65A"/>
                </a:solidFill>
                <a:latin typeface="Calibri"/>
                <a:ea typeface="Calibri"/>
                <a:cs typeface="Calibri"/>
                <a:sym typeface="Calibri"/>
              </a:rPr>
              <a:t>f1 · maximizar</a:t>
            </a:r>
            <a:endParaRPr b="0" i="0" sz="1200" u="none" cap="none" strike="noStrike">
              <a:solidFill>
                <a:schemeClr val="dk1"/>
              </a:solidFill>
              <a:latin typeface="Calibri"/>
              <a:ea typeface="Calibri"/>
              <a:cs typeface="Calibri"/>
              <a:sym typeface="Calibri"/>
            </a:endParaRPr>
          </a:p>
        </p:txBody>
      </p:sp>
      <p:sp>
        <p:nvSpPr>
          <p:cNvPr id="317" name="Google Shape;317;p14"/>
          <p:cNvSpPr txBox="1"/>
          <p:nvPr/>
        </p:nvSpPr>
        <p:spPr>
          <a:xfrm>
            <a:off x="868680" y="1783080"/>
            <a:ext cx="4754880" cy="73152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Total de pasajeros de los vuelos escogidos: el servicio prestado.</a:t>
            </a:r>
            <a:endParaRPr b="0" i="0" sz="1350" u="none" cap="none" strike="noStrike">
              <a:solidFill>
                <a:schemeClr val="dk1"/>
              </a:solidFill>
              <a:latin typeface="Calibri"/>
              <a:ea typeface="Calibri"/>
              <a:cs typeface="Calibri"/>
              <a:sym typeface="Calibri"/>
            </a:endParaRPr>
          </a:p>
        </p:txBody>
      </p:sp>
      <p:sp>
        <p:nvSpPr>
          <p:cNvPr id="318" name="Google Shape;318;p14"/>
          <p:cNvSpPr/>
          <p:nvPr/>
        </p:nvSpPr>
        <p:spPr>
          <a:xfrm>
            <a:off x="6263640" y="1280160"/>
            <a:ext cx="5394960" cy="1371600"/>
          </a:xfrm>
          <a:prstGeom prst="roundRect">
            <a:avLst>
              <a:gd fmla="val 5333" name="adj"/>
            </a:avLst>
          </a:prstGeom>
          <a:solidFill>
            <a:srgbClr val="17395B"/>
          </a:solidFill>
          <a:ln cap="flat" cmpd="sng" w="12700">
            <a:solidFill>
              <a:srgbClr val="17395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txBox="1"/>
          <p:nvPr/>
        </p:nvSpPr>
        <p:spPr>
          <a:xfrm>
            <a:off x="6583680" y="1463040"/>
            <a:ext cx="4754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1200"/>
              <a:buFont typeface="Calibri"/>
              <a:buNone/>
            </a:pPr>
            <a:r>
              <a:rPr b="1" i="0" lang="en-US" sz="1200" u="none" cap="none" strike="noStrike">
                <a:solidFill>
                  <a:srgbClr val="F2A65A"/>
                </a:solidFill>
                <a:latin typeface="Calibri"/>
                <a:ea typeface="Calibri"/>
                <a:cs typeface="Calibri"/>
                <a:sym typeface="Calibri"/>
              </a:rPr>
              <a:t>f2 · minimizar</a:t>
            </a:r>
            <a:endParaRPr b="0" i="0" sz="1200" u="none" cap="none" strike="noStrike">
              <a:solidFill>
                <a:schemeClr val="dk1"/>
              </a:solidFill>
              <a:latin typeface="Calibri"/>
              <a:ea typeface="Calibri"/>
              <a:cs typeface="Calibri"/>
              <a:sym typeface="Calibri"/>
            </a:endParaRPr>
          </a:p>
        </p:txBody>
      </p:sp>
      <p:sp>
        <p:nvSpPr>
          <p:cNvPr id="320" name="Google Shape;320;p14"/>
          <p:cNvSpPr txBox="1"/>
          <p:nvPr/>
        </p:nvSpPr>
        <p:spPr>
          <a:xfrm>
            <a:off x="6583680" y="1783080"/>
            <a:ext cx="4754880" cy="73152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FFFFF"/>
              </a:buClr>
              <a:buSzPts val="1350"/>
              <a:buFont typeface="Calibri"/>
              <a:buNone/>
            </a:pPr>
            <a:r>
              <a:rPr b="0" i="0" lang="en-US" sz="1350" u="none" cap="none" strike="noStrike">
                <a:solidFill>
                  <a:srgbClr val="FFFFFF"/>
                </a:solidFill>
                <a:latin typeface="Calibri"/>
                <a:ea typeface="Calibri"/>
                <a:cs typeface="Calibri"/>
                <a:sym typeface="Calibri"/>
              </a:rPr>
              <a:t>Tiempo total de desembarque: la ocupación del recurso.</a:t>
            </a:r>
            <a:endParaRPr b="0" i="0" sz="1350" u="none" cap="none" strike="noStrike">
              <a:solidFill>
                <a:schemeClr val="dk1"/>
              </a:solidFill>
              <a:latin typeface="Calibri"/>
              <a:ea typeface="Calibri"/>
              <a:cs typeface="Calibri"/>
              <a:sym typeface="Calibri"/>
            </a:endParaRPr>
          </a:p>
        </p:txBody>
      </p:sp>
      <p:sp>
        <p:nvSpPr>
          <p:cNvPr id="321" name="Google Shape;321;p14"/>
          <p:cNvSpPr txBox="1"/>
          <p:nvPr/>
        </p:nvSpPr>
        <p:spPr>
          <a:xfrm>
            <a:off x="548640" y="2788920"/>
            <a:ext cx="1110996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2A65A"/>
              </a:buClr>
              <a:buSzPts val="1400"/>
              <a:buFont typeface="Calibri"/>
              <a:buNone/>
            </a:pPr>
            <a:r>
              <a:rPr b="1" i="0" lang="en-US" sz="1400" u="none" cap="none" strike="noStrike">
                <a:solidFill>
                  <a:srgbClr val="F2A65A"/>
                </a:solidFill>
                <a:latin typeface="Calibri"/>
                <a:ea typeface="Calibri"/>
                <a:cs typeface="Calibri"/>
                <a:sym typeface="Calibri"/>
              </a:rPr>
              <a:t>Están en conflicto: todo vuelo agregado suma pasajeros, pero también suma tiempo de puerta.</a:t>
            </a:r>
            <a:endParaRPr b="0" i="0" sz="1400" u="none" cap="none" strike="noStrike">
              <a:solidFill>
                <a:schemeClr val="dk1"/>
              </a:solidFill>
              <a:latin typeface="Calibri"/>
              <a:ea typeface="Calibri"/>
              <a:cs typeface="Calibri"/>
              <a:sym typeface="Calibri"/>
            </a:endParaRPr>
          </a:p>
        </p:txBody>
      </p:sp>
      <p:sp>
        <p:nvSpPr>
          <p:cNvPr id="322" name="Google Shape;322;p14"/>
          <p:cNvSpPr/>
          <p:nvPr/>
        </p:nvSpPr>
        <p:spPr>
          <a:xfrm>
            <a:off x="548640" y="3291840"/>
            <a:ext cx="2606040" cy="1828800"/>
          </a:xfrm>
          <a:prstGeom prst="roundRect">
            <a:avLst>
              <a:gd fmla="val 4000" name="adj"/>
            </a:avLst>
          </a:prstGeom>
          <a:solidFill>
            <a:srgbClr val="17395B"/>
          </a:solidFill>
          <a:ln cap="flat" cmpd="sng" w="12700">
            <a:solidFill>
              <a:srgbClr val="17395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777240" y="3474720"/>
            <a:ext cx="384048" cy="384048"/>
          </a:xfrm>
          <a:prstGeom prst="ellipse">
            <a:avLst/>
          </a:prstGeom>
          <a:solidFill>
            <a:srgbClr val="F2A65A"/>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4"/>
          <p:cNvSpPr txBox="1"/>
          <p:nvPr/>
        </p:nvSpPr>
        <p:spPr>
          <a:xfrm>
            <a:off x="777240" y="347472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1</a:t>
            </a:r>
            <a:endParaRPr b="0" i="0" sz="1100" u="none" cap="none" strike="noStrike">
              <a:solidFill>
                <a:schemeClr val="dk1"/>
              </a:solidFill>
              <a:latin typeface="Calibri"/>
              <a:ea typeface="Calibri"/>
              <a:cs typeface="Calibri"/>
              <a:sym typeface="Calibri"/>
            </a:endParaRPr>
          </a:p>
        </p:txBody>
      </p:sp>
      <p:sp>
        <p:nvSpPr>
          <p:cNvPr id="325" name="Google Shape;325;p14"/>
          <p:cNvSpPr txBox="1"/>
          <p:nvPr/>
        </p:nvSpPr>
        <p:spPr>
          <a:xfrm>
            <a:off x="777240" y="3931920"/>
            <a:ext cx="2194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Dominancia</a:t>
            </a:r>
            <a:endParaRPr b="0" i="0" sz="1400" u="none" cap="none" strike="noStrike">
              <a:solidFill>
                <a:schemeClr val="dk1"/>
              </a:solidFill>
              <a:latin typeface="Calibri"/>
              <a:ea typeface="Calibri"/>
              <a:cs typeface="Calibri"/>
              <a:sym typeface="Calibri"/>
            </a:endParaRPr>
          </a:p>
        </p:txBody>
      </p:sp>
      <p:sp>
        <p:nvSpPr>
          <p:cNvPr id="326" name="Google Shape;326;p14"/>
          <p:cNvSpPr txBox="1"/>
          <p:nvPr/>
        </p:nvSpPr>
        <p:spPr>
          <a:xfrm>
            <a:off x="777240" y="422452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CADCFC"/>
              </a:buClr>
              <a:buSzPts val="1150"/>
              <a:buFont typeface="Calibri"/>
              <a:buNone/>
            </a:pPr>
            <a:r>
              <a:rPr b="0" i="0" lang="en-US" sz="1150" u="none" cap="none" strike="noStrike">
                <a:solidFill>
                  <a:srgbClr val="CADCFC"/>
                </a:solidFill>
                <a:latin typeface="Calibri"/>
                <a:ea typeface="Calibri"/>
                <a:cs typeface="Calibri"/>
                <a:sym typeface="Calibri"/>
              </a:rPr>
              <a:t>A domina a B si es al menos igual en ambos objetivos y mejor en uno.</a:t>
            </a:r>
            <a:endParaRPr b="0" i="0" sz="1150" u="none" cap="none" strike="noStrike">
              <a:solidFill>
                <a:schemeClr val="dk1"/>
              </a:solidFill>
              <a:latin typeface="Calibri"/>
              <a:ea typeface="Calibri"/>
              <a:cs typeface="Calibri"/>
              <a:sym typeface="Calibri"/>
            </a:endParaRPr>
          </a:p>
        </p:txBody>
      </p:sp>
      <p:sp>
        <p:nvSpPr>
          <p:cNvPr id="327" name="Google Shape;327;p14"/>
          <p:cNvSpPr/>
          <p:nvPr/>
        </p:nvSpPr>
        <p:spPr>
          <a:xfrm>
            <a:off x="3383280" y="3291840"/>
            <a:ext cx="2606040" cy="1828800"/>
          </a:xfrm>
          <a:prstGeom prst="roundRect">
            <a:avLst>
              <a:gd fmla="val 4000" name="adj"/>
            </a:avLst>
          </a:prstGeom>
          <a:solidFill>
            <a:srgbClr val="17395B"/>
          </a:solidFill>
          <a:ln cap="flat" cmpd="sng" w="12700">
            <a:solidFill>
              <a:srgbClr val="17395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4"/>
          <p:cNvSpPr/>
          <p:nvPr/>
        </p:nvSpPr>
        <p:spPr>
          <a:xfrm>
            <a:off x="3611880" y="3474720"/>
            <a:ext cx="384048" cy="384048"/>
          </a:xfrm>
          <a:prstGeom prst="ellipse">
            <a:avLst/>
          </a:prstGeom>
          <a:solidFill>
            <a:srgbClr val="F2A65A"/>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4"/>
          <p:cNvSpPr txBox="1"/>
          <p:nvPr/>
        </p:nvSpPr>
        <p:spPr>
          <a:xfrm>
            <a:off x="3611880" y="347472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2</a:t>
            </a:r>
            <a:endParaRPr b="0" i="0" sz="1100" u="none" cap="none" strike="noStrike">
              <a:solidFill>
                <a:schemeClr val="dk1"/>
              </a:solidFill>
              <a:latin typeface="Calibri"/>
              <a:ea typeface="Calibri"/>
              <a:cs typeface="Calibri"/>
              <a:sym typeface="Calibri"/>
            </a:endParaRPr>
          </a:p>
        </p:txBody>
      </p:sp>
      <p:sp>
        <p:nvSpPr>
          <p:cNvPr id="330" name="Google Shape;330;p14"/>
          <p:cNvSpPr txBox="1"/>
          <p:nvPr/>
        </p:nvSpPr>
        <p:spPr>
          <a:xfrm>
            <a:off x="3611880" y="3931920"/>
            <a:ext cx="2194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Frentes</a:t>
            </a:r>
            <a:endParaRPr b="0" i="0" sz="1400" u="none" cap="none" strike="noStrike">
              <a:solidFill>
                <a:schemeClr val="dk1"/>
              </a:solidFill>
              <a:latin typeface="Calibri"/>
              <a:ea typeface="Calibri"/>
              <a:cs typeface="Calibri"/>
              <a:sym typeface="Calibri"/>
            </a:endParaRPr>
          </a:p>
        </p:txBody>
      </p:sp>
      <p:sp>
        <p:nvSpPr>
          <p:cNvPr id="331" name="Google Shape;331;p14"/>
          <p:cNvSpPr txBox="1"/>
          <p:nvPr/>
        </p:nvSpPr>
        <p:spPr>
          <a:xfrm>
            <a:off x="3611880" y="422452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CADCFC"/>
              </a:buClr>
              <a:buSzPts val="1150"/>
              <a:buFont typeface="Calibri"/>
              <a:buNone/>
            </a:pPr>
            <a:r>
              <a:rPr b="0" i="0" lang="en-US" sz="1150" u="none" cap="none" strike="noStrike">
                <a:solidFill>
                  <a:srgbClr val="CADCFC"/>
                </a:solidFill>
                <a:latin typeface="Calibri"/>
                <a:ea typeface="Calibri"/>
                <a:cs typeface="Calibri"/>
                <a:sym typeface="Calibri"/>
              </a:rPr>
              <a:t>La población se ordena en capas; el frente 0 es el de las no dominadas.</a:t>
            </a:r>
            <a:endParaRPr b="0" i="0" sz="1150" u="none" cap="none" strike="noStrike">
              <a:solidFill>
                <a:schemeClr val="dk1"/>
              </a:solidFill>
              <a:latin typeface="Calibri"/>
              <a:ea typeface="Calibri"/>
              <a:cs typeface="Calibri"/>
              <a:sym typeface="Calibri"/>
            </a:endParaRPr>
          </a:p>
        </p:txBody>
      </p:sp>
      <p:sp>
        <p:nvSpPr>
          <p:cNvPr id="332" name="Google Shape;332;p14"/>
          <p:cNvSpPr/>
          <p:nvPr/>
        </p:nvSpPr>
        <p:spPr>
          <a:xfrm>
            <a:off x="6217920" y="3291840"/>
            <a:ext cx="2606040" cy="1828800"/>
          </a:xfrm>
          <a:prstGeom prst="roundRect">
            <a:avLst>
              <a:gd fmla="val 4000" name="adj"/>
            </a:avLst>
          </a:prstGeom>
          <a:solidFill>
            <a:srgbClr val="17395B"/>
          </a:solidFill>
          <a:ln cap="flat" cmpd="sng" w="12700">
            <a:solidFill>
              <a:srgbClr val="17395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4"/>
          <p:cNvSpPr/>
          <p:nvPr/>
        </p:nvSpPr>
        <p:spPr>
          <a:xfrm>
            <a:off x="6446520" y="3474720"/>
            <a:ext cx="384048" cy="384048"/>
          </a:xfrm>
          <a:prstGeom prst="ellipse">
            <a:avLst/>
          </a:prstGeom>
          <a:solidFill>
            <a:srgbClr val="F2A65A"/>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14"/>
          <p:cNvSpPr txBox="1"/>
          <p:nvPr/>
        </p:nvSpPr>
        <p:spPr>
          <a:xfrm>
            <a:off x="6446520" y="347472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3</a:t>
            </a:r>
            <a:endParaRPr b="0" i="0" sz="1100" u="none" cap="none" strike="noStrike">
              <a:solidFill>
                <a:schemeClr val="dk1"/>
              </a:solidFill>
              <a:latin typeface="Calibri"/>
              <a:ea typeface="Calibri"/>
              <a:cs typeface="Calibri"/>
              <a:sym typeface="Calibri"/>
            </a:endParaRPr>
          </a:p>
        </p:txBody>
      </p:sp>
      <p:sp>
        <p:nvSpPr>
          <p:cNvPr id="335" name="Google Shape;335;p14"/>
          <p:cNvSpPr txBox="1"/>
          <p:nvPr/>
        </p:nvSpPr>
        <p:spPr>
          <a:xfrm>
            <a:off x="6446520" y="3931920"/>
            <a:ext cx="2194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Apiñamiento</a:t>
            </a:r>
            <a:endParaRPr b="0" i="0" sz="1400" u="none" cap="none" strike="noStrike">
              <a:solidFill>
                <a:schemeClr val="dk1"/>
              </a:solidFill>
              <a:latin typeface="Calibri"/>
              <a:ea typeface="Calibri"/>
              <a:cs typeface="Calibri"/>
              <a:sym typeface="Calibri"/>
            </a:endParaRPr>
          </a:p>
        </p:txBody>
      </p:sp>
      <p:sp>
        <p:nvSpPr>
          <p:cNvPr id="336" name="Google Shape;336;p14"/>
          <p:cNvSpPr txBox="1"/>
          <p:nvPr/>
        </p:nvSpPr>
        <p:spPr>
          <a:xfrm>
            <a:off x="6446520" y="422452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CADCFC"/>
              </a:buClr>
              <a:buSzPts val="1150"/>
              <a:buFont typeface="Calibri"/>
              <a:buNone/>
            </a:pPr>
            <a:r>
              <a:rPr b="0" i="0" lang="en-US" sz="1150" u="none" cap="none" strike="noStrike">
                <a:solidFill>
                  <a:srgbClr val="CADCFC"/>
                </a:solidFill>
                <a:latin typeface="Calibri"/>
                <a:ea typeface="Calibri"/>
                <a:cs typeface="Calibri"/>
                <a:sym typeface="Calibri"/>
              </a:rPr>
              <a:t>Dentro de un frente se prefiere al más aislado, para repartir la frontera.</a:t>
            </a:r>
            <a:endParaRPr b="0" i="0" sz="1150" u="none" cap="none" strike="noStrike">
              <a:solidFill>
                <a:schemeClr val="dk1"/>
              </a:solidFill>
              <a:latin typeface="Calibri"/>
              <a:ea typeface="Calibri"/>
              <a:cs typeface="Calibri"/>
              <a:sym typeface="Calibri"/>
            </a:endParaRPr>
          </a:p>
        </p:txBody>
      </p:sp>
      <p:sp>
        <p:nvSpPr>
          <p:cNvPr id="337" name="Google Shape;337;p14"/>
          <p:cNvSpPr/>
          <p:nvPr/>
        </p:nvSpPr>
        <p:spPr>
          <a:xfrm>
            <a:off x="9052560" y="3291840"/>
            <a:ext cx="2606040" cy="1828800"/>
          </a:xfrm>
          <a:prstGeom prst="roundRect">
            <a:avLst>
              <a:gd fmla="val 4000" name="adj"/>
            </a:avLst>
          </a:prstGeom>
          <a:solidFill>
            <a:srgbClr val="17395B"/>
          </a:solidFill>
          <a:ln cap="flat" cmpd="sng" w="12700">
            <a:solidFill>
              <a:srgbClr val="17395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4"/>
          <p:cNvSpPr/>
          <p:nvPr/>
        </p:nvSpPr>
        <p:spPr>
          <a:xfrm>
            <a:off x="9281160" y="3474720"/>
            <a:ext cx="384048" cy="384048"/>
          </a:xfrm>
          <a:prstGeom prst="ellipse">
            <a:avLst/>
          </a:prstGeom>
          <a:solidFill>
            <a:srgbClr val="F2A65A"/>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4"/>
          <p:cNvSpPr txBox="1"/>
          <p:nvPr/>
        </p:nvSpPr>
        <p:spPr>
          <a:xfrm>
            <a:off x="9281160" y="347472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4</a:t>
            </a:r>
            <a:endParaRPr b="0" i="0" sz="1100" u="none" cap="none" strike="noStrike">
              <a:solidFill>
                <a:schemeClr val="dk1"/>
              </a:solidFill>
              <a:latin typeface="Calibri"/>
              <a:ea typeface="Calibri"/>
              <a:cs typeface="Calibri"/>
              <a:sym typeface="Calibri"/>
            </a:endParaRPr>
          </a:p>
        </p:txBody>
      </p:sp>
      <p:sp>
        <p:nvSpPr>
          <p:cNvPr id="340" name="Google Shape;340;p14"/>
          <p:cNvSpPr txBox="1"/>
          <p:nvPr/>
        </p:nvSpPr>
        <p:spPr>
          <a:xfrm>
            <a:off x="9281160" y="3931920"/>
            <a:ext cx="2194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Elitismo</a:t>
            </a:r>
            <a:endParaRPr b="0" i="0" sz="1400" u="none" cap="none" strike="noStrike">
              <a:solidFill>
                <a:schemeClr val="dk1"/>
              </a:solidFill>
              <a:latin typeface="Calibri"/>
              <a:ea typeface="Calibri"/>
              <a:cs typeface="Calibri"/>
              <a:sym typeface="Calibri"/>
            </a:endParaRPr>
          </a:p>
        </p:txBody>
      </p:sp>
      <p:sp>
        <p:nvSpPr>
          <p:cNvPr id="341" name="Google Shape;341;p14"/>
          <p:cNvSpPr txBox="1"/>
          <p:nvPr/>
        </p:nvSpPr>
        <p:spPr>
          <a:xfrm>
            <a:off x="9281160" y="422452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CADCFC"/>
              </a:buClr>
              <a:buSzPts val="1150"/>
              <a:buFont typeface="Calibri"/>
              <a:buNone/>
            </a:pPr>
            <a:r>
              <a:rPr b="0" i="0" lang="en-US" sz="1150" u="none" cap="none" strike="noStrike">
                <a:solidFill>
                  <a:srgbClr val="CADCFC"/>
                </a:solidFill>
                <a:latin typeface="Calibri"/>
                <a:ea typeface="Calibri"/>
                <a:cs typeface="Calibri"/>
                <a:sym typeface="Calibri"/>
              </a:rPr>
              <a:t>Padres e hijos compiten juntos; se llena frente por frente.</a:t>
            </a:r>
            <a:endParaRPr b="0" i="0" sz="1150" u="none" cap="none" strike="noStrike">
              <a:solidFill>
                <a:schemeClr val="dk1"/>
              </a:solidFill>
              <a:latin typeface="Calibri"/>
              <a:ea typeface="Calibri"/>
              <a:cs typeface="Calibri"/>
              <a:sym typeface="Calibri"/>
            </a:endParaRPr>
          </a:p>
        </p:txBody>
      </p:sp>
      <p:sp>
        <p:nvSpPr>
          <p:cNvPr id="342" name="Google Shape;342;p14"/>
          <p:cNvSpPr txBox="1"/>
          <p:nvPr/>
        </p:nvSpPr>
        <p:spPr>
          <a:xfrm>
            <a:off x="548640" y="5349240"/>
            <a:ext cx="1110996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ADCFC"/>
              </a:buClr>
              <a:buSzPts val="1250"/>
              <a:buFont typeface="Calibri"/>
              <a:buNone/>
            </a:pPr>
            <a:r>
              <a:rPr b="0" i="1" lang="en-US" sz="1250" u="none" cap="none" strike="noStrike">
                <a:solidFill>
                  <a:srgbClr val="CADCFC"/>
                </a:solidFill>
                <a:latin typeface="Calibri"/>
                <a:ea typeface="Calibri"/>
                <a:cs typeface="Calibri"/>
                <a:sym typeface="Calibri"/>
              </a:rPr>
              <a:t>Mismo cromosoma y mismos operadores del mono-objetivo: IndividualNSGA hereda de IndividualGA, con uniform_assignment y flight_or_gate a pm = 0,7. Todo en Python puro, sin librerías de computación evolutiva.</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7" name="Shape 347"/>
        <p:cNvGrpSpPr/>
        <p:nvPr/>
      </p:nvGrpSpPr>
      <p:grpSpPr>
        <a:xfrm>
          <a:off x="0" y="0"/>
          <a:ext cx="0" cy="0"/>
          <a:chOff x="0" y="0"/>
          <a:chExt cx="0" cy="0"/>
        </a:xfrm>
      </p:grpSpPr>
      <p:sp>
        <p:nvSpPr>
          <p:cNvPr id="348" name="Google Shape;348;p15"/>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100"/>
              <a:buFont typeface="Calibri"/>
              <a:buNone/>
            </a:pPr>
            <a:r>
              <a:rPr b="1" i="0" lang="en-US" sz="1100" u="none" cap="none" strike="noStrike">
                <a:solidFill>
                  <a:srgbClr val="1C7293"/>
                </a:solidFill>
                <a:latin typeface="Calibri"/>
                <a:ea typeface="Calibri"/>
                <a:cs typeface="Calibri"/>
                <a:sym typeface="Calibri"/>
              </a:rPr>
              <a:t>RESULTADO 4</a:t>
            </a:r>
            <a:endParaRPr b="0" i="0" sz="1100" u="none" cap="none" strike="noStrike">
              <a:solidFill>
                <a:schemeClr val="dk1"/>
              </a:solidFill>
              <a:latin typeface="Calibri"/>
              <a:ea typeface="Calibri"/>
              <a:cs typeface="Calibri"/>
              <a:sym typeface="Calibri"/>
            </a:endParaRPr>
          </a:p>
        </p:txBody>
      </p:sp>
      <p:sp>
        <p:nvSpPr>
          <p:cNvPr id="349" name="Google Shape;349;p15"/>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3000"/>
              <a:buFont typeface="Cambria"/>
              <a:buNone/>
            </a:pPr>
            <a:r>
              <a:rPr b="1" i="0" lang="en-US" sz="3000" u="none" cap="none" strike="noStrike">
                <a:solidFill>
                  <a:srgbClr val="1B2733"/>
                </a:solidFill>
                <a:latin typeface="Cambria"/>
                <a:ea typeface="Cambria"/>
                <a:cs typeface="Cambria"/>
                <a:sym typeface="Cambria"/>
              </a:rPr>
              <a:t>Las fronteras de Pareto</a:t>
            </a:r>
            <a:endParaRPr b="0" i="0" sz="3000" u="none" cap="none" strike="noStrike">
              <a:solidFill>
                <a:schemeClr val="dk1"/>
              </a:solidFill>
              <a:latin typeface="Calibri"/>
              <a:ea typeface="Calibri"/>
              <a:cs typeface="Calibri"/>
              <a:sym typeface="Calibri"/>
            </a:endParaRPr>
          </a:p>
        </p:txBody>
      </p:sp>
      <p:pic>
        <p:nvPicPr>
          <p:cNvPr descr="C:/Users/Ampue/Documents/PUCP/Diplomado IA/computacion_evolutiva/trabajo_final/figuras/pareto_fronteras.png" id="350" name="Google Shape;350;p15"/>
          <p:cNvPicPr preferRelativeResize="0"/>
          <p:nvPr/>
        </p:nvPicPr>
        <p:blipFill rotWithShape="1">
          <a:blip r:embed="rId3">
            <a:alphaModFix/>
          </a:blip>
          <a:srcRect b="0" l="0" r="0" t="0"/>
          <a:stretch/>
        </p:blipFill>
        <p:spPr>
          <a:xfrm>
            <a:off x="548640" y="1188720"/>
            <a:ext cx="6897173" cy="4370832"/>
          </a:xfrm>
          <a:prstGeom prst="rect">
            <a:avLst/>
          </a:prstGeom>
          <a:noFill/>
          <a:ln>
            <a:noFill/>
          </a:ln>
        </p:spPr>
      </p:pic>
      <p:sp>
        <p:nvSpPr>
          <p:cNvPr id="351" name="Google Shape;351;p15"/>
          <p:cNvSpPr/>
          <p:nvPr/>
        </p:nvSpPr>
        <p:spPr>
          <a:xfrm>
            <a:off x="7772400" y="1188720"/>
            <a:ext cx="3886200" cy="4370832"/>
          </a:xfrm>
          <a:prstGeom prst="roundRect">
            <a:avLst>
              <a:gd fmla="val 1882"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15"/>
          <p:cNvSpPr txBox="1"/>
          <p:nvPr/>
        </p:nvSpPr>
        <p:spPr>
          <a:xfrm>
            <a:off x="8046720" y="1371600"/>
            <a:ext cx="333756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500"/>
              <a:buFont typeface="Cambria"/>
              <a:buNone/>
            </a:pPr>
            <a:r>
              <a:rPr b="1" i="0" lang="en-US" sz="1500" u="none" cap="none" strike="noStrike">
                <a:solidFill>
                  <a:srgbClr val="1C7293"/>
                </a:solidFill>
                <a:latin typeface="Cambria"/>
                <a:ea typeface="Cambria"/>
                <a:cs typeface="Cambria"/>
                <a:sym typeface="Cambria"/>
              </a:rPr>
              <a:t>Qué muestran</a:t>
            </a:r>
            <a:endParaRPr b="0" i="0" sz="1500" u="none" cap="none" strike="noStrike">
              <a:solidFill>
                <a:schemeClr val="dk1"/>
              </a:solidFill>
              <a:latin typeface="Calibri"/>
              <a:ea typeface="Calibri"/>
              <a:cs typeface="Calibri"/>
              <a:sym typeface="Calibri"/>
            </a:endParaRPr>
          </a:p>
        </p:txBody>
      </p:sp>
      <p:sp>
        <p:nvSpPr>
          <p:cNvPr id="353" name="Google Shape;353;p15"/>
          <p:cNvSpPr txBox="1"/>
          <p:nvPr/>
        </p:nvSpPr>
        <p:spPr>
          <a:xfrm>
            <a:off x="8046720" y="1783080"/>
            <a:ext cx="3337560" cy="2286000"/>
          </a:xfrm>
          <a:prstGeom prst="rect">
            <a:avLst/>
          </a:prstGeom>
          <a:noFill/>
          <a:ln>
            <a:noFill/>
          </a:ln>
        </p:spPr>
        <p:txBody>
          <a:bodyPr anchorCtr="0" anchor="t" bIns="0" lIns="0" spcFirstLastPara="1" rIns="0" wrap="square" tIns="0">
            <a:noAutofit/>
          </a:bodyPr>
          <a:lstStyle/>
          <a:p>
            <a:pPr indent="-177800" lvl="0" marL="177800" marR="0" rtl="0" algn="l">
              <a:lnSpc>
                <a:spcPct val="105000"/>
              </a:lnSpc>
              <a:spcBef>
                <a:spcPts val="0"/>
              </a:spcBef>
              <a:spcAft>
                <a:spcPts val="0"/>
              </a:spcAft>
              <a:buClr>
                <a:srgbClr val="1B2733"/>
              </a:buClr>
              <a:buSzPts val="1250"/>
              <a:buFont typeface="Calibri"/>
              <a:buChar char="•"/>
            </a:pPr>
            <a:r>
              <a:rPr b="0" i="0" lang="en-US" sz="1250" u="none" cap="none" strike="noStrike">
                <a:solidFill>
                  <a:srgbClr val="1B2733"/>
                </a:solidFill>
                <a:latin typeface="Calibri"/>
                <a:ea typeface="Calibri"/>
                <a:cs typeface="Calibri"/>
                <a:sym typeface="Calibri"/>
              </a:rPr>
              <a:t>Alcanza el óptimo teórico de pasajeros (653) en 4 de 5 corridas.</a:t>
            </a:r>
            <a:endParaRPr b="0" i="0" sz="1250" u="none" cap="none" strike="noStrike">
              <a:solidFill>
                <a:schemeClr val="dk1"/>
              </a:solidFill>
              <a:latin typeface="Calibri"/>
              <a:ea typeface="Calibri"/>
              <a:cs typeface="Calibri"/>
              <a:sym typeface="Calibri"/>
            </a:endParaRPr>
          </a:p>
          <a:p>
            <a:pPr indent="-177800" lvl="0" marL="177800" marR="0" rtl="0" algn="l">
              <a:lnSpc>
                <a:spcPct val="105000"/>
              </a:lnSpc>
              <a:spcBef>
                <a:spcPts val="800"/>
              </a:spcBef>
              <a:spcAft>
                <a:spcPts val="0"/>
              </a:spcAft>
              <a:buClr>
                <a:srgbClr val="1B2733"/>
              </a:buClr>
              <a:buSzPts val="1250"/>
              <a:buFont typeface="Calibri"/>
              <a:buChar char="•"/>
            </a:pPr>
            <a:r>
              <a:rPr b="0" i="0" lang="en-US" sz="1250" u="none" cap="none" strike="noStrike">
                <a:solidFill>
                  <a:srgbClr val="1B2733"/>
                </a:solidFill>
                <a:latin typeface="Calibri"/>
                <a:ea typeface="Calibri"/>
                <a:cs typeface="Calibri"/>
                <a:sym typeface="Calibri"/>
              </a:rPr>
              <a:t>37 a 42 soluciones distintas por corrida, todas no dominadas.</a:t>
            </a:r>
            <a:endParaRPr b="0" i="0" sz="1250" u="none" cap="none" strike="noStrike">
              <a:solidFill>
                <a:schemeClr val="dk1"/>
              </a:solidFill>
              <a:latin typeface="Calibri"/>
              <a:ea typeface="Calibri"/>
              <a:cs typeface="Calibri"/>
              <a:sym typeface="Calibri"/>
            </a:endParaRPr>
          </a:p>
          <a:p>
            <a:pPr indent="-177800" lvl="0" marL="177800" marR="0" rtl="0" algn="l">
              <a:lnSpc>
                <a:spcPct val="105000"/>
              </a:lnSpc>
              <a:spcBef>
                <a:spcPts val="800"/>
              </a:spcBef>
              <a:spcAft>
                <a:spcPts val="0"/>
              </a:spcAft>
              <a:buClr>
                <a:srgbClr val="1B2733"/>
              </a:buClr>
              <a:buSzPts val="1250"/>
              <a:buFont typeface="Calibri"/>
              <a:buChar char="•"/>
            </a:pPr>
            <a:r>
              <a:rPr b="0" i="0" lang="en-US" sz="1250" u="none" cap="none" strike="noStrike">
                <a:solidFill>
                  <a:srgbClr val="1B2733"/>
                </a:solidFill>
                <a:latin typeface="Calibri"/>
                <a:ea typeface="Calibri"/>
                <a:cs typeface="Calibri"/>
                <a:sym typeface="Calibri"/>
              </a:rPr>
              <a:t>Fronteras casi idénticas entre corridas: hipervolumen con 0,77 % de variación.</a:t>
            </a:r>
            <a:endParaRPr b="0" i="0" sz="1250" u="none" cap="none" strike="noStrike">
              <a:solidFill>
                <a:schemeClr val="dk1"/>
              </a:solidFill>
              <a:latin typeface="Calibri"/>
              <a:ea typeface="Calibri"/>
              <a:cs typeface="Calibri"/>
              <a:sym typeface="Calibri"/>
            </a:endParaRPr>
          </a:p>
          <a:p>
            <a:pPr indent="-177800" lvl="0" marL="177800" marR="0" rtl="0" algn="l">
              <a:lnSpc>
                <a:spcPct val="105000"/>
              </a:lnSpc>
              <a:spcBef>
                <a:spcPts val="800"/>
              </a:spcBef>
              <a:spcAft>
                <a:spcPts val="0"/>
              </a:spcAft>
              <a:buClr>
                <a:srgbClr val="1B2733"/>
              </a:buClr>
              <a:buSzPts val="1250"/>
              <a:buFont typeface="Calibri"/>
              <a:buChar char="•"/>
            </a:pPr>
            <a:r>
              <a:rPr b="0" i="0" lang="en-US" sz="1250" u="none" cap="none" strike="noStrike">
                <a:solidFill>
                  <a:srgbClr val="1B2733"/>
                </a:solidFill>
                <a:latin typeface="Calibri"/>
                <a:ea typeface="Calibri"/>
                <a:cs typeface="Calibri"/>
                <a:sym typeface="Calibri"/>
              </a:rPr>
              <a:t>La frontera combinada suma 64 puntos: de 289 a 653 pasajeros y de 699 a 2202 de tiempo.</a:t>
            </a:r>
            <a:endParaRPr b="0" i="0" sz="1250" u="none" cap="none" strike="noStrike">
              <a:solidFill>
                <a:schemeClr val="dk1"/>
              </a:solidFill>
              <a:latin typeface="Calibri"/>
              <a:ea typeface="Calibri"/>
              <a:cs typeface="Calibri"/>
              <a:sym typeface="Calibri"/>
            </a:endParaRPr>
          </a:p>
        </p:txBody>
      </p:sp>
      <p:sp>
        <p:nvSpPr>
          <p:cNvPr id="354" name="Google Shape;354;p15"/>
          <p:cNvSpPr/>
          <p:nvPr/>
        </p:nvSpPr>
        <p:spPr>
          <a:xfrm>
            <a:off x="8046720" y="4206240"/>
            <a:ext cx="3337560" cy="1143000"/>
          </a:xfrm>
          <a:prstGeom prst="roundRect">
            <a:avLst>
              <a:gd fmla="val 6400"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5"/>
          <p:cNvSpPr txBox="1"/>
          <p:nvPr/>
        </p:nvSpPr>
        <p:spPr>
          <a:xfrm>
            <a:off x="8229600" y="4206240"/>
            <a:ext cx="2971800" cy="11430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FFFFF"/>
              </a:buClr>
              <a:buSzPts val="1200"/>
              <a:buFont typeface="Calibri"/>
              <a:buNone/>
            </a:pPr>
            <a:r>
              <a:rPr b="0" i="0" lang="en-US" sz="1200" u="none" cap="none" strike="noStrike">
                <a:solidFill>
                  <a:srgbClr val="FFFFFF"/>
                </a:solidFill>
                <a:latin typeface="Calibri"/>
                <a:ea typeface="Calibri"/>
                <a:cs typeface="Calibri"/>
                <a:sym typeface="Calibri"/>
              </a:rPr>
              <a:t>Los últimos pasajeros son los más caros: pasar de 512 a 653 (+28 %) cuesta +94 % de tiempo.</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0" name="Shape 360"/>
        <p:cNvGrpSpPr/>
        <p:nvPr/>
      </p:nvGrpSpPr>
      <p:grpSpPr>
        <a:xfrm>
          <a:off x="0" y="0"/>
          <a:ext cx="0" cy="0"/>
          <a:chOff x="0" y="0"/>
          <a:chExt cx="0" cy="0"/>
        </a:xfrm>
      </p:grpSpPr>
      <p:sp>
        <p:nvSpPr>
          <p:cNvPr id="361" name="Google Shape;361;p16"/>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1100"/>
              <a:buFont typeface="Calibri"/>
              <a:buNone/>
            </a:pPr>
            <a:r>
              <a:rPr b="1" i="0" lang="en-US" sz="1100" u="none" cap="none" strike="noStrike">
                <a:solidFill>
                  <a:srgbClr val="F2A65A"/>
                </a:solidFill>
                <a:latin typeface="Calibri"/>
                <a:ea typeface="Calibri"/>
                <a:cs typeface="Calibri"/>
                <a:sym typeface="Calibri"/>
              </a:rPr>
              <a:t>EL HALLAZGO</a:t>
            </a:r>
            <a:endParaRPr b="0" i="0" sz="1100" u="none" cap="none" strike="noStrike">
              <a:solidFill>
                <a:schemeClr val="dk1"/>
              </a:solidFill>
              <a:latin typeface="Calibri"/>
              <a:ea typeface="Calibri"/>
              <a:cs typeface="Calibri"/>
              <a:sym typeface="Calibri"/>
            </a:endParaRPr>
          </a:p>
        </p:txBody>
      </p:sp>
      <p:sp>
        <p:nvSpPr>
          <p:cNvPr id="362" name="Google Shape;362;p16"/>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3000"/>
              <a:buFont typeface="Cambria"/>
              <a:buNone/>
            </a:pPr>
            <a:r>
              <a:rPr b="1" i="0" lang="en-US" sz="3000" u="none" cap="none" strike="noStrike">
                <a:solidFill>
                  <a:srgbClr val="1B2733"/>
                </a:solidFill>
                <a:latin typeface="Cambria"/>
                <a:ea typeface="Cambria"/>
                <a:cs typeface="Cambria"/>
                <a:sym typeface="Cambria"/>
              </a:rPr>
              <a:t>El óptimo mono-objetivo está dominado</a:t>
            </a:r>
            <a:endParaRPr b="0" i="0" sz="3000" u="none" cap="none" strike="noStrike">
              <a:solidFill>
                <a:schemeClr val="dk1"/>
              </a:solidFill>
              <a:latin typeface="Calibri"/>
              <a:ea typeface="Calibri"/>
              <a:cs typeface="Calibri"/>
              <a:sym typeface="Calibri"/>
            </a:endParaRPr>
          </a:p>
        </p:txBody>
      </p:sp>
      <p:pic>
        <p:nvPicPr>
          <p:cNvPr descr="C:/Users/Ampue/Documents/PUCP/Diplomado IA/computacion_evolutiva/trabajo_final/figuras/pareto_combinada.png" id="363" name="Google Shape;363;p16"/>
          <p:cNvPicPr preferRelativeResize="0"/>
          <p:nvPr/>
        </p:nvPicPr>
        <p:blipFill rotWithShape="1">
          <a:blip r:embed="rId3">
            <a:alphaModFix/>
          </a:blip>
          <a:srcRect b="0" l="0" r="0" t="0"/>
          <a:stretch/>
        </p:blipFill>
        <p:spPr>
          <a:xfrm>
            <a:off x="548640" y="1188720"/>
            <a:ext cx="5888855" cy="4014216"/>
          </a:xfrm>
          <a:prstGeom prst="rect">
            <a:avLst/>
          </a:prstGeom>
          <a:noFill/>
          <a:ln>
            <a:noFill/>
          </a:ln>
        </p:spPr>
      </p:pic>
      <p:sp>
        <p:nvSpPr>
          <p:cNvPr id="364" name="Google Shape;364;p16"/>
          <p:cNvSpPr/>
          <p:nvPr/>
        </p:nvSpPr>
        <p:spPr>
          <a:xfrm>
            <a:off x="6766560" y="1188720"/>
            <a:ext cx="4892040" cy="1965960"/>
          </a:xfrm>
          <a:prstGeom prst="roundRect">
            <a:avLst>
              <a:gd fmla="val 3721"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6"/>
          <p:cNvSpPr txBox="1"/>
          <p:nvPr/>
        </p:nvSpPr>
        <p:spPr>
          <a:xfrm>
            <a:off x="7040880" y="1371600"/>
            <a:ext cx="4343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3000"/>
              <a:buFont typeface="Cambria"/>
              <a:buNone/>
            </a:pPr>
            <a:r>
              <a:rPr b="1" i="0" lang="en-US" sz="3000" u="none" cap="none" strike="noStrike">
                <a:solidFill>
                  <a:srgbClr val="F2A65A"/>
                </a:solidFill>
                <a:latin typeface="Cambria"/>
                <a:ea typeface="Cambria"/>
                <a:cs typeface="Cambria"/>
                <a:sym typeface="Cambria"/>
              </a:rPr>
              <a:t>10 soluciones</a:t>
            </a:r>
            <a:endParaRPr b="0" i="0" sz="3000" u="none" cap="none" strike="noStrike">
              <a:solidFill>
                <a:schemeClr val="dk1"/>
              </a:solidFill>
              <a:latin typeface="Calibri"/>
              <a:ea typeface="Calibri"/>
              <a:cs typeface="Calibri"/>
              <a:sym typeface="Calibri"/>
            </a:endParaRPr>
          </a:p>
        </p:txBody>
      </p:sp>
      <p:sp>
        <p:nvSpPr>
          <p:cNvPr id="366" name="Google Shape;366;p16"/>
          <p:cNvSpPr txBox="1"/>
          <p:nvPr/>
        </p:nvSpPr>
        <p:spPr>
          <a:xfrm>
            <a:off x="7040880" y="1965960"/>
            <a:ext cx="4343400" cy="10058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CADCFC"/>
              </a:buClr>
              <a:buSzPts val="1300"/>
              <a:buFont typeface="Calibri"/>
              <a:buNone/>
            </a:pPr>
            <a:r>
              <a:rPr b="0" i="0" lang="en-US" sz="1300" u="none" cap="none" strike="noStrike">
                <a:solidFill>
                  <a:srgbClr val="CADCFC"/>
                </a:solidFill>
                <a:latin typeface="Calibri"/>
                <a:ea typeface="Calibri"/>
                <a:cs typeface="Calibri"/>
                <a:sym typeface="Calibri"/>
              </a:rPr>
              <a:t>de la frontera atienden igual o más pasajeros en igual o menos tiempo que el mejor individuo mono-objetivo (466 pasajeros, 1154 de tiempo). La más extrema sirve 512 pasajeros en 1132 de tiempo.</a:t>
            </a:r>
            <a:endParaRPr b="0" i="0" sz="1300" u="none" cap="none" strike="noStrike">
              <a:solidFill>
                <a:schemeClr val="dk1"/>
              </a:solidFill>
              <a:latin typeface="Calibri"/>
              <a:ea typeface="Calibri"/>
              <a:cs typeface="Calibri"/>
              <a:sym typeface="Calibri"/>
            </a:endParaRPr>
          </a:p>
        </p:txBody>
      </p:sp>
      <p:sp>
        <p:nvSpPr>
          <p:cNvPr id="367" name="Google Shape;367;p16"/>
          <p:cNvSpPr txBox="1"/>
          <p:nvPr/>
        </p:nvSpPr>
        <p:spPr>
          <a:xfrm>
            <a:off x="6766560" y="3337560"/>
            <a:ext cx="4892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600"/>
              <a:buFont typeface="Cambria"/>
              <a:buNone/>
            </a:pPr>
            <a:r>
              <a:rPr b="1" i="0" lang="en-US" sz="1600" u="none" cap="none" strike="noStrike">
                <a:solidFill>
                  <a:srgbClr val="1B2733"/>
                </a:solidFill>
                <a:latin typeface="Cambria"/>
                <a:ea typeface="Cambria"/>
                <a:cs typeface="Cambria"/>
                <a:sym typeface="Cambria"/>
              </a:rPr>
              <a:t>¿Por qué? No es un error del algoritmo</a:t>
            </a:r>
            <a:endParaRPr b="0" i="0" sz="1600" u="none" cap="none" strike="noStrike">
              <a:solidFill>
                <a:schemeClr val="dk1"/>
              </a:solidFill>
              <a:latin typeface="Calibri"/>
              <a:ea typeface="Calibri"/>
              <a:cs typeface="Calibri"/>
              <a:sym typeface="Calibri"/>
            </a:endParaRPr>
          </a:p>
        </p:txBody>
      </p:sp>
      <p:sp>
        <p:nvSpPr>
          <p:cNvPr id="368" name="Google Shape;368;p16"/>
          <p:cNvSpPr txBox="1"/>
          <p:nvPr/>
        </p:nvSpPr>
        <p:spPr>
          <a:xfrm>
            <a:off x="6766560" y="3749040"/>
            <a:ext cx="4892040" cy="14630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B2733"/>
              </a:buClr>
              <a:buSzPts val="1250"/>
              <a:buFont typeface="Calibri"/>
              <a:buNone/>
            </a:pPr>
            <a:r>
              <a:rPr b="1" i="0" lang="en-US" sz="1250" u="none" cap="none" strike="noStrike">
                <a:solidFill>
                  <a:srgbClr val="1B2733"/>
                </a:solidFill>
                <a:latin typeface="Calibri"/>
                <a:ea typeface="Calibri"/>
                <a:cs typeface="Calibri"/>
                <a:sym typeface="Calibri"/>
              </a:rPr>
              <a:t>El fitness es una suma de cocientes</a:t>
            </a:r>
            <a:r>
              <a:rPr b="0" i="0" lang="en-US" sz="1250" u="none" cap="none" strike="noStrike">
                <a:solidFill>
                  <a:srgbClr val="1B2733"/>
                </a:solidFill>
                <a:latin typeface="Calibri"/>
                <a:ea typeface="Calibri"/>
                <a:cs typeface="Calibri"/>
                <a:sym typeface="Calibri"/>
              </a:rPr>
              <a:t>, no el cociente de las sumas. La primera forma premia tener asignaciones individuales excelentes aunque el resto sea mediocre; la segunda premia el rendimiento agregado del aeropuerto. Son objetivos distintos, y el óptimo de uno no pertenece a la frontera del otro.</a:t>
            </a:r>
            <a:endParaRPr b="0" i="0" sz="1250" u="none" cap="none" strike="noStrike">
              <a:solidFill>
                <a:schemeClr val="dk1"/>
              </a:solidFill>
              <a:latin typeface="Calibri"/>
              <a:ea typeface="Calibri"/>
              <a:cs typeface="Calibri"/>
              <a:sym typeface="Calibri"/>
            </a:endParaRPr>
          </a:p>
        </p:txBody>
      </p:sp>
      <p:sp>
        <p:nvSpPr>
          <p:cNvPr id="369" name="Google Shape;369;p16"/>
          <p:cNvSpPr/>
          <p:nvPr/>
        </p:nvSpPr>
        <p:spPr>
          <a:xfrm>
            <a:off x="6766560" y="5257800"/>
            <a:ext cx="4892040" cy="594360"/>
          </a:xfrm>
          <a:prstGeom prst="roundRect">
            <a:avLst>
              <a:gd fmla="val 12308"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16"/>
          <p:cNvSpPr txBox="1"/>
          <p:nvPr/>
        </p:nvSpPr>
        <p:spPr>
          <a:xfrm>
            <a:off x="6995160" y="5257800"/>
            <a:ext cx="443484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200"/>
              <a:buFont typeface="Calibri"/>
              <a:buNone/>
            </a:pPr>
            <a:r>
              <a:rPr b="1" i="0" lang="en-US" sz="1200" u="none" cap="none" strike="noStrike">
                <a:solidFill>
                  <a:srgbClr val="1C7293"/>
                </a:solidFill>
                <a:latin typeface="Calibri"/>
                <a:ea typeface="Calibri"/>
                <a:cs typeface="Calibri"/>
                <a:sym typeface="Calibri"/>
              </a:rPr>
              <a:t>Si al aeropuerto le importa el caudal agregado, la formulación correcta es la multiobjetivo.</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2B46"/>
        </a:solidFill>
      </p:bgPr>
    </p:bg>
    <p:spTree>
      <p:nvGrpSpPr>
        <p:cNvPr id="375" name="Shape 375"/>
        <p:cNvGrpSpPr/>
        <p:nvPr/>
      </p:nvGrpSpPr>
      <p:grpSpPr>
        <a:xfrm>
          <a:off x="0" y="0"/>
          <a:ext cx="0" cy="0"/>
          <a:chOff x="0" y="0"/>
          <a:chExt cx="0" cy="0"/>
        </a:xfrm>
      </p:grpSpPr>
      <p:sp>
        <p:nvSpPr>
          <p:cNvPr id="376" name="Google Shape;376;p17"/>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1100"/>
              <a:buFont typeface="Calibri"/>
              <a:buNone/>
            </a:pPr>
            <a:r>
              <a:rPr b="1" i="0" lang="en-US" sz="1100" u="none" cap="none" strike="noStrike">
                <a:solidFill>
                  <a:srgbClr val="F2A65A"/>
                </a:solidFill>
                <a:latin typeface="Calibri"/>
                <a:ea typeface="Calibri"/>
                <a:cs typeface="Calibri"/>
                <a:sym typeface="Calibri"/>
              </a:rPr>
              <a:t>CONCLUSIONES</a:t>
            </a:r>
            <a:endParaRPr b="0" i="0" sz="1100" u="none" cap="none" strike="noStrike">
              <a:solidFill>
                <a:schemeClr val="dk1"/>
              </a:solidFill>
              <a:latin typeface="Calibri"/>
              <a:ea typeface="Calibri"/>
              <a:cs typeface="Calibri"/>
              <a:sym typeface="Calibri"/>
            </a:endParaRPr>
          </a:p>
        </p:txBody>
      </p:sp>
      <p:sp>
        <p:nvSpPr>
          <p:cNvPr id="377" name="Google Shape;377;p17"/>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000"/>
              <a:buFont typeface="Cambria"/>
              <a:buNone/>
            </a:pPr>
            <a:r>
              <a:rPr b="1" i="0" lang="en-US" sz="3000" u="none" cap="none" strike="noStrike">
                <a:solidFill>
                  <a:srgbClr val="FFFFFF"/>
                </a:solidFill>
                <a:latin typeface="Cambria"/>
                <a:ea typeface="Cambria"/>
                <a:cs typeface="Cambria"/>
                <a:sym typeface="Cambria"/>
              </a:rPr>
              <a:t>Qué quedó demostrado</a:t>
            </a:r>
            <a:endParaRPr b="0" i="0" sz="3000" u="none" cap="none" strike="noStrike">
              <a:solidFill>
                <a:schemeClr val="dk1"/>
              </a:solidFill>
              <a:latin typeface="Calibri"/>
              <a:ea typeface="Calibri"/>
              <a:cs typeface="Calibri"/>
              <a:sym typeface="Calibri"/>
            </a:endParaRPr>
          </a:p>
        </p:txBody>
      </p:sp>
      <p:sp>
        <p:nvSpPr>
          <p:cNvPr id="378" name="Google Shape;378;p17"/>
          <p:cNvSpPr/>
          <p:nvPr/>
        </p:nvSpPr>
        <p:spPr>
          <a:xfrm>
            <a:off x="548640" y="1399032"/>
            <a:ext cx="384048" cy="384048"/>
          </a:xfrm>
          <a:prstGeom prst="ellipse">
            <a:avLst/>
          </a:prstGeom>
          <a:solidFill>
            <a:srgbClr val="F2A65A"/>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7"/>
          <p:cNvSpPr txBox="1"/>
          <p:nvPr/>
        </p:nvSpPr>
        <p:spPr>
          <a:xfrm>
            <a:off x="548640" y="1399032"/>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1</a:t>
            </a:r>
            <a:endParaRPr b="0" i="0" sz="1100" u="none" cap="none" strike="noStrike">
              <a:solidFill>
                <a:schemeClr val="dk1"/>
              </a:solidFill>
              <a:latin typeface="Calibri"/>
              <a:ea typeface="Calibri"/>
              <a:cs typeface="Calibri"/>
              <a:sym typeface="Calibri"/>
            </a:endParaRPr>
          </a:p>
        </p:txBody>
      </p:sp>
      <p:sp>
        <p:nvSpPr>
          <p:cNvPr id="380" name="Google Shape;380;p17"/>
          <p:cNvSpPr txBox="1"/>
          <p:nvPr/>
        </p:nvSpPr>
        <p:spPr>
          <a:xfrm>
            <a:off x="1097280" y="1325880"/>
            <a:ext cx="10515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50"/>
              <a:buFont typeface="Calibri"/>
              <a:buNone/>
            </a:pPr>
            <a:r>
              <a:rPr b="1" i="0" lang="en-US" sz="1450" u="none" cap="none" strike="noStrike">
                <a:solidFill>
                  <a:srgbClr val="FFFFFF"/>
                </a:solidFill>
                <a:latin typeface="Calibri"/>
                <a:ea typeface="Calibri"/>
                <a:cs typeface="Calibri"/>
                <a:sym typeface="Calibri"/>
              </a:rPr>
              <a:t>La factibilidad no es un detalle, es el resultado</a:t>
            </a:r>
            <a:endParaRPr b="0" i="0" sz="1450" u="none" cap="none" strike="noStrike">
              <a:solidFill>
                <a:schemeClr val="dk1"/>
              </a:solidFill>
              <a:latin typeface="Calibri"/>
              <a:ea typeface="Calibri"/>
              <a:cs typeface="Calibri"/>
              <a:sym typeface="Calibri"/>
            </a:endParaRPr>
          </a:p>
        </p:txBody>
      </p:sp>
      <p:sp>
        <p:nvSpPr>
          <p:cNvPr id="381" name="Google Shape;381;p17"/>
          <p:cNvSpPr txBox="1"/>
          <p:nvPr/>
        </p:nvSpPr>
        <p:spPr>
          <a:xfrm>
            <a:off x="1097280" y="1627632"/>
            <a:ext cx="10515600" cy="50292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CADCFC"/>
              </a:buClr>
              <a:buSzPts val="1250"/>
              <a:buFont typeface="Calibri"/>
              <a:buNone/>
            </a:pPr>
            <a:r>
              <a:rPr b="0" i="0" lang="en-US" sz="1250" u="none" cap="none" strike="noStrike">
                <a:solidFill>
                  <a:srgbClr val="CADCFC"/>
                </a:solidFill>
                <a:latin typeface="Calibri"/>
                <a:ea typeface="Calibri"/>
                <a:cs typeface="Calibri"/>
                <a:sym typeface="Calibri"/>
              </a:rPr>
              <a:t>0 % de programaciones ejecutables en el código base. Su fitness superior era enteramente atribuible a la violación de la restricción.</a:t>
            </a:r>
            <a:endParaRPr b="0" i="0" sz="1250" u="none" cap="none" strike="noStrike">
              <a:solidFill>
                <a:schemeClr val="dk1"/>
              </a:solidFill>
              <a:latin typeface="Calibri"/>
              <a:ea typeface="Calibri"/>
              <a:cs typeface="Calibri"/>
              <a:sym typeface="Calibri"/>
            </a:endParaRPr>
          </a:p>
        </p:txBody>
      </p:sp>
      <p:sp>
        <p:nvSpPr>
          <p:cNvPr id="382" name="Google Shape;382;p17"/>
          <p:cNvSpPr/>
          <p:nvPr/>
        </p:nvSpPr>
        <p:spPr>
          <a:xfrm>
            <a:off x="548640" y="2313432"/>
            <a:ext cx="384048" cy="384048"/>
          </a:xfrm>
          <a:prstGeom prst="ellipse">
            <a:avLst/>
          </a:prstGeom>
          <a:solidFill>
            <a:srgbClr val="F2A65A"/>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7"/>
          <p:cNvSpPr txBox="1"/>
          <p:nvPr/>
        </p:nvSpPr>
        <p:spPr>
          <a:xfrm>
            <a:off x="548640" y="2313432"/>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2</a:t>
            </a:r>
            <a:endParaRPr b="0" i="0" sz="1100" u="none" cap="none" strike="noStrike">
              <a:solidFill>
                <a:schemeClr val="dk1"/>
              </a:solidFill>
              <a:latin typeface="Calibri"/>
              <a:ea typeface="Calibri"/>
              <a:cs typeface="Calibri"/>
              <a:sym typeface="Calibri"/>
            </a:endParaRPr>
          </a:p>
        </p:txBody>
      </p:sp>
      <p:sp>
        <p:nvSpPr>
          <p:cNvPr id="384" name="Google Shape;384;p17"/>
          <p:cNvSpPr txBox="1"/>
          <p:nvPr/>
        </p:nvSpPr>
        <p:spPr>
          <a:xfrm>
            <a:off x="1097280" y="2240280"/>
            <a:ext cx="10515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50"/>
              <a:buFont typeface="Calibri"/>
              <a:buNone/>
            </a:pPr>
            <a:r>
              <a:rPr b="1" i="0" lang="en-US" sz="1450" u="none" cap="none" strike="noStrike">
                <a:solidFill>
                  <a:srgbClr val="FFFFFF"/>
                </a:solidFill>
                <a:latin typeface="Calibri"/>
                <a:ea typeface="Calibri"/>
                <a:cs typeface="Calibri"/>
                <a:sym typeface="Calibri"/>
              </a:rPr>
              <a:t>La reparación resuelve el problema sin costo relevante</a:t>
            </a:r>
            <a:endParaRPr b="0" i="0" sz="1450" u="none" cap="none" strike="noStrike">
              <a:solidFill>
                <a:schemeClr val="dk1"/>
              </a:solidFill>
              <a:latin typeface="Calibri"/>
              <a:ea typeface="Calibri"/>
              <a:cs typeface="Calibri"/>
              <a:sym typeface="Calibri"/>
            </a:endParaRPr>
          </a:p>
        </p:txBody>
      </p:sp>
      <p:sp>
        <p:nvSpPr>
          <p:cNvPr id="385" name="Google Shape;385;p17"/>
          <p:cNvSpPr txBox="1"/>
          <p:nvPr/>
        </p:nvSpPr>
        <p:spPr>
          <a:xfrm>
            <a:off x="1097280" y="2542032"/>
            <a:ext cx="10515600" cy="50292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CADCFC"/>
              </a:buClr>
              <a:buSzPts val="1250"/>
              <a:buFont typeface="Calibri"/>
              <a:buNone/>
            </a:pPr>
            <a:r>
              <a:rPr b="0" i="0" lang="en-US" sz="1250" u="none" cap="none" strike="noStrike">
                <a:solidFill>
                  <a:srgbClr val="CADCFC"/>
                </a:solidFill>
                <a:latin typeface="Calibri"/>
                <a:ea typeface="Calibri"/>
                <a:cs typeface="Calibri"/>
                <a:sym typeface="Calibri"/>
              </a:rPr>
              <a:t>100 % de individuos válidos con +16 % de tiempo y sin pérdida de capacidad de búsqueda.</a:t>
            </a:r>
            <a:endParaRPr b="0" i="0" sz="1250" u="none" cap="none" strike="noStrike">
              <a:solidFill>
                <a:schemeClr val="dk1"/>
              </a:solidFill>
              <a:latin typeface="Calibri"/>
              <a:ea typeface="Calibri"/>
              <a:cs typeface="Calibri"/>
              <a:sym typeface="Calibri"/>
            </a:endParaRPr>
          </a:p>
        </p:txBody>
      </p:sp>
      <p:sp>
        <p:nvSpPr>
          <p:cNvPr id="386" name="Google Shape;386;p17"/>
          <p:cNvSpPr/>
          <p:nvPr/>
        </p:nvSpPr>
        <p:spPr>
          <a:xfrm>
            <a:off x="548640" y="3227832"/>
            <a:ext cx="384048" cy="384048"/>
          </a:xfrm>
          <a:prstGeom prst="ellipse">
            <a:avLst/>
          </a:prstGeom>
          <a:solidFill>
            <a:srgbClr val="F2A65A"/>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7"/>
          <p:cNvSpPr txBox="1"/>
          <p:nvPr/>
        </p:nvSpPr>
        <p:spPr>
          <a:xfrm>
            <a:off x="548640" y="3227832"/>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3</a:t>
            </a:r>
            <a:endParaRPr b="0" i="0" sz="1100" u="none" cap="none" strike="noStrike">
              <a:solidFill>
                <a:schemeClr val="dk1"/>
              </a:solidFill>
              <a:latin typeface="Calibri"/>
              <a:ea typeface="Calibri"/>
              <a:cs typeface="Calibri"/>
              <a:sym typeface="Calibri"/>
            </a:endParaRPr>
          </a:p>
        </p:txBody>
      </p:sp>
      <p:sp>
        <p:nvSpPr>
          <p:cNvPr id="388" name="Google Shape;388;p17"/>
          <p:cNvSpPr txBox="1"/>
          <p:nvPr/>
        </p:nvSpPr>
        <p:spPr>
          <a:xfrm>
            <a:off x="1097280" y="3154680"/>
            <a:ext cx="10515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50"/>
              <a:buFont typeface="Calibri"/>
              <a:buNone/>
            </a:pPr>
            <a:r>
              <a:rPr b="1" i="0" lang="en-US" sz="1450" u="none" cap="none" strike="noStrike">
                <a:solidFill>
                  <a:srgbClr val="FFFFFF"/>
                </a:solidFill>
                <a:latin typeface="Calibri"/>
                <a:ea typeface="Calibri"/>
                <a:cs typeface="Calibri"/>
                <a:sym typeface="Calibri"/>
              </a:rPr>
              <a:t>El cruzamiento uniforme por asignaciones gana</a:t>
            </a:r>
            <a:endParaRPr b="0" i="0" sz="1450" u="none" cap="none" strike="noStrike">
              <a:solidFill>
                <a:schemeClr val="dk1"/>
              </a:solidFill>
              <a:latin typeface="Calibri"/>
              <a:ea typeface="Calibri"/>
              <a:cs typeface="Calibri"/>
              <a:sym typeface="Calibri"/>
            </a:endParaRPr>
          </a:p>
        </p:txBody>
      </p:sp>
      <p:sp>
        <p:nvSpPr>
          <p:cNvPr id="389" name="Google Shape;389;p17"/>
          <p:cNvSpPr txBox="1"/>
          <p:nvPr/>
        </p:nvSpPr>
        <p:spPr>
          <a:xfrm>
            <a:off x="1097280" y="3456432"/>
            <a:ext cx="10515600" cy="50292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CADCFC"/>
              </a:buClr>
              <a:buSzPts val="1250"/>
              <a:buFont typeface="Calibri"/>
              <a:buNone/>
            </a:pPr>
            <a:r>
              <a:rPr b="0" i="0" lang="en-US" sz="1250" u="none" cap="none" strike="noStrike">
                <a:solidFill>
                  <a:srgbClr val="CADCFC"/>
                </a:solidFill>
                <a:latin typeface="Calibri"/>
                <a:ea typeface="Calibri"/>
                <a:cs typeface="Calibri"/>
                <a:sym typeface="Calibri"/>
              </a:rPr>
              <a:t>4,9546 vs 4,7529 (p = 0,00195): la posición en el cromosoma no codifica vecindad.</a:t>
            </a:r>
            <a:endParaRPr b="0" i="0" sz="1250" u="none" cap="none" strike="noStrike">
              <a:solidFill>
                <a:schemeClr val="dk1"/>
              </a:solidFill>
              <a:latin typeface="Calibri"/>
              <a:ea typeface="Calibri"/>
              <a:cs typeface="Calibri"/>
              <a:sym typeface="Calibri"/>
            </a:endParaRPr>
          </a:p>
        </p:txBody>
      </p:sp>
      <p:sp>
        <p:nvSpPr>
          <p:cNvPr id="390" name="Google Shape;390;p17"/>
          <p:cNvSpPr/>
          <p:nvPr/>
        </p:nvSpPr>
        <p:spPr>
          <a:xfrm>
            <a:off x="548640" y="4142232"/>
            <a:ext cx="384048" cy="384048"/>
          </a:xfrm>
          <a:prstGeom prst="ellipse">
            <a:avLst/>
          </a:prstGeom>
          <a:solidFill>
            <a:srgbClr val="F2A65A"/>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7"/>
          <p:cNvSpPr txBox="1"/>
          <p:nvPr/>
        </p:nvSpPr>
        <p:spPr>
          <a:xfrm>
            <a:off x="548640" y="4142232"/>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4</a:t>
            </a:r>
            <a:endParaRPr b="0" i="0" sz="1100" u="none" cap="none" strike="noStrike">
              <a:solidFill>
                <a:schemeClr val="dk1"/>
              </a:solidFill>
              <a:latin typeface="Calibri"/>
              <a:ea typeface="Calibri"/>
              <a:cs typeface="Calibri"/>
              <a:sym typeface="Calibri"/>
            </a:endParaRPr>
          </a:p>
        </p:txBody>
      </p:sp>
      <p:sp>
        <p:nvSpPr>
          <p:cNvPr id="392" name="Google Shape;392;p17"/>
          <p:cNvSpPr txBox="1"/>
          <p:nvPr/>
        </p:nvSpPr>
        <p:spPr>
          <a:xfrm>
            <a:off x="1097280" y="4069080"/>
            <a:ext cx="10515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50"/>
              <a:buFont typeface="Calibri"/>
              <a:buNone/>
            </a:pPr>
            <a:r>
              <a:rPr b="1" i="0" lang="en-US" sz="1450" u="none" cap="none" strike="noStrike">
                <a:solidFill>
                  <a:srgbClr val="FFFFFF"/>
                </a:solidFill>
                <a:latin typeface="Calibri"/>
                <a:ea typeface="Calibri"/>
                <a:cs typeface="Calibri"/>
                <a:sym typeface="Calibri"/>
              </a:rPr>
              <a:t>La mutación localizada alcanza el óptimo exacto siempre</a:t>
            </a:r>
            <a:endParaRPr b="0" i="0" sz="1450" u="none" cap="none" strike="noStrike">
              <a:solidFill>
                <a:schemeClr val="dk1"/>
              </a:solidFill>
              <a:latin typeface="Calibri"/>
              <a:ea typeface="Calibri"/>
              <a:cs typeface="Calibri"/>
              <a:sym typeface="Calibri"/>
            </a:endParaRPr>
          </a:p>
        </p:txBody>
      </p:sp>
      <p:sp>
        <p:nvSpPr>
          <p:cNvPr id="393" name="Google Shape;393;p17"/>
          <p:cNvSpPr txBox="1"/>
          <p:nvPr/>
        </p:nvSpPr>
        <p:spPr>
          <a:xfrm>
            <a:off x="1097280" y="4370832"/>
            <a:ext cx="10515600" cy="50292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CADCFC"/>
              </a:buClr>
              <a:buSzPts val="1250"/>
              <a:buFont typeface="Calibri"/>
              <a:buNone/>
            </a:pPr>
            <a:r>
              <a:rPr b="0" i="0" lang="en-US" sz="1250" u="none" cap="none" strike="noStrike">
                <a:solidFill>
                  <a:srgbClr val="CADCFC"/>
                </a:solidFill>
                <a:latin typeface="Calibri"/>
                <a:ea typeface="Calibri"/>
                <a:cs typeface="Calibri"/>
                <a:sym typeface="Calibri"/>
              </a:rPr>
              <a:t>flight_or_gate a pm = 0,7: 10 de 10 corridas en el óptimo, gap 0 % y desviación 0. H2 confirmada.</a:t>
            </a:r>
            <a:endParaRPr b="0" i="0" sz="1250" u="none" cap="none" strike="noStrike">
              <a:solidFill>
                <a:schemeClr val="dk1"/>
              </a:solidFill>
              <a:latin typeface="Calibri"/>
              <a:ea typeface="Calibri"/>
              <a:cs typeface="Calibri"/>
              <a:sym typeface="Calibri"/>
            </a:endParaRPr>
          </a:p>
        </p:txBody>
      </p:sp>
      <p:sp>
        <p:nvSpPr>
          <p:cNvPr id="394" name="Google Shape;394;p17"/>
          <p:cNvSpPr/>
          <p:nvPr/>
        </p:nvSpPr>
        <p:spPr>
          <a:xfrm>
            <a:off x="548640" y="5056632"/>
            <a:ext cx="384048" cy="384048"/>
          </a:xfrm>
          <a:prstGeom prst="ellipse">
            <a:avLst/>
          </a:prstGeom>
          <a:solidFill>
            <a:srgbClr val="F2A65A"/>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7"/>
          <p:cNvSpPr txBox="1"/>
          <p:nvPr/>
        </p:nvSpPr>
        <p:spPr>
          <a:xfrm>
            <a:off x="548640" y="5056632"/>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2B46"/>
              </a:buClr>
              <a:buSzPts val="1100"/>
              <a:buFont typeface="Calibri"/>
              <a:buNone/>
            </a:pPr>
            <a:r>
              <a:rPr b="1" i="0" lang="en-US" sz="1100" u="none" cap="none" strike="noStrike">
                <a:solidFill>
                  <a:srgbClr val="0F2B46"/>
                </a:solidFill>
                <a:latin typeface="Calibri"/>
                <a:ea typeface="Calibri"/>
                <a:cs typeface="Calibri"/>
                <a:sym typeface="Calibri"/>
              </a:rPr>
              <a:t>5</a:t>
            </a:r>
            <a:endParaRPr b="0" i="0" sz="1100" u="none" cap="none" strike="noStrike">
              <a:solidFill>
                <a:schemeClr val="dk1"/>
              </a:solidFill>
              <a:latin typeface="Calibri"/>
              <a:ea typeface="Calibri"/>
              <a:cs typeface="Calibri"/>
              <a:sym typeface="Calibri"/>
            </a:endParaRPr>
          </a:p>
        </p:txBody>
      </p:sp>
      <p:sp>
        <p:nvSpPr>
          <p:cNvPr id="396" name="Google Shape;396;p17"/>
          <p:cNvSpPr txBox="1"/>
          <p:nvPr/>
        </p:nvSpPr>
        <p:spPr>
          <a:xfrm>
            <a:off x="1097280" y="4983480"/>
            <a:ext cx="10515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50"/>
              <a:buFont typeface="Calibri"/>
              <a:buNone/>
            </a:pPr>
            <a:r>
              <a:rPr b="1" i="0" lang="en-US" sz="1450" u="none" cap="none" strike="noStrike">
                <a:solidFill>
                  <a:srgbClr val="FFFFFF"/>
                </a:solidFill>
                <a:latin typeface="Calibri"/>
                <a:ea typeface="Calibri"/>
                <a:cs typeface="Calibri"/>
                <a:sym typeface="Calibri"/>
              </a:rPr>
              <a:t>NSGA-II entrega información que el enfoque agregado oculta</a:t>
            </a:r>
            <a:endParaRPr b="0" i="0" sz="1450" u="none" cap="none" strike="noStrike">
              <a:solidFill>
                <a:schemeClr val="dk1"/>
              </a:solidFill>
              <a:latin typeface="Calibri"/>
              <a:ea typeface="Calibri"/>
              <a:cs typeface="Calibri"/>
              <a:sym typeface="Calibri"/>
            </a:endParaRPr>
          </a:p>
        </p:txBody>
      </p:sp>
      <p:sp>
        <p:nvSpPr>
          <p:cNvPr id="397" name="Google Shape;397;p17"/>
          <p:cNvSpPr txBox="1"/>
          <p:nvPr/>
        </p:nvSpPr>
        <p:spPr>
          <a:xfrm>
            <a:off x="1097280" y="5285232"/>
            <a:ext cx="10515600" cy="50292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CADCFC"/>
              </a:buClr>
              <a:buSzPts val="1250"/>
              <a:buFont typeface="Calibri"/>
              <a:buNone/>
            </a:pPr>
            <a:r>
              <a:rPr b="0" i="0" lang="en-US" sz="1250" u="none" cap="none" strike="noStrike">
                <a:solidFill>
                  <a:srgbClr val="CADCFC"/>
                </a:solidFill>
                <a:latin typeface="Calibri"/>
                <a:ea typeface="Calibri"/>
                <a:cs typeface="Calibri"/>
                <a:sym typeface="Calibri"/>
              </a:rPr>
              <a:t>653 pasajeros en 4 de 5 corridas y 10 soluciones que dominan al óptimo mono. H3 confirmada.</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18"/>
          <p:cNvSpPr txBox="1"/>
          <p:nvPr/>
        </p:nvSpPr>
        <p:spPr>
          <a:xfrm>
            <a:off x="548640" y="137160"/>
            <a:ext cx="1109441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7293"/>
              </a:buClr>
              <a:buSzPts val="1100"/>
              <a:buFont typeface="Calibri"/>
              <a:buNone/>
            </a:pPr>
            <a:r>
              <a:rPr b="1" i="0" lang="en-US" sz="1100" u="none" cap="none" strike="noStrike">
                <a:solidFill>
                  <a:srgbClr val="1C7293"/>
                </a:solidFill>
                <a:latin typeface="Calibri"/>
                <a:ea typeface="Calibri"/>
                <a:cs typeface="Calibri"/>
                <a:sym typeface="Calibri"/>
              </a:rPr>
              <a:t>CIERRE</a:t>
            </a:r>
            <a:endParaRPr b="0" i="0" sz="1100" u="none" cap="none" strike="noStrike">
              <a:solidFill>
                <a:schemeClr val="dk1"/>
              </a:solidFill>
              <a:latin typeface="Calibri"/>
              <a:ea typeface="Calibri"/>
              <a:cs typeface="Calibri"/>
              <a:sym typeface="Calibri"/>
            </a:endParaRPr>
          </a:p>
        </p:txBody>
      </p:sp>
      <p:sp>
        <p:nvSpPr>
          <p:cNvPr id="404" name="Google Shape;404;p18"/>
          <p:cNvSpPr txBox="1"/>
          <p:nvPr/>
        </p:nvSpPr>
        <p:spPr>
          <a:xfrm>
            <a:off x="548640" y="384048"/>
            <a:ext cx="1109441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3000"/>
              <a:buFont typeface="Cambria"/>
              <a:buNone/>
            </a:pPr>
            <a:r>
              <a:rPr b="1" i="0" lang="en-US" sz="3000" u="none" cap="none" strike="noStrike">
                <a:solidFill>
                  <a:srgbClr val="1B2733"/>
                </a:solidFill>
                <a:latin typeface="Cambria"/>
                <a:ea typeface="Cambria"/>
                <a:cs typeface="Cambria"/>
                <a:sym typeface="Cambria"/>
              </a:rPr>
              <a:t>Recomendación y trabajos futuros</a:t>
            </a:r>
            <a:endParaRPr b="0" i="0" sz="3000" u="none" cap="none" strike="noStrike">
              <a:solidFill>
                <a:schemeClr val="dk1"/>
              </a:solidFill>
              <a:latin typeface="Calibri"/>
              <a:ea typeface="Calibri"/>
              <a:cs typeface="Calibri"/>
              <a:sym typeface="Calibri"/>
            </a:endParaRPr>
          </a:p>
        </p:txBody>
      </p:sp>
      <p:sp>
        <p:nvSpPr>
          <p:cNvPr id="405" name="Google Shape;405;p18"/>
          <p:cNvSpPr/>
          <p:nvPr/>
        </p:nvSpPr>
        <p:spPr>
          <a:xfrm>
            <a:off x="548640" y="1280160"/>
            <a:ext cx="5394960" cy="4480560"/>
          </a:xfrm>
          <a:prstGeom prst="roundRect">
            <a:avLst>
              <a:gd fmla="val 1633" name="adj"/>
            </a:avLst>
          </a:prstGeom>
          <a:solidFill>
            <a:srgbClr val="0F2B46"/>
          </a:solidFill>
          <a:ln cap="flat" cmpd="sng" w="12700">
            <a:solidFill>
              <a:srgbClr val="0F2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18"/>
          <p:cNvSpPr txBox="1"/>
          <p:nvPr/>
        </p:nvSpPr>
        <p:spPr>
          <a:xfrm>
            <a:off x="868680" y="1508760"/>
            <a:ext cx="47548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1700"/>
              <a:buFont typeface="Cambria"/>
              <a:buNone/>
            </a:pPr>
            <a:r>
              <a:rPr b="1" i="0" lang="en-US" sz="1700" u="none" cap="none" strike="noStrike">
                <a:solidFill>
                  <a:srgbClr val="F2A65A"/>
                </a:solidFill>
                <a:latin typeface="Cambria"/>
                <a:ea typeface="Cambria"/>
                <a:cs typeface="Cambria"/>
                <a:sym typeface="Cambria"/>
              </a:rPr>
              <a:t>Qué implementación sugerir</a:t>
            </a:r>
            <a:endParaRPr b="0" i="0" sz="1700" u="none" cap="none" strike="noStrike">
              <a:solidFill>
                <a:schemeClr val="dk1"/>
              </a:solidFill>
              <a:latin typeface="Calibri"/>
              <a:ea typeface="Calibri"/>
              <a:cs typeface="Calibri"/>
              <a:sym typeface="Calibri"/>
            </a:endParaRPr>
          </a:p>
        </p:txBody>
      </p:sp>
      <p:sp>
        <p:nvSpPr>
          <p:cNvPr id="407" name="Google Shape;407;p18"/>
          <p:cNvSpPr txBox="1"/>
          <p:nvPr/>
        </p:nvSpPr>
        <p:spPr>
          <a:xfrm>
            <a:off x="868680" y="1965960"/>
            <a:ext cx="475488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200"/>
              <a:buFont typeface="Cambria"/>
              <a:buNone/>
            </a:pPr>
            <a:r>
              <a:rPr b="1" i="0" lang="en-US" sz="3200" u="none" cap="none" strike="noStrike">
                <a:solidFill>
                  <a:srgbClr val="FFFFFF"/>
                </a:solidFill>
                <a:latin typeface="Cambria"/>
                <a:ea typeface="Cambria"/>
                <a:cs typeface="Cambria"/>
                <a:sym typeface="Cambria"/>
              </a:rPr>
              <a:t>NSGA-II</a:t>
            </a:r>
            <a:endParaRPr b="0" i="0" sz="3200" u="none" cap="none" strike="noStrike">
              <a:solidFill>
                <a:schemeClr val="dk1"/>
              </a:solidFill>
              <a:latin typeface="Calibri"/>
              <a:ea typeface="Calibri"/>
              <a:cs typeface="Calibri"/>
              <a:sym typeface="Calibri"/>
            </a:endParaRPr>
          </a:p>
        </p:txBody>
      </p:sp>
      <p:sp>
        <p:nvSpPr>
          <p:cNvPr id="408" name="Google Shape;408;p18"/>
          <p:cNvSpPr txBox="1"/>
          <p:nvPr/>
        </p:nvSpPr>
        <p:spPr>
          <a:xfrm>
            <a:off x="868680" y="2606040"/>
            <a:ext cx="4754880" cy="118872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CADCFC"/>
              </a:buClr>
              <a:buSzPts val="1300"/>
              <a:buFont typeface="Calibri"/>
              <a:buNone/>
            </a:pPr>
            <a:r>
              <a:rPr b="0" i="0" lang="en-US" sz="1300" u="none" cap="none" strike="noStrike">
                <a:solidFill>
                  <a:srgbClr val="CADCFC"/>
                </a:solidFill>
                <a:latin typeface="Calibri"/>
                <a:ea typeface="Calibri"/>
                <a:cs typeface="Calibri"/>
                <a:sym typeface="Calibri"/>
              </a:rPr>
              <a:t>con cruzamiento uniform_assignment y mutación flight_or_gate a pm = 0,7, presentando al planificador la frontera de Pareto en lugar de una única programación.</a:t>
            </a:r>
            <a:endParaRPr b="0" i="0" sz="1300" u="none" cap="none" strike="noStrike">
              <a:solidFill>
                <a:schemeClr val="dk1"/>
              </a:solidFill>
              <a:latin typeface="Calibri"/>
              <a:ea typeface="Calibri"/>
              <a:cs typeface="Calibri"/>
              <a:sym typeface="Calibri"/>
            </a:endParaRPr>
          </a:p>
        </p:txBody>
      </p:sp>
      <p:sp>
        <p:nvSpPr>
          <p:cNvPr id="409" name="Google Shape;409;p18"/>
          <p:cNvSpPr txBox="1"/>
          <p:nvPr/>
        </p:nvSpPr>
        <p:spPr>
          <a:xfrm>
            <a:off x="868680" y="3931920"/>
            <a:ext cx="4754880" cy="155448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Si se necesita un solo número, usar el mono-objetivo con esos mismos operadores, pero redefiniendo el fitness como cociente de sumas: es el indicador consistente con el rendimiento agregado del aeropuerto.</a:t>
            </a:r>
            <a:endParaRPr b="0" i="0" sz="1300" u="none" cap="none" strike="noStrike">
              <a:solidFill>
                <a:schemeClr val="dk1"/>
              </a:solidFill>
              <a:latin typeface="Calibri"/>
              <a:ea typeface="Calibri"/>
              <a:cs typeface="Calibri"/>
              <a:sym typeface="Calibri"/>
            </a:endParaRPr>
          </a:p>
        </p:txBody>
      </p:sp>
      <p:sp>
        <p:nvSpPr>
          <p:cNvPr id="410" name="Google Shape;410;p18"/>
          <p:cNvSpPr/>
          <p:nvPr/>
        </p:nvSpPr>
        <p:spPr>
          <a:xfrm>
            <a:off x="6263640" y="1280160"/>
            <a:ext cx="5394960" cy="1005840"/>
          </a:xfrm>
          <a:prstGeom prst="roundRect">
            <a:avLst>
              <a:gd fmla="val 7273"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8"/>
          <p:cNvSpPr/>
          <p:nvPr/>
        </p:nvSpPr>
        <p:spPr>
          <a:xfrm>
            <a:off x="6492240" y="1417320"/>
            <a:ext cx="365760" cy="365760"/>
          </a:xfrm>
          <a:prstGeom prst="ellipse">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18"/>
          <p:cNvSpPr txBox="1"/>
          <p:nvPr/>
        </p:nvSpPr>
        <p:spPr>
          <a:xfrm>
            <a:off x="6492240" y="1417320"/>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1</a:t>
            </a:r>
            <a:endParaRPr b="0" i="0" sz="1100" u="none" cap="none" strike="noStrike">
              <a:solidFill>
                <a:schemeClr val="dk1"/>
              </a:solidFill>
              <a:latin typeface="Calibri"/>
              <a:ea typeface="Calibri"/>
              <a:cs typeface="Calibri"/>
              <a:sym typeface="Calibri"/>
            </a:endParaRPr>
          </a:p>
        </p:txBody>
      </p:sp>
      <p:sp>
        <p:nvSpPr>
          <p:cNvPr id="413" name="Google Shape;413;p18"/>
          <p:cNvSpPr txBox="1"/>
          <p:nvPr/>
        </p:nvSpPr>
        <p:spPr>
          <a:xfrm>
            <a:off x="6995160" y="1399032"/>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350"/>
              <a:buFont typeface="Calibri"/>
              <a:buNone/>
            </a:pPr>
            <a:r>
              <a:rPr b="1" i="0" lang="en-US" sz="1350" u="none" cap="none" strike="noStrike">
                <a:solidFill>
                  <a:srgbClr val="1B2733"/>
                </a:solidFill>
                <a:latin typeface="Calibri"/>
                <a:ea typeface="Calibri"/>
                <a:cs typeface="Calibri"/>
                <a:sym typeface="Calibri"/>
              </a:rPr>
              <a:t>Ventanas de tiempo</a:t>
            </a:r>
            <a:endParaRPr b="0" i="0" sz="1350" u="none" cap="none" strike="noStrike">
              <a:solidFill>
                <a:schemeClr val="dk1"/>
              </a:solidFill>
              <a:latin typeface="Calibri"/>
              <a:ea typeface="Calibri"/>
              <a:cs typeface="Calibri"/>
              <a:sym typeface="Calibri"/>
            </a:endParaRPr>
          </a:p>
        </p:txBody>
      </p:sp>
      <p:sp>
        <p:nvSpPr>
          <p:cNvPr id="414" name="Google Shape;414;p18"/>
          <p:cNvSpPr txBox="1"/>
          <p:nvPr/>
        </p:nvSpPr>
        <p:spPr>
          <a:xfrm>
            <a:off x="6995160" y="1673352"/>
            <a:ext cx="4480560" cy="54864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Clr>
                <a:srgbClr val="5A6B7B"/>
              </a:buClr>
              <a:buSzPts val="1150"/>
              <a:buFont typeface="Calibri"/>
              <a:buNone/>
            </a:pPr>
            <a:r>
              <a:rPr b="0" i="0" lang="en-US" sz="1150" u="none" cap="none" strike="noStrike">
                <a:solidFill>
                  <a:srgbClr val="5A6B7B"/>
                </a:solidFill>
                <a:latin typeface="Calibri"/>
                <a:ea typeface="Calibri"/>
                <a:cs typeface="Calibri"/>
                <a:sym typeface="Calibri"/>
              </a:rPr>
              <a:t>Usar arriving_time y leaving_time: una puerta podría atender varios vuelos en horarios disjuntos.</a:t>
            </a:r>
            <a:endParaRPr b="0" i="0" sz="1150" u="none" cap="none" strike="noStrike">
              <a:solidFill>
                <a:schemeClr val="dk1"/>
              </a:solidFill>
              <a:latin typeface="Calibri"/>
              <a:ea typeface="Calibri"/>
              <a:cs typeface="Calibri"/>
              <a:sym typeface="Calibri"/>
            </a:endParaRPr>
          </a:p>
        </p:txBody>
      </p:sp>
      <p:sp>
        <p:nvSpPr>
          <p:cNvPr id="415" name="Google Shape;415;p18"/>
          <p:cNvSpPr/>
          <p:nvPr/>
        </p:nvSpPr>
        <p:spPr>
          <a:xfrm>
            <a:off x="6263640" y="2423160"/>
            <a:ext cx="5394960" cy="1005840"/>
          </a:xfrm>
          <a:prstGeom prst="roundRect">
            <a:avLst>
              <a:gd fmla="val 7273"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8"/>
          <p:cNvSpPr/>
          <p:nvPr/>
        </p:nvSpPr>
        <p:spPr>
          <a:xfrm>
            <a:off x="6492240" y="2560320"/>
            <a:ext cx="365760" cy="365760"/>
          </a:xfrm>
          <a:prstGeom prst="ellipse">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8"/>
          <p:cNvSpPr txBox="1"/>
          <p:nvPr/>
        </p:nvSpPr>
        <p:spPr>
          <a:xfrm>
            <a:off x="6492240" y="2560320"/>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2</a:t>
            </a:r>
            <a:endParaRPr b="0" i="0" sz="1100" u="none" cap="none" strike="noStrike">
              <a:solidFill>
                <a:schemeClr val="dk1"/>
              </a:solidFill>
              <a:latin typeface="Calibri"/>
              <a:ea typeface="Calibri"/>
              <a:cs typeface="Calibri"/>
              <a:sym typeface="Calibri"/>
            </a:endParaRPr>
          </a:p>
        </p:txBody>
      </p:sp>
      <p:sp>
        <p:nvSpPr>
          <p:cNvPr id="418" name="Google Shape;418;p18"/>
          <p:cNvSpPr txBox="1"/>
          <p:nvPr/>
        </p:nvSpPr>
        <p:spPr>
          <a:xfrm>
            <a:off x="6995160" y="2542032"/>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350"/>
              <a:buFont typeface="Calibri"/>
              <a:buNone/>
            </a:pPr>
            <a:r>
              <a:rPr b="1" i="0" lang="en-US" sz="1350" u="none" cap="none" strike="noStrike">
                <a:solidFill>
                  <a:srgbClr val="1B2733"/>
                </a:solidFill>
                <a:latin typeface="Calibri"/>
                <a:ea typeface="Calibri"/>
                <a:cs typeface="Calibri"/>
                <a:sym typeface="Calibri"/>
              </a:rPr>
              <a:t>Compatibilidad física</a:t>
            </a:r>
            <a:endParaRPr b="0" i="0" sz="1350" u="none" cap="none" strike="noStrike">
              <a:solidFill>
                <a:schemeClr val="dk1"/>
              </a:solidFill>
              <a:latin typeface="Calibri"/>
              <a:ea typeface="Calibri"/>
              <a:cs typeface="Calibri"/>
              <a:sym typeface="Calibri"/>
            </a:endParaRPr>
          </a:p>
        </p:txBody>
      </p:sp>
      <p:sp>
        <p:nvSpPr>
          <p:cNvPr id="419" name="Google Shape;419;p18"/>
          <p:cNvSpPr txBox="1"/>
          <p:nvPr/>
        </p:nvSpPr>
        <p:spPr>
          <a:xfrm>
            <a:off x="6995160" y="2816352"/>
            <a:ext cx="4480560" cy="54864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Clr>
                <a:srgbClr val="5A6B7B"/>
              </a:buClr>
              <a:buSzPts val="1150"/>
              <a:buFont typeface="Calibri"/>
              <a:buNone/>
            </a:pPr>
            <a:r>
              <a:rPr b="0" i="0" lang="en-US" sz="1150" u="none" cap="none" strike="noStrike">
                <a:solidFill>
                  <a:srgbClr val="5A6B7B"/>
                </a:solidFill>
                <a:latin typeface="Calibri"/>
                <a:ea typeface="Calibri"/>
                <a:cs typeface="Calibri"/>
                <a:sym typeface="Calibri"/>
              </a:rPr>
              <a:t>Matriz vuelo-puerta según la envergadura del avión, resuelta en la fase 3 de la reparación.</a:t>
            </a:r>
            <a:endParaRPr b="0" i="0" sz="1150" u="none" cap="none" strike="noStrike">
              <a:solidFill>
                <a:schemeClr val="dk1"/>
              </a:solidFill>
              <a:latin typeface="Calibri"/>
              <a:ea typeface="Calibri"/>
              <a:cs typeface="Calibri"/>
              <a:sym typeface="Calibri"/>
            </a:endParaRPr>
          </a:p>
        </p:txBody>
      </p:sp>
      <p:sp>
        <p:nvSpPr>
          <p:cNvPr id="420" name="Google Shape;420;p18"/>
          <p:cNvSpPr/>
          <p:nvPr/>
        </p:nvSpPr>
        <p:spPr>
          <a:xfrm>
            <a:off x="6263640" y="3566160"/>
            <a:ext cx="5394960" cy="1005840"/>
          </a:xfrm>
          <a:prstGeom prst="roundRect">
            <a:avLst>
              <a:gd fmla="val 7273"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8"/>
          <p:cNvSpPr/>
          <p:nvPr/>
        </p:nvSpPr>
        <p:spPr>
          <a:xfrm>
            <a:off x="6492240" y="3703320"/>
            <a:ext cx="365760" cy="365760"/>
          </a:xfrm>
          <a:prstGeom prst="ellipse">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8"/>
          <p:cNvSpPr txBox="1"/>
          <p:nvPr/>
        </p:nvSpPr>
        <p:spPr>
          <a:xfrm>
            <a:off x="6492240" y="3703320"/>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3</a:t>
            </a:r>
            <a:endParaRPr b="0" i="0" sz="1100" u="none" cap="none" strike="noStrike">
              <a:solidFill>
                <a:schemeClr val="dk1"/>
              </a:solidFill>
              <a:latin typeface="Calibri"/>
              <a:ea typeface="Calibri"/>
              <a:cs typeface="Calibri"/>
              <a:sym typeface="Calibri"/>
            </a:endParaRPr>
          </a:p>
        </p:txBody>
      </p:sp>
      <p:sp>
        <p:nvSpPr>
          <p:cNvPr id="423" name="Google Shape;423;p18"/>
          <p:cNvSpPr txBox="1"/>
          <p:nvPr/>
        </p:nvSpPr>
        <p:spPr>
          <a:xfrm>
            <a:off x="6995160" y="3685032"/>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350"/>
              <a:buFont typeface="Calibri"/>
              <a:buNone/>
            </a:pPr>
            <a:r>
              <a:rPr b="1" i="0" lang="en-US" sz="1350" u="none" cap="none" strike="noStrike">
                <a:solidFill>
                  <a:srgbClr val="1B2733"/>
                </a:solidFill>
                <a:latin typeface="Calibri"/>
                <a:ea typeface="Calibri"/>
                <a:cs typeface="Calibri"/>
                <a:sym typeface="Calibri"/>
              </a:rPr>
              <a:t>Algoritmo memético</a:t>
            </a:r>
            <a:endParaRPr b="0" i="0" sz="1350" u="none" cap="none" strike="noStrike">
              <a:solidFill>
                <a:schemeClr val="dk1"/>
              </a:solidFill>
              <a:latin typeface="Calibri"/>
              <a:ea typeface="Calibri"/>
              <a:cs typeface="Calibri"/>
              <a:sym typeface="Calibri"/>
            </a:endParaRPr>
          </a:p>
        </p:txBody>
      </p:sp>
      <p:sp>
        <p:nvSpPr>
          <p:cNvPr id="424" name="Google Shape;424;p18"/>
          <p:cNvSpPr txBox="1"/>
          <p:nvPr/>
        </p:nvSpPr>
        <p:spPr>
          <a:xfrm>
            <a:off x="6995160" y="3959352"/>
            <a:ext cx="4480560" cy="54864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Clr>
                <a:srgbClr val="5A6B7B"/>
              </a:buClr>
              <a:buSzPts val="1150"/>
              <a:buFont typeface="Calibri"/>
              <a:buNone/>
            </a:pPr>
            <a:r>
              <a:rPr b="0" i="0" lang="en-US" sz="1150" u="none" cap="none" strike="noStrike">
                <a:solidFill>
                  <a:srgbClr val="5A6B7B"/>
                </a:solidFill>
                <a:latin typeface="Calibri"/>
                <a:ea typeface="Calibri"/>
                <a:cs typeface="Calibri"/>
                <a:sym typeface="Calibri"/>
              </a:rPr>
              <a:t>Búsqueda local sobre los 45 intercambios de puertas del mejor individuo.</a:t>
            </a:r>
            <a:endParaRPr b="0" i="0" sz="1150" u="none" cap="none" strike="noStrike">
              <a:solidFill>
                <a:schemeClr val="dk1"/>
              </a:solidFill>
              <a:latin typeface="Calibri"/>
              <a:ea typeface="Calibri"/>
              <a:cs typeface="Calibri"/>
              <a:sym typeface="Calibri"/>
            </a:endParaRPr>
          </a:p>
        </p:txBody>
      </p:sp>
      <p:sp>
        <p:nvSpPr>
          <p:cNvPr id="425" name="Google Shape;425;p18"/>
          <p:cNvSpPr/>
          <p:nvPr/>
        </p:nvSpPr>
        <p:spPr>
          <a:xfrm>
            <a:off x="6263640" y="4709160"/>
            <a:ext cx="5394960" cy="1005840"/>
          </a:xfrm>
          <a:prstGeom prst="roundRect">
            <a:avLst>
              <a:gd fmla="val 7273" name="adj"/>
            </a:avLst>
          </a:prstGeom>
          <a:solidFill>
            <a:srgbClr val="F3F6F9"/>
          </a:solidFill>
          <a:ln cap="flat" cmpd="sng" w="12700">
            <a:solidFill>
              <a:srgbClr val="F3F6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8"/>
          <p:cNvSpPr/>
          <p:nvPr/>
        </p:nvSpPr>
        <p:spPr>
          <a:xfrm>
            <a:off x="6492240" y="4846320"/>
            <a:ext cx="365760" cy="365760"/>
          </a:xfrm>
          <a:prstGeom prst="ellipse">
            <a:avLst/>
          </a:prstGeom>
          <a:solidFill>
            <a:srgbClr val="1C7293"/>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18"/>
          <p:cNvSpPr txBox="1"/>
          <p:nvPr/>
        </p:nvSpPr>
        <p:spPr>
          <a:xfrm>
            <a:off x="6492240" y="4846320"/>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4</a:t>
            </a:r>
            <a:endParaRPr b="0" i="0" sz="1100" u="none" cap="none" strike="noStrike">
              <a:solidFill>
                <a:schemeClr val="dk1"/>
              </a:solidFill>
              <a:latin typeface="Calibri"/>
              <a:ea typeface="Calibri"/>
              <a:cs typeface="Calibri"/>
              <a:sym typeface="Calibri"/>
            </a:endParaRPr>
          </a:p>
        </p:txBody>
      </p:sp>
      <p:sp>
        <p:nvSpPr>
          <p:cNvPr id="428" name="Google Shape;428;p18"/>
          <p:cNvSpPr txBox="1"/>
          <p:nvPr/>
        </p:nvSpPr>
        <p:spPr>
          <a:xfrm>
            <a:off x="6995160" y="4828032"/>
            <a:ext cx="44805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2733"/>
              </a:buClr>
              <a:buSzPts val="1350"/>
              <a:buFont typeface="Calibri"/>
              <a:buNone/>
            </a:pPr>
            <a:r>
              <a:rPr b="1" i="0" lang="en-US" sz="1350" u="none" cap="none" strike="noStrike">
                <a:solidFill>
                  <a:srgbClr val="1B2733"/>
                </a:solidFill>
                <a:latin typeface="Calibri"/>
                <a:ea typeface="Calibri"/>
                <a:cs typeface="Calibri"/>
                <a:sym typeface="Calibri"/>
              </a:rPr>
              <a:t>Escenarios dinámicos</a:t>
            </a:r>
            <a:endParaRPr b="0" i="0" sz="1350" u="none" cap="none" strike="noStrike">
              <a:solidFill>
                <a:schemeClr val="dk1"/>
              </a:solidFill>
              <a:latin typeface="Calibri"/>
              <a:ea typeface="Calibri"/>
              <a:cs typeface="Calibri"/>
              <a:sym typeface="Calibri"/>
            </a:endParaRPr>
          </a:p>
        </p:txBody>
      </p:sp>
      <p:sp>
        <p:nvSpPr>
          <p:cNvPr id="429" name="Google Shape;429;p18"/>
          <p:cNvSpPr txBox="1"/>
          <p:nvPr/>
        </p:nvSpPr>
        <p:spPr>
          <a:xfrm>
            <a:off x="6995160" y="5102352"/>
            <a:ext cx="4480560" cy="54864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Clr>
                <a:srgbClr val="5A6B7B"/>
              </a:buClr>
              <a:buSzPts val="1150"/>
              <a:buFont typeface="Calibri"/>
              <a:buNone/>
            </a:pPr>
            <a:r>
              <a:rPr b="0" i="0" lang="en-US" sz="1150" u="none" cap="none" strike="noStrike">
                <a:solidFill>
                  <a:srgbClr val="5A6B7B"/>
                </a:solidFill>
                <a:latin typeface="Calibri"/>
                <a:ea typeface="Calibri"/>
                <a:cs typeface="Calibri"/>
                <a:sym typeface="Calibri"/>
              </a:rPr>
              <a:t>Vuelos que llegan o cambian durante la operación, obligando a reoptimizar sin rehacer todo.</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2B46"/>
        </a:solidFill>
      </p:bgPr>
    </p:bg>
    <p:spTree>
      <p:nvGrpSpPr>
        <p:cNvPr id="434" name="Shape 434"/>
        <p:cNvGrpSpPr/>
        <p:nvPr/>
      </p:nvGrpSpPr>
      <p:grpSpPr>
        <a:xfrm>
          <a:off x="0" y="0"/>
          <a:ext cx="0" cy="0"/>
          <a:chOff x="0" y="0"/>
          <a:chExt cx="0" cy="0"/>
        </a:xfrm>
      </p:grpSpPr>
      <p:sp>
        <p:nvSpPr>
          <p:cNvPr id="435" name="Google Shape;435;p19"/>
          <p:cNvSpPr/>
          <p:nvPr/>
        </p:nvSpPr>
        <p:spPr>
          <a:xfrm>
            <a:off x="-1463040" y="3108960"/>
            <a:ext cx="4937760" cy="4937760"/>
          </a:xfrm>
          <a:prstGeom prst="ellipse">
            <a:avLst/>
          </a:prstGeom>
          <a:solidFill>
            <a:srgbClr val="1C7293">
              <a:alpha val="12157"/>
            </a:srgbClr>
          </a:solidFill>
          <a:ln cap="flat" cmpd="sng" w="12700">
            <a:solidFill>
              <a:srgbClr val="1C729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19"/>
          <p:cNvSpPr/>
          <p:nvPr/>
        </p:nvSpPr>
        <p:spPr>
          <a:xfrm>
            <a:off x="10058400" y="-1280160"/>
            <a:ext cx="3840480" cy="3840480"/>
          </a:xfrm>
          <a:prstGeom prst="ellipse">
            <a:avLst/>
          </a:prstGeom>
          <a:solidFill>
            <a:srgbClr val="F2A65A">
              <a:alpha val="14902"/>
            </a:srgbClr>
          </a:solidFill>
          <a:ln cap="flat" cmpd="sng" w="12700">
            <a:solidFill>
              <a:srgbClr val="F2A6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9"/>
          <p:cNvSpPr txBox="1"/>
          <p:nvPr/>
        </p:nvSpPr>
        <p:spPr>
          <a:xfrm>
            <a:off x="822960" y="2194560"/>
            <a:ext cx="731520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Cambria"/>
              <a:buNone/>
            </a:pPr>
            <a:r>
              <a:rPr b="1" i="0" lang="en-US" sz="4800" u="none" cap="none" strike="noStrike">
                <a:solidFill>
                  <a:srgbClr val="FFFFFF"/>
                </a:solidFill>
                <a:latin typeface="Cambria"/>
                <a:ea typeface="Cambria"/>
                <a:cs typeface="Cambria"/>
                <a:sym typeface="Cambria"/>
              </a:rPr>
              <a:t>Gracias</a:t>
            </a:r>
            <a:endParaRPr b="0" i="0" sz="4800" u="none" cap="none" strike="noStrike">
              <a:solidFill>
                <a:schemeClr val="dk1"/>
              </a:solidFill>
              <a:latin typeface="Calibri"/>
              <a:ea typeface="Calibri"/>
              <a:cs typeface="Calibri"/>
              <a:sym typeface="Calibri"/>
            </a:endParaRPr>
          </a:p>
        </p:txBody>
      </p:sp>
      <p:sp>
        <p:nvSpPr>
          <p:cNvPr id="438" name="Google Shape;438;p19"/>
          <p:cNvSpPr txBox="1"/>
          <p:nvPr/>
        </p:nvSpPr>
        <p:spPr>
          <a:xfrm>
            <a:off x="822960" y="320040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65A"/>
              </a:buClr>
              <a:buSzPts val="2000"/>
              <a:buFont typeface="Calibri"/>
              <a:buNone/>
            </a:pPr>
            <a:r>
              <a:t/>
            </a:r>
            <a:endParaRPr b="0" i="0" sz="2000" u="none" cap="none" strike="noStrike">
              <a:solidFill>
                <a:schemeClr val="dk1"/>
              </a:solidFill>
              <a:latin typeface="Calibri"/>
              <a:ea typeface="Calibri"/>
              <a:cs typeface="Calibri"/>
              <a:sym typeface="Calibri"/>
            </a:endParaRPr>
          </a:p>
        </p:txBody>
      </p:sp>
      <p:sp>
        <p:nvSpPr>
          <p:cNvPr id="439" name="Google Shape;439;p19"/>
          <p:cNvSpPr txBox="1"/>
          <p:nvPr/>
        </p:nvSpPr>
        <p:spPr>
          <a:xfrm>
            <a:off x="822960" y="4754880"/>
            <a:ext cx="10058400" cy="82296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ADCFC"/>
              </a:buClr>
              <a:buSzPts val="1200"/>
              <a:buFont typeface="Calibri"/>
              <a:buNone/>
            </a:pPr>
            <a:r>
              <a:rPr b="0" i="0" lang="en-US" sz="1200" u="none" cap="none" strike="noStrike">
                <a:solidFill>
                  <a:srgbClr val="CADCFC"/>
                </a:solidFill>
                <a:latin typeface="Calibri"/>
                <a:ea typeface="Calibri"/>
                <a:cs typeface="Calibri"/>
                <a:sym typeface="Calibri"/>
              </a:rPr>
              <a:t>Notebook: Asignacion_VuelosGates_Solucion_Final_Revisado.ipynb</a:t>
            </a:r>
            <a:endParaRPr b="0" i="0" sz="12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CADCFC"/>
              </a:buClr>
              <a:buSzPts val="1200"/>
              <a:buFont typeface="Calibri"/>
              <a:buNone/>
            </a:pPr>
            <a:r>
              <a:rPr b="0" i="0" lang="en-US" sz="1200" u="none" cap="none" strike="noStrike">
                <a:solidFill>
                  <a:srgbClr val="CADCFC"/>
                </a:solidFill>
                <a:latin typeface="Calibri"/>
                <a:ea typeface="Calibri"/>
                <a:cs typeface="Calibri"/>
                <a:sym typeface="Calibri"/>
              </a:rPr>
              <a:t>Informe: Informe_Proyecto_Final_Asignacion_Vuelos_Gates_Actualizado.docx  ·  CSV por corrida en resultados finales iteración 2/</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2026-08-27T05:17:52Z</dcterms:created>
  <dc:creator>Mario Ampuero Rosas</dc:creator>
</cp:coreProperties>
</file>