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0"/>
  </p:notes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Lst>
  <p:sldSz cx="12192000" cy="6858000"/>
  <p:notesSz cx="6858000" cy="12192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5" roundtripDataSignature="AMtx7mjDkmB5y2AJk7sCUJNJ2gWC+gRDf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BD8EA12-1187-4A30-BC3E-C45968364C9D}">
  <a:tblStyle styleId="{DBD8EA12-1187-4A30-BC3E-C45968364C9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7" d="100"/>
          <a:sy n="67" d="100"/>
        </p:scale>
        <p:origin x="82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
        <p:cNvGrpSpPr/>
        <p:nvPr/>
      </p:nvGrpSpPr>
      <p:grpSpPr>
        <a:xfrm>
          <a:off x="0" y="0"/>
          <a:ext cx="0" cy="0"/>
          <a:chOff x="0" y="0"/>
          <a:chExt cx="0" cy="0"/>
        </a:xfrm>
      </p:grpSpPr>
      <p:sp>
        <p:nvSpPr>
          <p:cNvPr id="25" name="Google Shape;2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 name="Google Shape;2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 name="Google Shape;27;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p:cNvGrpSpPr/>
        <p:nvPr/>
      </p:nvGrpSpPr>
      <p:grpSpPr>
        <a:xfrm>
          <a:off x="0" y="0"/>
          <a:ext cx="0" cy="0"/>
          <a:chOff x="0" y="0"/>
          <a:chExt cx="0" cy="0"/>
        </a:xfrm>
      </p:grpSpPr>
      <p:sp>
        <p:nvSpPr>
          <p:cNvPr id="52" name="Google Shape;5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 name="Google Shape;53;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 name="Google Shape;54;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9" name="Google Shape;109;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 name="Google Shape;110;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 name="Google Shape;126;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 name="Google Shape;152;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3" name="Google Shape;153;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 name="Google Shape;182;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 name="Google Shape;183;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6" name="Google Shape;206;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7" name="Google Shape;207;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8" name="Google Shape;228;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 name="Google Shape;257;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2" name="Google Shape;272;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1" name="Google Shape;291;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2" name="Google Shape;292;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0" name="Google Shape;310;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1" name="Google Shape;311;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5" name="Google Shape;345;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6" name="Google Shape;346;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8" name="Google Shape;358;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9" name="Google Shape;359;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3" name="Google Shape;373;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4" name="Google Shape;374;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1" name="Google Shape;401;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2" name="Google Shape;432;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3" name="Google Shape;433;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B46"/>
        </a:solidFill>
        <a:effectLst/>
      </p:bgPr>
    </p:bg>
    <p:spTree>
      <p:nvGrpSpPr>
        <p:cNvPr id="1" name="Shape 15"/>
        <p:cNvGrpSpPr/>
        <p:nvPr/>
      </p:nvGrpSpPr>
      <p:grpSpPr>
        <a:xfrm>
          <a:off x="0" y="0"/>
          <a:ext cx="0" cy="0"/>
          <a:chOff x="0" y="0"/>
          <a:chExt cx="0" cy="0"/>
        </a:xfrm>
      </p:grpSpPr>
      <p:sp>
        <p:nvSpPr>
          <p:cNvPr id="16" name="Google Shape;16;p1"/>
          <p:cNvSpPr/>
          <p:nvPr/>
        </p:nvSpPr>
        <p:spPr>
          <a:xfrm>
            <a:off x="8778240" y="502920"/>
            <a:ext cx="5120640" cy="5120640"/>
          </a:xfrm>
          <a:prstGeom prst="ellipse">
            <a:avLst/>
          </a:prstGeom>
          <a:solidFill>
            <a:srgbClr val="1C7293">
              <a:alpha val="12157"/>
            </a:srgbClr>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1"/>
          <p:cNvSpPr/>
          <p:nvPr/>
        </p:nvSpPr>
        <p:spPr>
          <a:xfrm>
            <a:off x="9601200" y="1325880"/>
            <a:ext cx="3474720" cy="3474720"/>
          </a:xfrm>
          <a:prstGeom prst="ellipse">
            <a:avLst/>
          </a:prstGeom>
          <a:solidFill>
            <a:srgbClr val="1C7293">
              <a:alpha val="20000"/>
            </a:srgbClr>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1"/>
          <p:cNvSpPr/>
          <p:nvPr/>
        </p:nvSpPr>
        <p:spPr>
          <a:xfrm>
            <a:off x="10561320" y="2286000"/>
            <a:ext cx="1554480" cy="1554480"/>
          </a:xfrm>
          <a:prstGeom prst="ellipse">
            <a:avLst/>
          </a:prstGeom>
          <a:solidFill>
            <a:srgbClr val="F2A65A">
              <a:alpha val="60000"/>
            </a:srgbClr>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1"/>
          <p:cNvSpPr txBox="1"/>
          <p:nvPr/>
        </p:nvSpPr>
        <p:spPr>
          <a:xfrm>
            <a:off x="822960" y="1371600"/>
            <a:ext cx="822960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200"/>
              <a:buFont typeface="Calibri"/>
              <a:buNone/>
            </a:pPr>
            <a:r>
              <a:rPr lang="en-US" sz="1200" b="1" i="0" u="none" strike="noStrike" cap="none">
                <a:solidFill>
                  <a:srgbClr val="F2A65A"/>
                </a:solidFill>
                <a:latin typeface="Calibri"/>
                <a:ea typeface="Calibri"/>
                <a:cs typeface="Calibri"/>
                <a:sym typeface="Calibri"/>
              </a:rPr>
              <a:t>PROYECTO FINAL  ·  PROBLEMA 3</a:t>
            </a:r>
            <a:endParaRPr sz="1200" b="0" i="0" u="none" strike="noStrike" cap="none">
              <a:solidFill>
                <a:schemeClr val="dk1"/>
              </a:solidFill>
              <a:latin typeface="Calibri"/>
              <a:ea typeface="Calibri"/>
              <a:cs typeface="Calibri"/>
              <a:sym typeface="Calibri"/>
            </a:endParaRPr>
          </a:p>
        </p:txBody>
      </p:sp>
      <p:sp>
        <p:nvSpPr>
          <p:cNvPr id="20" name="Google Shape;20;p1"/>
          <p:cNvSpPr txBox="1"/>
          <p:nvPr/>
        </p:nvSpPr>
        <p:spPr>
          <a:xfrm>
            <a:off x="822960" y="1828800"/>
            <a:ext cx="8412480" cy="17373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4000"/>
              <a:buFont typeface="Cambria"/>
              <a:buNone/>
            </a:pPr>
            <a:r>
              <a:rPr lang="en-US" sz="4000" b="1" i="0" u="none" strike="noStrike" cap="none">
                <a:solidFill>
                  <a:srgbClr val="FFFFFF"/>
                </a:solidFill>
                <a:latin typeface="Cambria"/>
                <a:ea typeface="Cambria"/>
                <a:cs typeface="Cambria"/>
                <a:sym typeface="Cambria"/>
              </a:rPr>
              <a:t>Asignación evolutiva de</a:t>
            </a:r>
            <a:endParaRPr sz="4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FFFFFF"/>
              </a:buClr>
              <a:buSzPts val="4000"/>
              <a:buFont typeface="Cambria"/>
              <a:buNone/>
            </a:pPr>
            <a:r>
              <a:rPr lang="en-US" sz="4000" b="1" i="0" u="none" strike="noStrike" cap="none">
                <a:solidFill>
                  <a:srgbClr val="FFFFFF"/>
                </a:solidFill>
                <a:latin typeface="Cambria"/>
                <a:ea typeface="Cambria"/>
                <a:cs typeface="Cambria"/>
                <a:sym typeface="Cambria"/>
              </a:rPr>
              <a:t>Gates a Vuelos</a:t>
            </a:r>
            <a:endParaRPr sz="4000" b="0" i="0" u="none" strike="noStrike" cap="none">
              <a:solidFill>
                <a:schemeClr val="dk1"/>
              </a:solidFill>
              <a:latin typeface="Calibri"/>
              <a:ea typeface="Calibri"/>
              <a:cs typeface="Calibri"/>
              <a:sym typeface="Calibri"/>
            </a:endParaRPr>
          </a:p>
        </p:txBody>
      </p:sp>
      <p:sp>
        <p:nvSpPr>
          <p:cNvPr id="21" name="Google Shape;21;p1"/>
          <p:cNvSpPr txBox="1"/>
          <p:nvPr/>
        </p:nvSpPr>
        <p:spPr>
          <a:xfrm>
            <a:off x="822960" y="3657600"/>
            <a:ext cx="8412480" cy="82296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CADCFC"/>
              </a:buClr>
              <a:buSzPts val="1600"/>
              <a:buFont typeface="Calibri"/>
              <a:buNone/>
            </a:pPr>
            <a:r>
              <a:rPr lang="en-US" sz="1600" b="0" i="0" u="none" strike="noStrike" cap="none">
                <a:solidFill>
                  <a:srgbClr val="CADCFC"/>
                </a:solidFill>
                <a:latin typeface="Calibri"/>
                <a:ea typeface="Calibri"/>
                <a:cs typeface="Calibri"/>
                <a:sym typeface="Calibri"/>
              </a:rPr>
              <a:t>Operadores genéticos que garantizan soluciones factibles</a:t>
            </a:r>
            <a:endParaRPr sz="1600" b="0" i="0" u="none" strike="noStrike" cap="none">
              <a:solidFill>
                <a:schemeClr val="dk1"/>
              </a:solidFill>
              <a:latin typeface="Calibri"/>
              <a:ea typeface="Calibri"/>
              <a:cs typeface="Calibri"/>
              <a:sym typeface="Calibri"/>
            </a:endParaRPr>
          </a:p>
          <a:p>
            <a:pPr marL="0" marR="0" lvl="0" indent="0" algn="l" rtl="0">
              <a:lnSpc>
                <a:spcPct val="110000"/>
              </a:lnSpc>
              <a:spcBef>
                <a:spcPts val="0"/>
              </a:spcBef>
              <a:spcAft>
                <a:spcPts val="0"/>
              </a:spcAft>
              <a:buClr>
                <a:srgbClr val="CADCFC"/>
              </a:buClr>
              <a:buSzPts val="1600"/>
              <a:buFont typeface="Calibri"/>
              <a:buNone/>
            </a:pPr>
            <a:r>
              <a:rPr lang="en-US" sz="1600" b="0" i="0" u="none" strike="noStrike" cap="none">
                <a:solidFill>
                  <a:srgbClr val="CADCFC"/>
                </a:solidFill>
                <a:latin typeface="Calibri"/>
                <a:ea typeface="Calibri"/>
                <a:cs typeface="Calibri"/>
                <a:sym typeface="Calibri"/>
              </a:rPr>
              <a:t>y optimización multiobjetivo con NSGA-II</a:t>
            </a:r>
            <a:endParaRPr sz="1600" b="0" i="0" u="none" strike="noStrike" cap="none">
              <a:solidFill>
                <a:schemeClr val="dk1"/>
              </a:solidFill>
              <a:latin typeface="Calibri"/>
              <a:ea typeface="Calibri"/>
              <a:cs typeface="Calibri"/>
              <a:sym typeface="Calibri"/>
            </a:endParaRPr>
          </a:p>
        </p:txBody>
      </p:sp>
      <p:sp>
        <p:nvSpPr>
          <p:cNvPr id="22" name="Google Shape;22;p1"/>
          <p:cNvSpPr txBox="1"/>
          <p:nvPr/>
        </p:nvSpPr>
        <p:spPr>
          <a:xfrm>
            <a:off x="822960" y="5029200"/>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Mario Ampuero  ·  Robin Villegas  ·  Diego Chiang  ·  Eduardo Ruiz</a:t>
            </a:r>
            <a:endParaRPr sz="1400" b="0" i="0" u="none" strike="noStrike" cap="none">
              <a:solidFill>
                <a:schemeClr val="dk1"/>
              </a:solidFill>
              <a:latin typeface="Calibri"/>
              <a:ea typeface="Calibri"/>
              <a:cs typeface="Calibri"/>
              <a:sym typeface="Calibri"/>
            </a:endParaRPr>
          </a:p>
        </p:txBody>
      </p:sp>
      <p:sp>
        <p:nvSpPr>
          <p:cNvPr id="23" name="Google Shape;23;p1"/>
          <p:cNvSpPr txBox="1"/>
          <p:nvPr/>
        </p:nvSpPr>
        <p:spPr>
          <a:xfrm>
            <a:off x="822960" y="5349240"/>
            <a:ext cx="91440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FA3B5"/>
              </a:buClr>
              <a:buSzPts val="1100"/>
              <a:buFont typeface="Calibri"/>
              <a:buNone/>
            </a:pPr>
            <a:r>
              <a:rPr lang="en-US" sz="1100" b="0" i="0" u="none" strike="noStrike" cap="none">
                <a:solidFill>
                  <a:srgbClr val="8FA3B5"/>
                </a:solidFill>
                <a:latin typeface="Calibri"/>
                <a:ea typeface="Calibri"/>
                <a:cs typeface="Calibri"/>
                <a:sym typeface="Calibri"/>
              </a:rPr>
              <a:t>Optimización Industrial con Computación Evolutiva  ·  Dr. Edwin Villanueva  ·  PUCP  ·  2026</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
        <p:cNvGrpSpPr/>
        <p:nvPr/>
      </p:nvGrpSpPr>
      <p:grpSpPr>
        <a:xfrm>
          <a:off x="0" y="0"/>
          <a:ext cx="0" cy="0"/>
          <a:chOff x="0" y="0"/>
          <a:chExt cx="0" cy="0"/>
        </a:xfrm>
      </p:grpSpPr>
      <p:sp>
        <p:nvSpPr>
          <p:cNvPr id="29" name="Google Shape;29;p2"/>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EL PROBLEMA</a:t>
            </a:r>
            <a:endParaRPr sz="1100" b="0" i="0" u="none" strike="noStrike" cap="none">
              <a:solidFill>
                <a:schemeClr val="dk1"/>
              </a:solidFill>
              <a:latin typeface="Calibri"/>
              <a:ea typeface="Calibri"/>
              <a:cs typeface="Calibri"/>
              <a:sym typeface="Calibri"/>
            </a:endParaRPr>
          </a:p>
        </p:txBody>
      </p:sp>
      <p:sp>
        <p:nvSpPr>
          <p:cNvPr id="30" name="Google Shape;30;p2"/>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Más aviones que puertas</a:t>
            </a:r>
            <a:endParaRPr sz="3000" b="0" i="0" u="none" strike="noStrike" cap="none">
              <a:solidFill>
                <a:schemeClr val="dk1"/>
              </a:solidFill>
              <a:latin typeface="Calibri"/>
              <a:ea typeface="Calibri"/>
              <a:cs typeface="Calibri"/>
              <a:sym typeface="Calibri"/>
            </a:endParaRPr>
          </a:p>
        </p:txBody>
      </p:sp>
      <p:sp>
        <p:nvSpPr>
          <p:cNvPr id="31" name="Google Shape;31;p2"/>
          <p:cNvSpPr txBox="1"/>
          <p:nvPr/>
        </p:nvSpPr>
        <p:spPr>
          <a:xfrm>
            <a:off x="548640" y="1234440"/>
            <a:ext cx="6035040" cy="82296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1B2733"/>
              </a:buClr>
              <a:buSzPts val="1500"/>
              <a:buFont typeface="Calibri"/>
              <a:buNone/>
            </a:pPr>
            <a:r>
              <a:rPr lang="en-US" sz="1500" b="0" i="0" u="none" strike="noStrike" cap="none">
                <a:solidFill>
                  <a:srgbClr val="1B2733"/>
                </a:solidFill>
                <a:latin typeface="Calibri"/>
                <a:ea typeface="Calibri"/>
                <a:cs typeface="Calibri"/>
                <a:sym typeface="Calibri"/>
              </a:rPr>
              <a:t>Un aeropuerto sobredemandado recibe 30 vuelos y solo tiene 10 puertas. El algoritmo no solo asigna: también decide a quién deja fuera.</a:t>
            </a:r>
            <a:endParaRPr sz="1500" b="0" i="0" u="none" strike="noStrike" cap="none">
              <a:solidFill>
                <a:schemeClr val="dk1"/>
              </a:solidFill>
              <a:latin typeface="Calibri"/>
              <a:ea typeface="Calibri"/>
              <a:cs typeface="Calibri"/>
              <a:sym typeface="Calibri"/>
            </a:endParaRPr>
          </a:p>
        </p:txBody>
      </p:sp>
      <p:sp>
        <p:nvSpPr>
          <p:cNvPr id="32" name="Google Shape;32;p2"/>
          <p:cNvSpPr/>
          <p:nvPr/>
        </p:nvSpPr>
        <p:spPr>
          <a:xfrm>
            <a:off x="548640" y="2240280"/>
            <a:ext cx="2880360" cy="1600200"/>
          </a:xfrm>
          <a:prstGeom prst="roundRect">
            <a:avLst>
              <a:gd name="adj" fmla="val 4571"/>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822960" y="2487168"/>
            <a:ext cx="384048" cy="384048"/>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txBox="1"/>
          <p:nvPr/>
        </p:nvSpPr>
        <p:spPr>
          <a:xfrm>
            <a:off x="822960" y="2487168"/>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1</a:t>
            </a:r>
            <a:endParaRPr sz="1100" b="0" i="0" u="none" strike="noStrike" cap="none">
              <a:solidFill>
                <a:schemeClr val="dk1"/>
              </a:solidFill>
              <a:latin typeface="Calibri"/>
              <a:ea typeface="Calibri"/>
              <a:cs typeface="Calibri"/>
              <a:sym typeface="Calibri"/>
            </a:endParaRPr>
          </a:p>
        </p:txBody>
      </p:sp>
      <p:sp>
        <p:nvSpPr>
          <p:cNvPr id="35" name="Google Shape;35;p2"/>
          <p:cNvSpPr txBox="1"/>
          <p:nvPr/>
        </p:nvSpPr>
        <p:spPr>
          <a:xfrm>
            <a:off x="822960" y="2971800"/>
            <a:ext cx="2377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400"/>
              <a:buFont typeface="Calibri"/>
              <a:buNone/>
            </a:pPr>
            <a:r>
              <a:rPr lang="en-US" sz="1400" b="1" i="0" u="none" strike="noStrike" cap="none">
                <a:solidFill>
                  <a:srgbClr val="1B2733"/>
                </a:solidFill>
                <a:latin typeface="Calibri"/>
                <a:ea typeface="Calibri"/>
                <a:cs typeface="Calibri"/>
                <a:sym typeface="Calibri"/>
              </a:rPr>
              <a:t>¿QUÉ vuelos atender?</a:t>
            </a:r>
            <a:endParaRPr sz="1400" b="0" i="0" u="none" strike="noStrike" cap="none">
              <a:solidFill>
                <a:schemeClr val="dk1"/>
              </a:solidFill>
              <a:latin typeface="Calibri"/>
              <a:ea typeface="Calibri"/>
              <a:cs typeface="Calibri"/>
              <a:sym typeface="Calibri"/>
            </a:endParaRPr>
          </a:p>
        </p:txBody>
      </p:sp>
      <p:sp>
        <p:nvSpPr>
          <p:cNvPr id="36" name="Google Shape;36;p2"/>
          <p:cNvSpPr txBox="1"/>
          <p:nvPr/>
        </p:nvSpPr>
        <p:spPr>
          <a:xfrm>
            <a:off x="822960" y="3246120"/>
            <a:ext cx="237744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Escoger 10 de 30; los otros 20 quedan sin programar.</a:t>
            </a:r>
            <a:endParaRPr sz="1200" b="0" i="0" u="none" strike="noStrike" cap="none">
              <a:solidFill>
                <a:schemeClr val="dk1"/>
              </a:solidFill>
              <a:latin typeface="Calibri"/>
              <a:ea typeface="Calibri"/>
              <a:cs typeface="Calibri"/>
              <a:sym typeface="Calibri"/>
            </a:endParaRPr>
          </a:p>
        </p:txBody>
      </p:sp>
      <p:sp>
        <p:nvSpPr>
          <p:cNvPr id="37" name="Google Shape;37;p2"/>
          <p:cNvSpPr/>
          <p:nvPr/>
        </p:nvSpPr>
        <p:spPr>
          <a:xfrm>
            <a:off x="3703320" y="2240280"/>
            <a:ext cx="2880360" cy="1600200"/>
          </a:xfrm>
          <a:prstGeom prst="roundRect">
            <a:avLst>
              <a:gd name="adj" fmla="val 4571"/>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3977640" y="2487168"/>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txBox="1"/>
          <p:nvPr/>
        </p:nvSpPr>
        <p:spPr>
          <a:xfrm>
            <a:off x="3977640" y="2487168"/>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2</a:t>
            </a:r>
            <a:endParaRPr sz="1100" b="0" i="0" u="none" strike="noStrike" cap="none">
              <a:solidFill>
                <a:schemeClr val="dk1"/>
              </a:solidFill>
              <a:latin typeface="Calibri"/>
              <a:ea typeface="Calibri"/>
              <a:cs typeface="Calibri"/>
              <a:sym typeface="Calibri"/>
            </a:endParaRPr>
          </a:p>
        </p:txBody>
      </p:sp>
      <p:sp>
        <p:nvSpPr>
          <p:cNvPr id="40" name="Google Shape;40;p2"/>
          <p:cNvSpPr txBox="1"/>
          <p:nvPr/>
        </p:nvSpPr>
        <p:spPr>
          <a:xfrm>
            <a:off x="3977640" y="2971800"/>
            <a:ext cx="2377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400"/>
              <a:buFont typeface="Calibri"/>
              <a:buNone/>
            </a:pPr>
            <a:r>
              <a:rPr lang="en-US" sz="1400" b="1" i="0" u="none" strike="noStrike" cap="none">
                <a:solidFill>
                  <a:srgbClr val="1B2733"/>
                </a:solidFill>
                <a:latin typeface="Calibri"/>
                <a:ea typeface="Calibri"/>
                <a:cs typeface="Calibri"/>
                <a:sym typeface="Calibri"/>
              </a:rPr>
              <a:t>¿DÓNDE parquear cada uno?</a:t>
            </a:r>
            <a:endParaRPr sz="1400" b="0" i="0" u="none" strike="noStrike" cap="none">
              <a:solidFill>
                <a:schemeClr val="dk1"/>
              </a:solidFill>
              <a:latin typeface="Calibri"/>
              <a:ea typeface="Calibri"/>
              <a:cs typeface="Calibri"/>
              <a:sym typeface="Calibri"/>
            </a:endParaRPr>
          </a:p>
        </p:txBody>
      </p:sp>
      <p:sp>
        <p:nvSpPr>
          <p:cNvPr id="41" name="Google Shape;41;p2"/>
          <p:cNvSpPr txBox="1"/>
          <p:nvPr/>
        </p:nvSpPr>
        <p:spPr>
          <a:xfrm>
            <a:off x="3977640" y="3246120"/>
            <a:ext cx="237744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Manga o zona remota: cada puerta desembarca a un ritmo distinto.</a:t>
            </a:r>
            <a:endParaRPr sz="1200" b="0" i="0" u="none" strike="noStrike" cap="none">
              <a:solidFill>
                <a:schemeClr val="dk1"/>
              </a:solidFill>
              <a:latin typeface="Calibri"/>
              <a:ea typeface="Calibri"/>
              <a:cs typeface="Calibri"/>
              <a:sym typeface="Calibri"/>
            </a:endParaRPr>
          </a:p>
        </p:txBody>
      </p:sp>
      <p:sp>
        <p:nvSpPr>
          <p:cNvPr id="42" name="Google Shape;42;p2"/>
          <p:cNvSpPr txBox="1"/>
          <p:nvPr/>
        </p:nvSpPr>
        <p:spPr>
          <a:xfrm>
            <a:off x="548640" y="4114800"/>
            <a:ext cx="60350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400"/>
              <a:buFont typeface="Calibri"/>
              <a:buNone/>
            </a:pPr>
            <a:r>
              <a:rPr lang="en-US" sz="1400" b="1" i="0" u="none" strike="noStrike" cap="none">
                <a:solidFill>
                  <a:srgbClr val="1C7293"/>
                </a:solidFill>
                <a:latin typeface="Calibri"/>
                <a:ea typeface="Calibri"/>
                <a:cs typeface="Calibri"/>
                <a:sym typeface="Calibri"/>
              </a:rPr>
              <a:t>Objetivo: maximizar la eficiencia = pasajeros desembarcados por unidad de tiempo.</a:t>
            </a:r>
            <a:endParaRPr sz="1400" b="0" i="0" u="none" strike="noStrike" cap="none">
              <a:solidFill>
                <a:schemeClr val="dk1"/>
              </a:solidFill>
              <a:latin typeface="Calibri"/>
              <a:ea typeface="Calibri"/>
              <a:cs typeface="Calibri"/>
              <a:sym typeface="Calibri"/>
            </a:endParaRPr>
          </a:p>
        </p:txBody>
      </p:sp>
      <p:sp>
        <p:nvSpPr>
          <p:cNvPr id="43" name="Google Shape;43;p2"/>
          <p:cNvSpPr/>
          <p:nvPr/>
        </p:nvSpPr>
        <p:spPr>
          <a:xfrm>
            <a:off x="7132320" y="1234440"/>
            <a:ext cx="4526280" cy="3566160"/>
          </a:xfrm>
          <a:prstGeom prst="roundRect">
            <a:avLst>
              <a:gd name="adj" fmla="val 2051"/>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txBox="1"/>
          <p:nvPr/>
        </p:nvSpPr>
        <p:spPr>
          <a:xfrm>
            <a:off x="7315200" y="1554480"/>
            <a:ext cx="201168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2A65A"/>
              </a:buClr>
              <a:buSzPts val="4200"/>
              <a:buFont typeface="Cambria"/>
              <a:buNone/>
            </a:pPr>
            <a:r>
              <a:rPr lang="en-US" sz="4200" b="1" i="0" u="none" strike="noStrike" cap="none">
                <a:solidFill>
                  <a:srgbClr val="F2A65A"/>
                </a:solidFill>
                <a:latin typeface="Cambria"/>
                <a:ea typeface="Cambria"/>
                <a:cs typeface="Cambria"/>
                <a:sym typeface="Cambria"/>
              </a:rPr>
              <a:t>30</a:t>
            </a:r>
            <a:endParaRPr sz="4200" b="0" i="0" u="none" strike="noStrike" cap="none">
              <a:solidFill>
                <a:schemeClr val="dk1"/>
              </a:solidFill>
              <a:latin typeface="Calibri"/>
              <a:ea typeface="Calibri"/>
              <a:cs typeface="Calibri"/>
              <a:sym typeface="Calibri"/>
            </a:endParaRPr>
          </a:p>
        </p:txBody>
      </p:sp>
      <p:sp>
        <p:nvSpPr>
          <p:cNvPr id="45" name="Google Shape;45;p2"/>
          <p:cNvSpPr txBox="1"/>
          <p:nvPr/>
        </p:nvSpPr>
        <p:spPr>
          <a:xfrm>
            <a:off x="7315200" y="2212848"/>
            <a:ext cx="2011680" cy="4572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CADCFC"/>
              </a:buClr>
              <a:buSzPts val="1100"/>
              <a:buFont typeface="Calibri"/>
              <a:buNone/>
            </a:pPr>
            <a:r>
              <a:rPr lang="en-US" sz="1100" b="0" i="0" u="none" strike="noStrike" cap="none">
                <a:solidFill>
                  <a:srgbClr val="CADCFC"/>
                </a:solidFill>
                <a:latin typeface="Calibri"/>
                <a:ea typeface="Calibri"/>
                <a:cs typeface="Calibri"/>
                <a:sym typeface="Calibri"/>
              </a:rPr>
              <a:t>vuelos por asignar</a:t>
            </a:r>
            <a:endParaRPr sz="1100" b="0" i="0" u="none" strike="noStrike" cap="none">
              <a:solidFill>
                <a:schemeClr val="dk1"/>
              </a:solidFill>
              <a:latin typeface="Calibri"/>
              <a:ea typeface="Calibri"/>
              <a:cs typeface="Calibri"/>
              <a:sym typeface="Calibri"/>
            </a:endParaRPr>
          </a:p>
        </p:txBody>
      </p:sp>
      <p:sp>
        <p:nvSpPr>
          <p:cNvPr id="46" name="Google Shape;46;p2"/>
          <p:cNvSpPr txBox="1"/>
          <p:nvPr/>
        </p:nvSpPr>
        <p:spPr>
          <a:xfrm>
            <a:off x="9418320" y="1554480"/>
            <a:ext cx="201168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2A65A"/>
              </a:buClr>
              <a:buSzPts val="4200"/>
              <a:buFont typeface="Cambria"/>
              <a:buNone/>
            </a:pPr>
            <a:r>
              <a:rPr lang="en-US" sz="4200" b="1" i="0" u="none" strike="noStrike" cap="none">
                <a:solidFill>
                  <a:srgbClr val="F2A65A"/>
                </a:solidFill>
                <a:latin typeface="Cambria"/>
                <a:ea typeface="Cambria"/>
                <a:cs typeface="Cambria"/>
                <a:sym typeface="Cambria"/>
              </a:rPr>
              <a:t>10</a:t>
            </a:r>
            <a:endParaRPr sz="4200" b="0" i="0" u="none" strike="noStrike" cap="none">
              <a:solidFill>
                <a:schemeClr val="dk1"/>
              </a:solidFill>
              <a:latin typeface="Calibri"/>
              <a:ea typeface="Calibri"/>
              <a:cs typeface="Calibri"/>
              <a:sym typeface="Calibri"/>
            </a:endParaRPr>
          </a:p>
        </p:txBody>
      </p:sp>
      <p:sp>
        <p:nvSpPr>
          <p:cNvPr id="47" name="Google Shape;47;p2"/>
          <p:cNvSpPr txBox="1"/>
          <p:nvPr/>
        </p:nvSpPr>
        <p:spPr>
          <a:xfrm>
            <a:off x="9418320" y="2212848"/>
            <a:ext cx="2011680" cy="4572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CADCFC"/>
              </a:buClr>
              <a:buSzPts val="1100"/>
              <a:buFont typeface="Calibri"/>
              <a:buNone/>
            </a:pPr>
            <a:r>
              <a:rPr lang="en-US" sz="1100" b="0" i="0" u="none" strike="noStrike" cap="none">
                <a:solidFill>
                  <a:srgbClr val="CADCFC"/>
                </a:solidFill>
                <a:latin typeface="Calibri"/>
                <a:ea typeface="Calibri"/>
                <a:cs typeface="Calibri"/>
                <a:sym typeface="Calibri"/>
              </a:rPr>
              <a:t>puertas disponibles</a:t>
            </a:r>
            <a:endParaRPr sz="1100" b="0" i="0" u="none" strike="noStrike" cap="none">
              <a:solidFill>
                <a:schemeClr val="dk1"/>
              </a:solidFill>
              <a:latin typeface="Calibri"/>
              <a:ea typeface="Calibri"/>
              <a:cs typeface="Calibri"/>
              <a:sym typeface="Calibri"/>
            </a:endParaRPr>
          </a:p>
        </p:txBody>
      </p:sp>
      <p:sp>
        <p:nvSpPr>
          <p:cNvPr id="48" name="Google Shape;48;p2"/>
          <p:cNvSpPr txBox="1"/>
          <p:nvPr/>
        </p:nvSpPr>
        <p:spPr>
          <a:xfrm>
            <a:off x="7315200" y="2971800"/>
            <a:ext cx="411480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3200"/>
              <a:buFont typeface="Cambria"/>
              <a:buNone/>
            </a:pPr>
            <a:r>
              <a:rPr lang="en-US" sz="3200" b="1" i="0" u="none" strike="noStrike" cap="none">
                <a:solidFill>
                  <a:srgbClr val="FFFFFF"/>
                </a:solidFill>
                <a:latin typeface="Cambria"/>
                <a:ea typeface="Cambria"/>
                <a:cs typeface="Cambria"/>
                <a:sym typeface="Cambria"/>
              </a:rPr>
              <a:t>1,09 × 10¹⁴</a:t>
            </a:r>
            <a:endParaRPr sz="3200" b="0" i="0" u="none" strike="noStrike" cap="none">
              <a:solidFill>
                <a:schemeClr val="dk1"/>
              </a:solidFill>
              <a:latin typeface="Calibri"/>
              <a:ea typeface="Calibri"/>
              <a:cs typeface="Calibri"/>
              <a:sym typeface="Calibri"/>
            </a:endParaRPr>
          </a:p>
        </p:txBody>
      </p:sp>
      <p:sp>
        <p:nvSpPr>
          <p:cNvPr id="49" name="Google Shape;49;p2"/>
          <p:cNvSpPr txBox="1"/>
          <p:nvPr/>
        </p:nvSpPr>
        <p:spPr>
          <a:xfrm>
            <a:off x="7315200" y="3630168"/>
            <a:ext cx="4114800" cy="4572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CADCFC"/>
              </a:buClr>
              <a:buSzPts val="1100"/>
              <a:buFont typeface="Calibri"/>
              <a:buNone/>
            </a:pPr>
            <a:r>
              <a:rPr lang="en-US" sz="1100" b="0" i="0" u="none" strike="noStrike" cap="none">
                <a:solidFill>
                  <a:srgbClr val="CADCFC"/>
                </a:solidFill>
                <a:latin typeface="Calibri"/>
                <a:ea typeface="Calibri"/>
                <a:cs typeface="Calibri"/>
                <a:sym typeface="Calibri"/>
              </a:rPr>
              <a:t>programaciones distintas posibles</a:t>
            </a:r>
            <a:endParaRPr sz="1100" b="0" i="0" u="none" strike="noStrike" cap="none">
              <a:solidFill>
                <a:schemeClr val="dk1"/>
              </a:solidFill>
              <a:latin typeface="Calibri"/>
              <a:ea typeface="Calibri"/>
              <a:cs typeface="Calibri"/>
              <a:sym typeface="Calibri"/>
            </a:endParaRPr>
          </a:p>
        </p:txBody>
      </p:sp>
      <p:sp>
        <p:nvSpPr>
          <p:cNvPr id="50" name="Google Shape;50;p2"/>
          <p:cNvSpPr txBox="1"/>
          <p:nvPr/>
        </p:nvSpPr>
        <p:spPr>
          <a:xfrm>
            <a:off x="7315200" y="4114800"/>
            <a:ext cx="411480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ADCFC"/>
              </a:buClr>
              <a:buSzPts val="1100"/>
              <a:buFont typeface="Calibri"/>
              <a:buNone/>
            </a:pPr>
            <a:r>
              <a:rPr lang="en-US" sz="1100" b="0" i="0" u="none" strike="noStrike" cap="none">
                <a:solidFill>
                  <a:srgbClr val="CADCFC"/>
                </a:solidFill>
                <a:latin typeface="Calibri"/>
                <a:ea typeface="Calibri"/>
                <a:cs typeface="Calibri"/>
                <a:sym typeface="Calibri"/>
              </a:rPr>
              <a:t>La enumeración exhaustiva es inviable: se justifica una metaheurística poblacional.</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5"/>
        <p:cNvGrpSpPr/>
        <p:nvPr/>
      </p:nvGrpSpPr>
      <p:grpSpPr>
        <a:xfrm>
          <a:off x="0" y="0"/>
          <a:ext cx="0" cy="0"/>
          <a:chOff x="0" y="0"/>
          <a:chExt cx="0" cy="0"/>
        </a:xfrm>
      </p:grpSpPr>
      <p:sp>
        <p:nvSpPr>
          <p:cNvPr id="56" name="Google Shape;56;p3"/>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REPRESENTACIÓN</a:t>
            </a:r>
            <a:endParaRPr sz="1100" b="0" i="0" u="none" strike="noStrike" cap="none">
              <a:solidFill>
                <a:schemeClr val="dk1"/>
              </a:solidFill>
              <a:latin typeface="Calibri"/>
              <a:ea typeface="Calibri"/>
              <a:cs typeface="Calibri"/>
              <a:sym typeface="Calibri"/>
            </a:endParaRPr>
          </a:p>
        </p:txBody>
      </p:sp>
      <p:sp>
        <p:nvSpPr>
          <p:cNvPr id="57" name="Google Shape;57;p3"/>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Individuo, gen, alelo y fitness</a:t>
            </a:r>
            <a:endParaRPr sz="3000" b="0" i="0" u="none" strike="noStrike" cap="none">
              <a:solidFill>
                <a:schemeClr val="dk1"/>
              </a:solidFill>
              <a:latin typeface="Calibri"/>
              <a:ea typeface="Calibri"/>
              <a:cs typeface="Calibri"/>
              <a:sym typeface="Calibri"/>
            </a:endParaRPr>
          </a:p>
        </p:txBody>
      </p:sp>
      <p:pic>
        <p:nvPicPr>
          <p:cNvPr id="58" name="Google Shape;58;p3" descr="C:/Users/Ampue/Documents/PUCP/Diplomado IA/computacion_evolutiva/trabajo_final/Archivos Base/EjemploIndividuoAvion.jpg"/>
          <p:cNvPicPr preferRelativeResize="0"/>
          <p:nvPr/>
        </p:nvPicPr>
        <p:blipFill rotWithShape="1">
          <a:blip r:embed="rId3">
            <a:alphaModFix/>
          </a:blip>
          <a:srcRect/>
          <a:stretch/>
        </p:blipFill>
        <p:spPr>
          <a:xfrm>
            <a:off x="548640" y="1280160"/>
            <a:ext cx="4846320" cy="3858768"/>
          </a:xfrm>
          <a:prstGeom prst="rect">
            <a:avLst/>
          </a:prstGeom>
          <a:noFill/>
          <a:ln>
            <a:noFill/>
          </a:ln>
        </p:spPr>
      </p:pic>
      <p:sp>
        <p:nvSpPr>
          <p:cNvPr id="59" name="Google Shape;59;p3"/>
          <p:cNvSpPr txBox="1"/>
          <p:nvPr/>
        </p:nvSpPr>
        <p:spPr>
          <a:xfrm>
            <a:off x="548640" y="5212080"/>
            <a:ext cx="4846320" cy="3200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A6B7B"/>
              </a:buClr>
              <a:buSzPts val="1100"/>
              <a:buFont typeface="Calibri"/>
              <a:buNone/>
            </a:pPr>
            <a:r>
              <a:rPr lang="en-US" sz="1100" b="0" i="1" u="none" strike="noStrike" cap="none">
                <a:solidFill>
                  <a:srgbClr val="5A6B7B"/>
                </a:solidFill>
                <a:latin typeface="Calibri"/>
                <a:ea typeface="Calibri"/>
                <a:cs typeface="Calibri"/>
                <a:sym typeface="Calibri"/>
              </a:rPr>
              <a:t>El cromosoma son dos listas paralelas de largo K = 10.</a:t>
            </a:r>
            <a:endParaRPr sz="1100" b="0" i="0" u="none" strike="noStrike" cap="none">
              <a:solidFill>
                <a:schemeClr val="dk1"/>
              </a:solidFill>
              <a:latin typeface="Calibri"/>
              <a:ea typeface="Calibri"/>
              <a:cs typeface="Calibri"/>
              <a:sym typeface="Calibri"/>
            </a:endParaRPr>
          </a:p>
        </p:txBody>
      </p:sp>
      <p:sp>
        <p:nvSpPr>
          <p:cNvPr id="60" name="Google Shape;60;p3"/>
          <p:cNvSpPr/>
          <p:nvPr/>
        </p:nvSpPr>
        <p:spPr>
          <a:xfrm>
            <a:off x="5852160" y="1362456"/>
            <a:ext cx="384048" cy="384048"/>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p:nvPr/>
        </p:nvSpPr>
        <p:spPr>
          <a:xfrm>
            <a:off x="5852160" y="1362456"/>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I</a:t>
            </a:r>
            <a:endParaRPr sz="1100" b="0" i="0" u="none" strike="noStrike" cap="none">
              <a:solidFill>
                <a:schemeClr val="dk1"/>
              </a:solidFill>
              <a:latin typeface="Calibri"/>
              <a:ea typeface="Calibri"/>
              <a:cs typeface="Calibri"/>
              <a:sym typeface="Calibri"/>
            </a:endParaRPr>
          </a:p>
        </p:txBody>
      </p:sp>
      <p:sp>
        <p:nvSpPr>
          <p:cNvPr id="62" name="Google Shape;62;p3"/>
          <p:cNvSpPr txBox="1"/>
          <p:nvPr/>
        </p:nvSpPr>
        <p:spPr>
          <a:xfrm>
            <a:off x="6400800" y="1325880"/>
            <a:ext cx="52578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400"/>
              <a:buFont typeface="Calibri"/>
              <a:buNone/>
            </a:pPr>
            <a:r>
              <a:rPr lang="en-US" sz="1400" b="1" i="0" u="none" strike="noStrike" cap="none">
                <a:solidFill>
                  <a:srgbClr val="1B2733"/>
                </a:solidFill>
                <a:latin typeface="Calibri"/>
                <a:ea typeface="Calibri"/>
                <a:cs typeface="Calibri"/>
                <a:sym typeface="Calibri"/>
              </a:rPr>
              <a:t>Individuo / cromosoma</a:t>
            </a:r>
            <a:endParaRPr sz="1400" b="0" i="0" u="none" strike="noStrike" cap="none">
              <a:solidFill>
                <a:schemeClr val="dk1"/>
              </a:solidFill>
              <a:latin typeface="Calibri"/>
              <a:ea typeface="Calibri"/>
              <a:cs typeface="Calibri"/>
              <a:sym typeface="Calibri"/>
            </a:endParaRPr>
          </a:p>
        </p:txBody>
      </p:sp>
      <p:sp>
        <p:nvSpPr>
          <p:cNvPr id="63" name="Google Shape;63;p3"/>
          <p:cNvSpPr txBox="1"/>
          <p:nvPr/>
        </p:nvSpPr>
        <p:spPr>
          <a:xfrm>
            <a:off x="6400800" y="1600200"/>
            <a:ext cx="5257800" cy="6583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Una programación completa: qué 10 vuelos se atienden y en qué puerta cada uno.</a:t>
            </a:r>
            <a:endParaRPr sz="1200" b="0" i="0" u="none" strike="noStrike" cap="none">
              <a:solidFill>
                <a:schemeClr val="dk1"/>
              </a:solidFill>
              <a:latin typeface="Calibri"/>
              <a:ea typeface="Calibri"/>
              <a:cs typeface="Calibri"/>
              <a:sym typeface="Calibri"/>
            </a:endParaRPr>
          </a:p>
        </p:txBody>
      </p:sp>
      <p:sp>
        <p:nvSpPr>
          <p:cNvPr id="64" name="Google Shape;64;p3"/>
          <p:cNvSpPr/>
          <p:nvPr/>
        </p:nvSpPr>
        <p:spPr>
          <a:xfrm>
            <a:off x="5852160" y="2368296"/>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3"/>
          <p:cNvSpPr txBox="1"/>
          <p:nvPr/>
        </p:nvSpPr>
        <p:spPr>
          <a:xfrm>
            <a:off x="5852160" y="2368296"/>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G</a:t>
            </a:r>
            <a:endParaRPr sz="1100" b="0" i="0" u="none" strike="noStrike" cap="none">
              <a:solidFill>
                <a:schemeClr val="dk1"/>
              </a:solidFill>
              <a:latin typeface="Calibri"/>
              <a:ea typeface="Calibri"/>
              <a:cs typeface="Calibri"/>
              <a:sym typeface="Calibri"/>
            </a:endParaRPr>
          </a:p>
        </p:txBody>
      </p:sp>
      <p:sp>
        <p:nvSpPr>
          <p:cNvPr id="66" name="Google Shape;66;p3"/>
          <p:cNvSpPr txBox="1"/>
          <p:nvPr/>
        </p:nvSpPr>
        <p:spPr>
          <a:xfrm>
            <a:off x="6400800" y="2331720"/>
            <a:ext cx="52578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400"/>
              <a:buFont typeface="Calibri"/>
              <a:buNone/>
            </a:pPr>
            <a:r>
              <a:rPr lang="en-US" sz="1400" b="1" i="0" u="none" strike="noStrike" cap="none">
                <a:solidFill>
                  <a:srgbClr val="1B2733"/>
                </a:solidFill>
                <a:latin typeface="Calibri"/>
                <a:ea typeface="Calibri"/>
                <a:cs typeface="Calibri"/>
                <a:sym typeface="Calibri"/>
              </a:rPr>
              <a:t>Gen</a:t>
            </a:r>
            <a:endParaRPr sz="1400" b="0" i="0" u="none" strike="noStrike" cap="none">
              <a:solidFill>
                <a:schemeClr val="dk1"/>
              </a:solidFill>
              <a:latin typeface="Calibri"/>
              <a:ea typeface="Calibri"/>
              <a:cs typeface="Calibri"/>
              <a:sym typeface="Calibri"/>
            </a:endParaRPr>
          </a:p>
        </p:txBody>
      </p:sp>
      <p:sp>
        <p:nvSpPr>
          <p:cNvPr id="67" name="Google Shape;67;p3"/>
          <p:cNvSpPr txBox="1"/>
          <p:nvPr/>
        </p:nvSpPr>
        <p:spPr>
          <a:xfrm>
            <a:off x="6400800" y="2606040"/>
            <a:ext cx="5257800" cy="6583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La asignación de la posición i: el par (vuelo, puerta). El cromosoma tiene 10 genes.</a:t>
            </a:r>
            <a:endParaRPr sz="1200" b="0" i="0" u="none" strike="noStrike" cap="none">
              <a:solidFill>
                <a:schemeClr val="dk1"/>
              </a:solidFill>
              <a:latin typeface="Calibri"/>
              <a:ea typeface="Calibri"/>
              <a:cs typeface="Calibri"/>
              <a:sym typeface="Calibri"/>
            </a:endParaRPr>
          </a:p>
        </p:txBody>
      </p:sp>
      <p:sp>
        <p:nvSpPr>
          <p:cNvPr id="68" name="Google Shape;68;p3"/>
          <p:cNvSpPr/>
          <p:nvPr/>
        </p:nvSpPr>
        <p:spPr>
          <a:xfrm>
            <a:off x="5852160" y="3374136"/>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txBox="1"/>
          <p:nvPr/>
        </p:nvSpPr>
        <p:spPr>
          <a:xfrm>
            <a:off x="5852160" y="3374136"/>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A</a:t>
            </a:r>
            <a:endParaRPr sz="1100" b="0" i="0" u="none" strike="noStrike" cap="none">
              <a:solidFill>
                <a:schemeClr val="dk1"/>
              </a:solidFill>
              <a:latin typeface="Calibri"/>
              <a:ea typeface="Calibri"/>
              <a:cs typeface="Calibri"/>
              <a:sym typeface="Calibri"/>
            </a:endParaRPr>
          </a:p>
        </p:txBody>
      </p:sp>
      <p:sp>
        <p:nvSpPr>
          <p:cNvPr id="70" name="Google Shape;70;p3"/>
          <p:cNvSpPr txBox="1"/>
          <p:nvPr/>
        </p:nvSpPr>
        <p:spPr>
          <a:xfrm>
            <a:off x="6400800" y="3337560"/>
            <a:ext cx="52578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400"/>
              <a:buFont typeface="Calibri"/>
              <a:buNone/>
            </a:pPr>
            <a:r>
              <a:rPr lang="en-US" sz="1400" b="1" i="0" u="none" strike="noStrike" cap="none">
                <a:solidFill>
                  <a:srgbClr val="1B2733"/>
                </a:solidFill>
                <a:latin typeface="Calibri"/>
                <a:ea typeface="Calibri"/>
                <a:cs typeface="Calibri"/>
                <a:sym typeface="Calibri"/>
              </a:rPr>
              <a:t>Alelo</a:t>
            </a:r>
            <a:endParaRPr sz="1400" b="0" i="0" u="none" strike="noStrike" cap="none">
              <a:solidFill>
                <a:schemeClr val="dk1"/>
              </a:solidFill>
              <a:latin typeface="Calibri"/>
              <a:ea typeface="Calibri"/>
              <a:cs typeface="Calibri"/>
              <a:sym typeface="Calibri"/>
            </a:endParaRPr>
          </a:p>
        </p:txBody>
      </p:sp>
      <p:sp>
        <p:nvSpPr>
          <p:cNvPr id="71" name="Google Shape;71;p3"/>
          <p:cNvSpPr txBox="1"/>
          <p:nvPr/>
        </p:nvSpPr>
        <p:spPr>
          <a:xfrm>
            <a:off x="6400800" y="3611880"/>
            <a:ext cx="5257800" cy="6583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Cualquier par formable con los catálogos: 30 × 10 = 300 valores posibles por gen.</a:t>
            </a:r>
            <a:endParaRPr sz="1200" b="0" i="0" u="none" strike="noStrike" cap="none">
              <a:solidFill>
                <a:schemeClr val="dk1"/>
              </a:solidFill>
              <a:latin typeface="Calibri"/>
              <a:ea typeface="Calibri"/>
              <a:cs typeface="Calibri"/>
              <a:sym typeface="Calibri"/>
            </a:endParaRPr>
          </a:p>
        </p:txBody>
      </p:sp>
      <p:sp>
        <p:nvSpPr>
          <p:cNvPr id="72" name="Google Shape;72;p3"/>
          <p:cNvSpPr/>
          <p:nvPr/>
        </p:nvSpPr>
        <p:spPr>
          <a:xfrm>
            <a:off x="5852160" y="4379976"/>
            <a:ext cx="384048" cy="384048"/>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txBox="1"/>
          <p:nvPr/>
        </p:nvSpPr>
        <p:spPr>
          <a:xfrm>
            <a:off x="5852160" y="4379976"/>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F</a:t>
            </a:r>
            <a:endParaRPr sz="1100" b="0" i="0" u="none" strike="noStrike" cap="none">
              <a:solidFill>
                <a:schemeClr val="dk1"/>
              </a:solidFill>
              <a:latin typeface="Calibri"/>
              <a:ea typeface="Calibri"/>
              <a:cs typeface="Calibri"/>
              <a:sym typeface="Calibri"/>
            </a:endParaRPr>
          </a:p>
        </p:txBody>
      </p:sp>
      <p:sp>
        <p:nvSpPr>
          <p:cNvPr id="74" name="Google Shape;74;p3"/>
          <p:cNvSpPr txBox="1"/>
          <p:nvPr/>
        </p:nvSpPr>
        <p:spPr>
          <a:xfrm>
            <a:off x="6400800" y="4343400"/>
            <a:ext cx="52578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400"/>
              <a:buFont typeface="Calibri"/>
              <a:buNone/>
            </a:pPr>
            <a:r>
              <a:rPr lang="en-US" sz="1400" b="1" i="0" u="none" strike="noStrike" cap="none">
                <a:solidFill>
                  <a:srgbClr val="1B2733"/>
                </a:solidFill>
                <a:latin typeface="Calibri"/>
                <a:ea typeface="Calibri"/>
                <a:cs typeface="Calibri"/>
                <a:sym typeface="Calibri"/>
              </a:rPr>
              <a:t>Fitness</a:t>
            </a:r>
            <a:endParaRPr sz="1400" b="0" i="0" u="none" strike="noStrike" cap="none">
              <a:solidFill>
                <a:schemeClr val="dk1"/>
              </a:solidFill>
              <a:latin typeface="Calibri"/>
              <a:ea typeface="Calibri"/>
              <a:cs typeface="Calibri"/>
              <a:sym typeface="Calibri"/>
            </a:endParaRPr>
          </a:p>
        </p:txBody>
      </p:sp>
      <p:sp>
        <p:nvSpPr>
          <p:cNvPr id="75" name="Google Shape;75;p3"/>
          <p:cNvSpPr txBox="1"/>
          <p:nvPr/>
        </p:nvSpPr>
        <p:spPr>
          <a:xfrm>
            <a:off x="6400800" y="4617720"/>
            <a:ext cx="5257800" cy="6583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Suma sobre las 10 asignaciones de pasajeros ÷ tiempo de desembarque.</a:t>
            </a:r>
            <a:endParaRPr sz="1200" b="0" i="0" u="none" strike="noStrike" cap="none">
              <a:solidFill>
                <a:schemeClr val="dk1"/>
              </a:solidFill>
              <a:latin typeface="Calibri"/>
              <a:ea typeface="Calibri"/>
              <a:cs typeface="Calibri"/>
              <a:sym typeface="Calibri"/>
            </a:endParaRPr>
          </a:p>
        </p:txBody>
      </p:sp>
      <p:sp>
        <p:nvSpPr>
          <p:cNvPr id="76" name="Google Shape;76;p3"/>
          <p:cNvSpPr/>
          <p:nvPr/>
        </p:nvSpPr>
        <p:spPr>
          <a:xfrm>
            <a:off x="5852160" y="5394960"/>
            <a:ext cx="5806440" cy="685800"/>
          </a:xfrm>
          <a:prstGeom prst="roundRect">
            <a:avLst>
              <a:gd name="adj" fmla="val 10667"/>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3"/>
          <p:cNvSpPr txBox="1"/>
          <p:nvPr/>
        </p:nvSpPr>
        <p:spPr>
          <a:xfrm>
            <a:off x="6080760" y="5394960"/>
            <a:ext cx="534924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9E6B"/>
              </a:buClr>
              <a:buSzPts val="1250"/>
              <a:buFont typeface="Calibri"/>
              <a:buNone/>
            </a:pPr>
            <a:r>
              <a:rPr lang="en-US" sz="1250" b="1" i="0" u="none" strike="noStrike" cap="none">
                <a:solidFill>
                  <a:srgbClr val="2E9E6B"/>
                </a:solidFill>
                <a:latin typeface="Calibri"/>
                <a:ea typeface="Calibri"/>
                <a:cs typeface="Calibri"/>
                <a:sym typeface="Calibri"/>
              </a:rPr>
              <a:t>Validez: </a:t>
            </a:r>
            <a:r>
              <a:rPr lang="en-US" sz="1250" b="0" i="0" u="none" strike="noStrike" cap="none">
                <a:solidFill>
                  <a:srgbClr val="1B2733"/>
                </a:solidFill>
                <a:latin typeface="Calibri"/>
                <a:ea typeface="Calibri"/>
                <a:cs typeface="Calibri"/>
                <a:sym typeface="Calibri"/>
              </a:rPr>
              <a:t>vuelos distintos y puertas distintas. Una puerta no puede recibir dos aviones a la vez.</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2B46"/>
        </a:solidFill>
        <a:effectLst/>
      </p:bgPr>
    </p:bg>
    <p:spTree>
      <p:nvGrpSpPr>
        <p:cNvPr id="1" name="Shape 111"/>
        <p:cNvGrpSpPr/>
        <p:nvPr/>
      </p:nvGrpSpPr>
      <p:grpSpPr>
        <a:xfrm>
          <a:off x="0" y="0"/>
          <a:ext cx="0" cy="0"/>
          <a:chOff x="0" y="0"/>
          <a:chExt cx="0" cy="0"/>
        </a:xfrm>
      </p:grpSpPr>
      <p:sp>
        <p:nvSpPr>
          <p:cNvPr id="112" name="Google Shape;112;p5"/>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100"/>
              <a:buFont typeface="Calibri"/>
              <a:buNone/>
            </a:pPr>
            <a:r>
              <a:rPr lang="en-US" sz="1100" b="1" i="0" u="none" strike="noStrike" cap="none">
                <a:solidFill>
                  <a:srgbClr val="F2A65A"/>
                </a:solidFill>
                <a:latin typeface="Calibri"/>
                <a:ea typeface="Calibri"/>
                <a:cs typeface="Calibri"/>
                <a:sym typeface="Calibri"/>
              </a:rPr>
              <a:t>HIPÓTESIS</a:t>
            </a:r>
            <a:endParaRPr sz="1100" b="0" i="0" u="none" strike="noStrike" cap="none">
              <a:solidFill>
                <a:schemeClr val="dk1"/>
              </a:solidFill>
              <a:latin typeface="Calibri"/>
              <a:ea typeface="Calibri"/>
              <a:cs typeface="Calibri"/>
              <a:sym typeface="Calibri"/>
            </a:endParaRPr>
          </a:p>
        </p:txBody>
      </p:sp>
      <p:sp>
        <p:nvSpPr>
          <p:cNvPr id="113" name="Google Shape;113;p5"/>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000"/>
              <a:buFont typeface="Cambria"/>
              <a:buNone/>
            </a:pPr>
            <a:r>
              <a:rPr lang="en-US" sz="3000" b="1" i="0" u="none" strike="noStrike" cap="none">
                <a:solidFill>
                  <a:srgbClr val="FFFFFF"/>
                </a:solidFill>
                <a:latin typeface="Cambria"/>
                <a:ea typeface="Cambria"/>
                <a:cs typeface="Cambria"/>
                <a:sym typeface="Cambria"/>
              </a:rPr>
              <a:t>Qué esperábamos demostrar</a:t>
            </a:r>
            <a:endParaRPr sz="3000" b="0" i="0" u="none" strike="noStrike" cap="none">
              <a:solidFill>
                <a:schemeClr val="dk1"/>
              </a:solidFill>
              <a:latin typeface="Calibri"/>
              <a:ea typeface="Calibri"/>
              <a:cs typeface="Calibri"/>
              <a:sym typeface="Calibri"/>
            </a:endParaRPr>
          </a:p>
        </p:txBody>
      </p:sp>
      <p:sp>
        <p:nvSpPr>
          <p:cNvPr id="114" name="Google Shape;114;p5"/>
          <p:cNvSpPr/>
          <p:nvPr/>
        </p:nvSpPr>
        <p:spPr>
          <a:xfrm>
            <a:off x="548640" y="1417320"/>
            <a:ext cx="11109960" cy="1280160"/>
          </a:xfrm>
          <a:prstGeom prst="roundRect">
            <a:avLst>
              <a:gd name="adj" fmla="val 5714"/>
            </a:avLst>
          </a:prstGeom>
          <a:solidFill>
            <a:srgbClr val="17395B"/>
          </a:solidFill>
          <a:ln w="12700" cap="flat" cmpd="sng">
            <a:solidFill>
              <a:srgbClr val="1739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5"/>
          <p:cNvSpPr txBox="1"/>
          <p:nvPr/>
        </p:nvSpPr>
        <p:spPr>
          <a:xfrm>
            <a:off x="914400" y="1691640"/>
            <a:ext cx="9144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3000"/>
              <a:buFont typeface="Cambria"/>
              <a:buNone/>
            </a:pPr>
            <a:r>
              <a:rPr lang="en-US" sz="3000" b="1" i="0" u="none" strike="noStrike" cap="none">
                <a:solidFill>
                  <a:srgbClr val="F2A65A"/>
                </a:solidFill>
                <a:latin typeface="Cambria"/>
                <a:ea typeface="Cambria"/>
                <a:cs typeface="Cambria"/>
                <a:sym typeface="Cambria"/>
              </a:rPr>
              <a:t>H1</a:t>
            </a:r>
            <a:endParaRPr sz="3000" b="0" i="0" u="none" strike="noStrike" cap="none">
              <a:solidFill>
                <a:schemeClr val="dk1"/>
              </a:solidFill>
              <a:latin typeface="Calibri"/>
              <a:ea typeface="Calibri"/>
              <a:cs typeface="Calibri"/>
              <a:sym typeface="Calibri"/>
            </a:endParaRPr>
          </a:p>
        </p:txBody>
      </p:sp>
      <p:sp>
        <p:nvSpPr>
          <p:cNvPr id="116" name="Google Shape;116;p5"/>
          <p:cNvSpPr txBox="1"/>
          <p:nvPr/>
        </p:nvSpPr>
        <p:spPr>
          <a:xfrm>
            <a:off x="1920240" y="1600200"/>
            <a:ext cx="9326880" cy="9144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FFFFFF"/>
              </a:buClr>
              <a:buSzPts val="1400"/>
              <a:buFont typeface="Calibri"/>
              <a:buNone/>
            </a:pPr>
            <a:r>
              <a:rPr lang="en-US" sz="1400" b="0" i="0" u="none" strike="noStrike" cap="none">
                <a:solidFill>
                  <a:srgbClr val="FFFFFF"/>
                </a:solidFill>
                <a:latin typeface="Calibri"/>
                <a:ea typeface="Calibri"/>
                <a:cs typeface="Calibri"/>
                <a:sym typeface="Calibri"/>
              </a:rPr>
              <a:t>Heredar la asignación completa (vuelo, puerta) y reparar los conflictos entrega el 100 % de soluciones factibles. El fitness reportado bajará, porque el del código base es inalcanzable.</a:t>
            </a:r>
            <a:endParaRPr sz="1400" b="0" i="0" u="none" strike="noStrike" cap="none">
              <a:solidFill>
                <a:schemeClr val="dk1"/>
              </a:solidFill>
              <a:latin typeface="Calibri"/>
              <a:ea typeface="Calibri"/>
              <a:cs typeface="Calibri"/>
              <a:sym typeface="Calibri"/>
            </a:endParaRPr>
          </a:p>
        </p:txBody>
      </p:sp>
      <p:sp>
        <p:nvSpPr>
          <p:cNvPr id="117" name="Google Shape;117;p5"/>
          <p:cNvSpPr/>
          <p:nvPr/>
        </p:nvSpPr>
        <p:spPr>
          <a:xfrm>
            <a:off x="548640" y="2926080"/>
            <a:ext cx="11109960" cy="1280160"/>
          </a:xfrm>
          <a:prstGeom prst="roundRect">
            <a:avLst>
              <a:gd name="adj" fmla="val 5714"/>
            </a:avLst>
          </a:prstGeom>
          <a:solidFill>
            <a:srgbClr val="17395B"/>
          </a:solidFill>
          <a:ln w="12700" cap="flat" cmpd="sng">
            <a:solidFill>
              <a:srgbClr val="1739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5"/>
          <p:cNvSpPr txBox="1"/>
          <p:nvPr/>
        </p:nvSpPr>
        <p:spPr>
          <a:xfrm>
            <a:off x="914400" y="3200400"/>
            <a:ext cx="9144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3000"/>
              <a:buFont typeface="Cambria"/>
              <a:buNone/>
            </a:pPr>
            <a:r>
              <a:rPr lang="en-US" sz="3000" b="1" i="0" u="none" strike="noStrike" cap="none">
                <a:solidFill>
                  <a:srgbClr val="F2A65A"/>
                </a:solidFill>
                <a:latin typeface="Cambria"/>
                <a:ea typeface="Cambria"/>
                <a:cs typeface="Cambria"/>
                <a:sym typeface="Cambria"/>
              </a:rPr>
              <a:t>H2</a:t>
            </a:r>
            <a:endParaRPr sz="3000" b="0" i="0" u="none" strike="noStrike" cap="none">
              <a:solidFill>
                <a:schemeClr val="dk1"/>
              </a:solidFill>
              <a:latin typeface="Calibri"/>
              <a:ea typeface="Calibri"/>
              <a:cs typeface="Calibri"/>
              <a:sym typeface="Calibri"/>
            </a:endParaRPr>
          </a:p>
        </p:txBody>
      </p:sp>
      <p:sp>
        <p:nvSpPr>
          <p:cNvPr id="119" name="Google Shape;119;p5"/>
          <p:cNvSpPr txBox="1"/>
          <p:nvPr/>
        </p:nvSpPr>
        <p:spPr>
          <a:xfrm>
            <a:off x="1920240" y="3108960"/>
            <a:ext cx="9326880" cy="9144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FFFFFF"/>
              </a:buClr>
              <a:buSzPts val="1400"/>
              <a:buFont typeface="Calibri"/>
              <a:buNone/>
            </a:pPr>
            <a:r>
              <a:rPr lang="en-US" sz="1400" b="0" i="0" u="none" strike="noStrike" cap="none">
                <a:solidFill>
                  <a:srgbClr val="FFFFFF"/>
                </a:solidFill>
                <a:latin typeface="Calibri"/>
                <a:ea typeface="Calibri"/>
                <a:cs typeface="Calibri"/>
                <a:sym typeface="Calibri"/>
              </a:rPr>
              <a:t>Mutar de forma localizada —un solo nivel por evento, vuelos o puertas— sostiene la exploración, reduce el estancamiento y aumenta la frecuencia con que se alcanza el óptimo exacto.</a:t>
            </a:r>
            <a:endParaRPr sz="1400" b="0" i="0" u="none" strike="noStrike" cap="none">
              <a:solidFill>
                <a:schemeClr val="dk1"/>
              </a:solidFill>
              <a:latin typeface="Calibri"/>
              <a:ea typeface="Calibri"/>
              <a:cs typeface="Calibri"/>
              <a:sym typeface="Calibri"/>
            </a:endParaRPr>
          </a:p>
        </p:txBody>
      </p:sp>
      <p:sp>
        <p:nvSpPr>
          <p:cNvPr id="120" name="Google Shape;120;p5"/>
          <p:cNvSpPr/>
          <p:nvPr/>
        </p:nvSpPr>
        <p:spPr>
          <a:xfrm>
            <a:off x="548640" y="4434840"/>
            <a:ext cx="11109960" cy="1280160"/>
          </a:xfrm>
          <a:prstGeom prst="roundRect">
            <a:avLst>
              <a:gd name="adj" fmla="val 5714"/>
            </a:avLst>
          </a:prstGeom>
          <a:solidFill>
            <a:srgbClr val="17395B"/>
          </a:solidFill>
          <a:ln w="12700" cap="flat" cmpd="sng">
            <a:solidFill>
              <a:srgbClr val="1739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5"/>
          <p:cNvSpPr txBox="1"/>
          <p:nvPr/>
        </p:nvSpPr>
        <p:spPr>
          <a:xfrm>
            <a:off x="914400" y="4709160"/>
            <a:ext cx="9144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3000"/>
              <a:buFont typeface="Cambria"/>
              <a:buNone/>
            </a:pPr>
            <a:r>
              <a:rPr lang="en-US" sz="3000" b="1" i="0" u="none" strike="noStrike" cap="none">
                <a:solidFill>
                  <a:srgbClr val="F2A65A"/>
                </a:solidFill>
                <a:latin typeface="Cambria"/>
                <a:ea typeface="Cambria"/>
                <a:cs typeface="Cambria"/>
                <a:sym typeface="Cambria"/>
              </a:rPr>
              <a:t>H3</a:t>
            </a:r>
            <a:endParaRPr sz="3000" b="0" i="0" u="none" strike="noStrike" cap="none">
              <a:solidFill>
                <a:schemeClr val="dk1"/>
              </a:solidFill>
              <a:latin typeface="Calibri"/>
              <a:ea typeface="Calibri"/>
              <a:cs typeface="Calibri"/>
              <a:sym typeface="Calibri"/>
            </a:endParaRPr>
          </a:p>
        </p:txBody>
      </p:sp>
      <p:sp>
        <p:nvSpPr>
          <p:cNvPr id="122" name="Google Shape;122;p5"/>
          <p:cNvSpPr txBox="1"/>
          <p:nvPr/>
        </p:nvSpPr>
        <p:spPr>
          <a:xfrm>
            <a:off x="1920240" y="4617720"/>
            <a:ext cx="9326880" cy="9144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FFFFFF"/>
              </a:buClr>
              <a:buSzPts val="1400"/>
              <a:buFont typeface="Calibri"/>
              <a:buNone/>
            </a:pPr>
            <a:r>
              <a:rPr lang="en-US" sz="1400" b="0" i="0" u="none" strike="noStrike" cap="none">
                <a:solidFill>
                  <a:srgbClr val="FFFFFF"/>
                </a:solidFill>
                <a:latin typeface="Calibri"/>
                <a:ea typeface="Calibri"/>
                <a:cs typeface="Calibri"/>
                <a:sym typeface="Calibri"/>
              </a:rPr>
              <a:t>Optimizar pasajeros y tiempo por separado con NSGA-II expone el compromiso que una única función agregada oculta, y encontrará soluciones que dominan al óptimo mono-objetivo.</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7"/>
        <p:cNvGrpSpPr/>
        <p:nvPr/>
      </p:nvGrpSpPr>
      <p:grpSpPr>
        <a:xfrm>
          <a:off x="0" y="0"/>
          <a:ext cx="0" cy="0"/>
          <a:chOff x="0" y="0"/>
          <a:chExt cx="0" cy="0"/>
        </a:xfrm>
      </p:grpSpPr>
      <p:sp>
        <p:nvSpPr>
          <p:cNvPr id="128" name="Google Shape;128;p6"/>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REDISEÑO · 1 DE 3</a:t>
            </a:r>
            <a:endParaRPr sz="1100" b="0" i="0" u="none" strike="noStrike" cap="none">
              <a:solidFill>
                <a:schemeClr val="dk1"/>
              </a:solidFill>
              <a:latin typeface="Calibri"/>
              <a:ea typeface="Calibri"/>
              <a:cs typeface="Calibri"/>
              <a:sym typeface="Calibri"/>
            </a:endParaRPr>
          </a:p>
        </p:txBody>
      </p:sp>
      <p:sp>
        <p:nvSpPr>
          <p:cNvPr id="129" name="Google Shape;129;p6"/>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Cambiar qué se hereda</a:t>
            </a:r>
            <a:endParaRPr sz="3000" b="0" i="0" u="none" strike="noStrike" cap="none">
              <a:solidFill>
                <a:schemeClr val="dk1"/>
              </a:solidFill>
              <a:latin typeface="Calibri"/>
              <a:ea typeface="Calibri"/>
              <a:cs typeface="Calibri"/>
              <a:sym typeface="Calibri"/>
            </a:endParaRPr>
          </a:p>
        </p:txBody>
      </p:sp>
      <p:sp>
        <p:nvSpPr>
          <p:cNvPr id="130" name="Google Shape;130;p6"/>
          <p:cNvSpPr/>
          <p:nvPr/>
        </p:nvSpPr>
        <p:spPr>
          <a:xfrm>
            <a:off x="548640" y="1280160"/>
            <a:ext cx="5394960" cy="4480560"/>
          </a:xfrm>
          <a:prstGeom prst="roundRect">
            <a:avLst>
              <a:gd name="adj" fmla="val 1633"/>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6"/>
          <p:cNvSpPr txBox="1"/>
          <p:nvPr/>
        </p:nvSpPr>
        <p:spPr>
          <a:xfrm>
            <a:off x="868680" y="1508760"/>
            <a:ext cx="475488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64550"/>
              </a:buClr>
              <a:buSzPts val="1400"/>
              <a:buFont typeface="Calibri"/>
              <a:buNone/>
            </a:pPr>
            <a:r>
              <a:rPr lang="en-US" sz="1400" b="1" i="0" u="none" strike="noStrike" cap="none">
                <a:solidFill>
                  <a:srgbClr val="D64550"/>
                </a:solidFill>
                <a:latin typeface="Calibri"/>
                <a:ea typeface="Calibri"/>
                <a:cs typeface="Calibri"/>
                <a:sym typeface="Calibri"/>
              </a:rPr>
              <a:t>ANTES · el gen era la puerta</a:t>
            </a:r>
            <a:endParaRPr sz="1400" b="0" i="0" u="none" strike="noStrike" cap="none">
              <a:solidFill>
                <a:schemeClr val="dk1"/>
              </a:solidFill>
              <a:latin typeface="Calibri"/>
              <a:ea typeface="Calibri"/>
              <a:cs typeface="Calibri"/>
              <a:sym typeface="Calibri"/>
            </a:endParaRPr>
          </a:p>
        </p:txBody>
      </p:sp>
      <p:sp>
        <p:nvSpPr>
          <p:cNvPr id="132" name="Google Shape;132;p6"/>
          <p:cNvSpPr txBox="1"/>
          <p:nvPr/>
        </p:nvSpPr>
        <p:spPr>
          <a:xfrm>
            <a:off x="914400" y="2011680"/>
            <a:ext cx="1005840" cy="411480"/>
          </a:xfrm>
          <a:prstGeom prst="rect">
            <a:avLst/>
          </a:prstGeom>
          <a:solidFill>
            <a:srgbClr val="E4E9EE"/>
          </a:solidFill>
          <a:ln>
            <a:noFill/>
          </a:ln>
        </p:spPr>
        <p:txBody>
          <a:bodyPr spcFirstLastPara="1" wrap="square" lIns="0" tIns="0" rIns="0" bIns="0" anchor="ctr" anchorCtr="0">
            <a:noAutofit/>
          </a:bodyPr>
          <a:lstStyle/>
          <a:p>
            <a:pPr marL="0" marR="0" lvl="0" indent="0" algn="ctr" rtl="0">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F17</a:t>
            </a:r>
            <a:endParaRPr sz="1200" b="0" i="0" u="none" strike="noStrike" cap="none">
              <a:solidFill>
                <a:schemeClr val="dk1"/>
              </a:solidFill>
              <a:latin typeface="Calibri"/>
              <a:ea typeface="Calibri"/>
              <a:cs typeface="Calibri"/>
              <a:sym typeface="Calibri"/>
            </a:endParaRPr>
          </a:p>
        </p:txBody>
      </p:sp>
      <p:sp>
        <p:nvSpPr>
          <p:cNvPr id="133" name="Google Shape;133;p6"/>
          <p:cNvSpPr txBox="1"/>
          <p:nvPr/>
        </p:nvSpPr>
        <p:spPr>
          <a:xfrm>
            <a:off x="2103120" y="2011680"/>
            <a:ext cx="1005840" cy="411480"/>
          </a:xfrm>
          <a:prstGeom prst="rect">
            <a:avLst/>
          </a:prstGeom>
          <a:solidFill>
            <a:srgbClr val="E4E9EE"/>
          </a:solidFill>
          <a:ln>
            <a:noFill/>
          </a:ln>
        </p:spPr>
        <p:txBody>
          <a:bodyPr spcFirstLastPara="1" wrap="square" lIns="0" tIns="0" rIns="0" bIns="0" anchor="ctr" anchorCtr="0">
            <a:noAutofit/>
          </a:bodyPr>
          <a:lstStyle/>
          <a:p>
            <a:pPr marL="0" marR="0" lvl="0" indent="0" algn="ctr" rtl="0">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F03</a:t>
            </a:r>
            <a:endParaRPr sz="1200" b="0" i="0" u="none" strike="noStrike" cap="none">
              <a:solidFill>
                <a:schemeClr val="dk1"/>
              </a:solidFill>
              <a:latin typeface="Calibri"/>
              <a:ea typeface="Calibri"/>
              <a:cs typeface="Calibri"/>
              <a:sym typeface="Calibri"/>
            </a:endParaRPr>
          </a:p>
        </p:txBody>
      </p:sp>
      <p:sp>
        <p:nvSpPr>
          <p:cNvPr id="134" name="Google Shape;134;p6"/>
          <p:cNvSpPr txBox="1"/>
          <p:nvPr/>
        </p:nvSpPr>
        <p:spPr>
          <a:xfrm>
            <a:off x="3291840" y="2011680"/>
            <a:ext cx="1005840" cy="411480"/>
          </a:xfrm>
          <a:prstGeom prst="rect">
            <a:avLst/>
          </a:prstGeom>
          <a:solidFill>
            <a:srgbClr val="E4E9EE"/>
          </a:solidFill>
          <a:ln>
            <a:noFill/>
          </a:ln>
        </p:spPr>
        <p:txBody>
          <a:bodyPr spcFirstLastPara="1" wrap="square" lIns="0" tIns="0" rIns="0" bIns="0" anchor="ctr" anchorCtr="0">
            <a:noAutofit/>
          </a:bodyPr>
          <a:lstStyle/>
          <a:p>
            <a:pPr marL="0" marR="0" lvl="0" indent="0" algn="ctr" rtl="0">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F25</a:t>
            </a:r>
            <a:endParaRPr sz="1200" b="0" i="0" u="none" strike="noStrike" cap="none">
              <a:solidFill>
                <a:schemeClr val="dk1"/>
              </a:solidFill>
              <a:latin typeface="Calibri"/>
              <a:ea typeface="Calibri"/>
              <a:cs typeface="Calibri"/>
              <a:sym typeface="Calibri"/>
            </a:endParaRPr>
          </a:p>
        </p:txBody>
      </p:sp>
      <p:sp>
        <p:nvSpPr>
          <p:cNvPr id="135" name="Google Shape;135;p6"/>
          <p:cNvSpPr txBox="1"/>
          <p:nvPr/>
        </p:nvSpPr>
        <p:spPr>
          <a:xfrm>
            <a:off x="4480560" y="2011680"/>
            <a:ext cx="1005840" cy="411480"/>
          </a:xfrm>
          <a:prstGeom prst="rect">
            <a:avLst/>
          </a:prstGeom>
          <a:solidFill>
            <a:srgbClr val="E4E9EE"/>
          </a:solidFill>
          <a:ln>
            <a:noFill/>
          </a:ln>
        </p:spPr>
        <p:txBody>
          <a:bodyPr spcFirstLastPara="1" wrap="square" lIns="0" tIns="0" rIns="0" bIns="0" anchor="ctr" anchorCtr="0">
            <a:noAutofit/>
          </a:bodyPr>
          <a:lstStyle/>
          <a:p>
            <a:pPr marL="0" marR="0" lvl="0" indent="0" algn="ctr" rtl="0">
              <a:spcBef>
                <a:spcPts val="0"/>
              </a:spcBef>
              <a:spcAft>
                <a:spcPts val="0"/>
              </a:spcAft>
              <a:buClr>
                <a:srgbClr val="5A6B7B"/>
              </a:buClr>
              <a:buSzPts val="1200"/>
              <a:buFont typeface="Calibri"/>
              <a:buNone/>
            </a:pPr>
            <a:r>
              <a:rPr lang="en-US" sz="1200" b="0" i="0" u="none" strike="noStrike" cap="none">
                <a:solidFill>
                  <a:srgbClr val="5A6B7B"/>
                </a:solidFill>
                <a:latin typeface="Calibri"/>
                <a:ea typeface="Calibri"/>
                <a:cs typeface="Calibri"/>
                <a:sym typeface="Calibri"/>
              </a:rPr>
              <a:t>F08</a:t>
            </a:r>
            <a:endParaRPr sz="1200" b="0" i="0" u="none" strike="noStrike" cap="none">
              <a:solidFill>
                <a:schemeClr val="dk1"/>
              </a:solidFill>
              <a:latin typeface="Calibri"/>
              <a:ea typeface="Calibri"/>
              <a:cs typeface="Calibri"/>
              <a:sym typeface="Calibri"/>
            </a:endParaRPr>
          </a:p>
        </p:txBody>
      </p:sp>
      <p:sp>
        <p:nvSpPr>
          <p:cNvPr id="136" name="Google Shape;136;p6"/>
          <p:cNvSpPr txBox="1"/>
          <p:nvPr/>
        </p:nvSpPr>
        <p:spPr>
          <a:xfrm>
            <a:off x="914400" y="2514600"/>
            <a:ext cx="1005840" cy="411480"/>
          </a:xfrm>
          <a:prstGeom prst="rect">
            <a:avLst/>
          </a:prstGeom>
          <a:solidFill>
            <a:srgbClr val="D64550"/>
          </a:solid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G4</a:t>
            </a:r>
            <a:endParaRPr sz="1200" b="0" i="0" u="none" strike="noStrike" cap="none">
              <a:solidFill>
                <a:schemeClr val="dk1"/>
              </a:solidFill>
              <a:latin typeface="Calibri"/>
              <a:ea typeface="Calibri"/>
              <a:cs typeface="Calibri"/>
              <a:sym typeface="Calibri"/>
            </a:endParaRPr>
          </a:p>
        </p:txBody>
      </p:sp>
      <p:sp>
        <p:nvSpPr>
          <p:cNvPr id="137" name="Google Shape;137;p6"/>
          <p:cNvSpPr txBox="1"/>
          <p:nvPr/>
        </p:nvSpPr>
        <p:spPr>
          <a:xfrm>
            <a:off x="2103120" y="2514600"/>
            <a:ext cx="1005840" cy="411480"/>
          </a:xfrm>
          <a:prstGeom prst="rect">
            <a:avLst/>
          </a:prstGeom>
          <a:solidFill>
            <a:srgbClr val="D64550"/>
          </a:solid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G9</a:t>
            </a:r>
            <a:endParaRPr sz="1200" b="0" i="0" u="none" strike="noStrike" cap="none">
              <a:solidFill>
                <a:schemeClr val="dk1"/>
              </a:solidFill>
              <a:latin typeface="Calibri"/>
              <a:ea typeface="Calibri"/>
              <a:cs typeface="Calibri"/>
              <a:sym typeface="Calibri"/>
            </a:endParaRPr>
          </a:p>
        </p:txBody>
      </p:sp>
      <p:sp>
        <p:nvSpPr>
          <p:cNvPr id="138" name="Google Shape;138;p6"/>
          <p:cNvSpPr txBox="1"/>
          <p:nvPr/>
        </p:nvSpPr>
        <p:spPr>
          <a:xfrm>
            <a:off x="3291840" y="2514600"/>
            <a:ext cx="1005840" cy="411480"/>
          </a:xfrm>
          <a:prstGeom prst="rect">
            <a:avLst/>
          </a:prstGeom>
          <a:solidFill>
            <a:srgbClr val="D64550"/>
          </a:solid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G1</a:t>
            </a:r>
            <a:endParaRPr sz="1200" b="0" i="0" u="none" strike="noStrike" cap="none">
              <a:solidFill>
                <a:schemeClr val="dk1"/>
              </a:solidFill>
              <a:latin typeface="Calibri"/>
              <a:ea typeface="Calibri"/>
              <a:cs typeface="Calibri"/>
              <a:sym typeface="Calibri"/>
            </a:endParaRPr>
          </a:p>
        </p:txBody>
      </p:sp>
      <p:sp>
        <p:nvSpPr>
          <p:cNvPr id="139" name="Google Shape;139;p6"/>
          <p:cNvSpPr txBox="1"/>
          <p:nvPr/>
        </p:nvSpPr>
        <p:spPr>
          <a:xfrm>
            <a:off x="4480560" y="2514600"/>
            <a:ext cx="1005840" cy="411480"/>
          </a:xfrm>
          <a:prstGeom prst="rect">
            <a:avLst/>
          </a:prstGeom>
          <a:solidFill>
            <a:srgbClr val="D64550"/>
          </a:solid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G6</a:t>
            </a:r>
            <a:endParaRPr sz="1200" b="0" i="0" u="none" strike="noStrike" cap="none">
              <a:solidFill>
                <a:schemeClr val="dk1"/>
              </a:solidFill>
              <a:latin typeface="Calibri"/>
              <a:ea typeface="Calibri"/>
              <a:cs typeface="Calibri"/>
              <a:sym typeface="Calibri"/>
            </a:endParaRPr>
          </a:p>
        </p:txBody>
      </p:sp>
      <p:sp>
        <p:nvSpPr>
          <p:cNvPr id="140" name="Google Shape;140;p6"/>
          <p:cNvSpPr txBox="1"/>
          <p:nvPr/>
        </p:nvSpPr>
        <p:spPr>
          <a:xfrm>
            <a:off x="868680" y="3154680"/>
            <a:ext cx="4754880" cy="109728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5A6B7B"/>
              </a:buClr>
              <a:buSzPts val="1250"/>
              <a:buFont typeface="Calibri"/>
              <a:buNone/>
            </a:pPr>
            <a:r>
              <a:rPr lang="en-US" sz="1250" b="0" i="0" u="none" strike="noStrike" cap="none">
                <a:solidFill>
                  <a:srgbClr val="5A6B7B"/>
                </a:solidFill>
                <a:latin typeface="Calibri"/>
                <a:ea typeface="Calibri"/>
                <a:cs typeface="Calibri"/>
                <a:sym typeface="Calibri"/>
              </a:rPr>
              <a:t>Solo la fila de puertas se recombina. Los vuelos son un dato fijo heredado del primer padre, así que la decisión de a quién atender queda fuera de la evolución.</a:t>
            </a:r>
            <a:endParaRPr sz="1250" b="0" i="0" u="none" strike="noStrike" cap="none">
              <a:solidFill>
                <a:schemeClr val="dk1"/>
              </a:solidFill>
              <a:latin typeface="Calibri"/>
              <a:ea typeface="Calibri"/>
              <a:cs typeface="Calibri"/>
              <a:sym typeface="Calibri"/>
            </a:endParaRPr>
          </a:p>
        </p:txBody>
      </p:sp>
      <p:sp>
        <p:nvSpPr>
          <p:cNvPr id="141" name="Google Shape;141;p6"/>
          <p:cNvSpPr txBox="1"/>
          <p:nvPr/>
        </p:nvSpPr>
        <p:spPr>
          <a:xfrm>
            <a:off x="868680" y="4709160"/>
            <a:ext cx="4754880" cy="82296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D64550"/>
              </a:buClr>
              <a:buSzPts val="1250"/>
              <a:buFont typeface="Calibri"/>
              <a:buNone/>
            </a:pPr>
            <a:r>
              <a:rPr lang="en-US" sz="1250" b="1" i="0" u="none" strike="noStrike" cap="none">
                <a:solidFill>
                  <a:srgbClr val="D64550"/>
                </a:solidFill>
                <a:latin typeface="Calibri"/>
                <a:ea typeface="Calibri"/>
                <a:cs typeface="Calibri"/>
                <a:sym typeface="Calibri"/>
              </a:rPr>
              <a:t>Al mezclar dos permutaciones posición por posición, el hijo repite puertas casi siempre.</a:t>
            </a:r>
            <a:endParaRPr sz="1250" b="0" i="0" u="none" strike="noStrike" cap="none">
              <a:solidFill>
                <a:schemeClr val="dk1"/>
              </a:solidFill>
              <a:latin typeface="Calibri"/>
              <a:ea typeface="Calibri"/>
              <a:cs typeface="Calibri"/>
              <a:sym typeface="Calibri"/>
            </a:endParaRPr>
          </a:p>
        </p:txBody>
      </p:sp>
      <p:sp>
        <p:nvSpPr>
          <p:cNvPr id="142" name="Google Shape;142;p6"/>
          <p:cNvSpPr/>
          <p:nvPr/>
        </p:nvSpPr>
        <p:spPr>
          <a:xfrm>
            <a:off x="6263640" y="1280160"/>
            <a:ext cx="5394960" cy="4480560"/>
          </a:xfrm>
          <a:prstGeom prst="roundRect">
            <a:avLst>
              <a:gd name="adj" fmla="val 1633"/>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6"/>
          <p:cNvSpPr txBox="1"/>
          <p:nvPr/>
        </p:nvSpPr>
        <p:spPr>
          <a:xfrm>
            <a:off x="6583680" y="1508760"/>
            <a:ext cx="475488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400"/>
              <a:buFont typeface="Calibri"/>
              <a:buNone/>
            </a:pPr>
            <a:r>
              <a:rPr lang="en-US" sz="1400" b="1" i="0" u="none" strike="noStrike" cap="none">
                <a:solidFill>
                  <a:srgbClr val="F2A65A"/>
                </a:solidFill>
                <a:latin typeface="Calibri"/>
                <a:ea typeface="Calibri"/>
                <a:cs typeface="Calibri"/>
                <a:sym typeface="Calibri"/>
              </a:rPr>
              <a:t>AHORA · el gen es la asignación</a:t>
            </a:r>
            <a:endParaRPr sz="1400" b="0" i="0" u="none" strike="noStrike" cap="none">
              <a:solidFill>
                <a:schemeClr val="dk1"/>
              </a:solidFill>
              <a:latin typeface="Calibri"/>
              <a:ea typeface="Calibri"/>
              <a:cs typeface="Calibri"/>
              <a:sym typeface="Calibri"/>
            </a:endParaRPr>
          </a:p>
        </p:txBody>
      </p:sp>
      <p:sp>
        <p:nvSpPr>
          <p:cNvPr id="144" name="Google Shape;144;p6"/>
          <p:cNvSpPr txBox="1"/>
          <p:nvPr/>
        </p:nvSpPr>
        <p:spPr>
          <a:xfrm>
            <a:off x="6629400" y="2011680"/>
            <a:ext cx="1005840" cy="914400"/>
          </a:xfrm>
          <a:prstGeom prst="rect">
            <a:avLst/>
          </a:prstGeom>
          <a:solidFill>
            <a:srgbClr val="F2A65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F2B46"/>
              </a:buClr>
              <a:buSzPts val="1200"/>
              <a:buFont typeface="Calibri"/>
              <a:buNone/>
            </a:pPr>
            <a:r>
              <a:rPr lang="en-US" sz="1200" b="1" i="0" u="none" strike="noStrike" cap="none">
                <a:solidFill>
                  <a:srgbClr val="0F2B46"/>
                </a:solidFill>
                <a:latin typeface="Calibri"/>
                <a:ea typeface="Calibri"/>
                <a:cs typeface="Calibri"/>
                <a:sym typeface="Calibri"/>
              </a:rPr>
              <a:t>F17</a:t>
            </a:r>
            <a:endParaRPr sz="1200" b="0" i="0" u="none" strike="noStrike" cap="none">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F2B46"/>
              </a:buClr>
              <a:buSzPts val="1200"/>
              <a:buFont typeface="Calibri"/>
              <a:buNone/>
            </a:pPr>
            <a:r>
              <a:rPr lang="en-US" sz="1200" b="1" i="0" u="none" strike="noStrike" cap="none">
                <a:solidFill>
                  <a:srgbClr val="0F2B46"/>
                </a:solidFill>
                <a:latin typeface="Calibri"/>
                <a:ea typeface="Calibri"/>
                <a:cs typeface="Calibri"/>
                <a:sym typeface="Calibri"/>
              </a:rPr>
              <a:t>G4</a:t>
            </a:r>
            <a:endParaRPr sz="1200" b="0" i="0" u="none" strike="noStrike" cap="none">
              <a:solidFill>
                <a:schemeClr val="dk1"/>
              </a:solidFill>
              <a:latin typeface="Calibri"/>
              <a:ea typeface="Calibri"/>
              <a:cs typeface="Calibri"/>
              <a:sym typeface="Calibri"/>
            </a:endParaRPr>
          </a:p>
        </p:txBody>
      </p:sp>
      <p:sp>
        <p:nvSpPr>
          <p:cNvPr id="145" name="Google Shape;145;p6"/>
          <p:cNvSpPr txBox="1"/>
          <p:nvPr/>
        </p:nvSpPr>
        <p:spPr>
          <a:xfrm>
            <a:off x="7818120" y="2011680"/>
            <a:ext cx="1005840" cy="914400"/>
          </a:xfrm>
          <a:prstGeom prst="rect">
            <a:avLst/>
          </a:prstGeom>
          <a:solidFill>
            <a:srgbClr val="F2A65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F2B46"/>
              </a:buClr>
              <a:buSzPts val="1200"/>
              <a:buFont typeface="Calibri"/>
              <a:buNone/>
            </a:pPr>
            <a:r>
              <a:rPr lang="en-US" sz="1200" b="1" i="0" u="none" strike="noStrike" cap="none">
                <a:solidFill>
                  <a:srgbClr val="0F2B46"/>
                </a:solidFill>
                <a:latin typeface="Calibri"/>
                <a:ea typeface="Calibri"/>
                <a:cs typeface="Calibri"/>
                <a:sym typeface="Calibri"/>
              </a:rPr>
              <a:t>F03</a:t>
            </a:r>
            <a:endParaRPr sz="1200" b="0" i="0" u="none" strike="noStrike" cap="none">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F2B46"/>
              </a:buClr>
              <a:buSzPts val="1200"/>
              <a:buFont typeface="Calibri"/>
              <a:buNone/>
            </a:pPr>
            <a:r>
              <a:rPr lang="en-US" sz="1200" b="1" i="0" u="none" strike="noStrike" cap="none">
                <a:solidFill>
                  <a:srgbClr val="0F2B46"/>
                </a:solidFill>
                <a:latin typeface="Calibri"/>
                <a:ea typeface="Calibri"/>
                <a:cs typeface="Calibri"/>
                <a:sym typeface="Calibri"/>
              </a:rPr>
              <a:t>G9</a:t>
            </a:r>
            <a:endParaRPr sz="1200" b="0" i="0" u="none" strike="noStrike" cap="none">
              <a:solidFill>
                <a:schemeClr val="dk1"/>
              </a:solidFill>
              <a:latin typeface="Calibri"/>
              <a:ea typeface="Calibri"/>
              <a:cs typeface="Calibri"/>
              <a:sym typeface="Calibri"/>
            </a:endParaRPr>
          </a:p>
        </p:txBody>
      </p:sp>
      <p:sp>
        <p:nvSpPr>
          <p:cNvPr id="146" name="Google Shape;146;p6"/>
          <p:cNvSpPr txBox="1"/>
          <p:nvPr/>
        </p:nvSpPr>
        <p:spPr>
          <a:xfrm>
            <a:off x="9006840" y="2011680"/>
            <a:ext cx="1005840" cy="914400"/>
          </a:xfrm>
          <a:prstGeom prst="rect">
            <a:avLst/>
          </a:prstGeom>
          <a:solidFill>
            <a:srgbClr val="F2A65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F2B46"/>
              </a:buClr>
              <a:buSzPts val="1200"/>
              <a:buFont typeface="Calibri"/>
              <a:buNone/>
            </a:pPr>
            <a:r>
              <a:rPr lang="en-US" sz="1200" b="1" i="0" u="none" strike="noStrike" cap="none">
                <a:solidFill>
                  <a:srgbClr val="0F2B46"/>
                </a:solidFill>
                <a:latin typeface="Calibri"/>
                <a:ea typeface="Calibri"/>
                <a:cs typeface="Calibri"/>
                <a:sym typeface="Calibri"/>
              </a:rPr>
              <a:t>F25</a:t>
            </a:r>
            <a:endParaRPr sz="1200" b="0" i="0" u="none" strike="noStrike" cap="none">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F2B46"/>
              </a:buClr>
              <a:buSzPts val="1200"/>
              <a:buFont typeface="Calibri"/>
              <a:buNone/>
            </a:pPr>
            <a:r>
              <a:rPr lang="en-US" sz="1200" b="1" i="0" u="none" strike="noStrike" cap="none">
                <a:solidFill>
                  <a:srgbClr val="0F2B46"/>
                </a:solidFill>
                <a:latin typeface="Calibri"/>
                <a:ea typeface="Calibri"/>
                <a:cs typeface="Calibri"/>
                <a:sym typeface="Calibri"/>
              </a:rPr>
              <a:t>G1</a:t>
            </a:r>
            <a:endParaRPr sz="1200" b="0" i="0" u="none" strike="noStrike" cap="none">
              <a:solidFill>
                <a:schemeClr val="dk1"/>
              </a:solidFill>
              <a:latin typeface="Calibri"/>
              <a:ea typeface="Calibri"/>
              <a:cs typeface="Calibri"/>
              <a:sym typeface="Calibri"/>
            </a:endParaRPr>
          </a:p>
        </p:txBody>
      </p:sp>
      <p:sp>
        <p:nvSpPr>
          <p:cNvPr id="147" name="Google Shape;147;p6"/>
          <p:cNvSpPr txBox="1"/>
          <p:nvPr/>
        </p:nvSpPr>
        <p:spPr>
          <a:xfrm>
            <a:off x="10195560" y="2011680"/>
            <a:ext cx="1005840" cy="914400"/>
          </a:xfrm>
          <a:prstGeom prst="rect">
            <a:avLst/>
          </a:prstGeom>
          <a:solidFill>
            <a:srgbClr val="F2A65A"/>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F2B46"/>
              </a:buClr>
              <a:buSzPts val="1200"/>
              <a:buFont typeface="Calibri"/>
              <a:buNone/>
            </a:pPr>
            <a:r>
              <a:rPr lang="en-US" sz="1200" b="1" i="0" u="none" strike="noStrike" cap="none">
                <a:solidFill>
                  <a:srgbClr val="0F2B46"/>
                </a:solidFill>
                <a:latin typeface="Calibri"/>
                <a:ea typeface="Calibri"/>
                <a:cs typeface="Calibri"/>
                <a:sym typeface="Calibri"/>
              </a:rPr>
              <a:t>F08</a:t>
            </a:r>
            <a:endParaRPr sz="1200" b="0" i="0" u="none" strike="noStrike" cap="none">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F2B46"/>
              </a:buClr>
              <a:buSzPts val="1200"/>
              <a:buFont typeface="Calibri"/>
              <a:buNone/>
            </a:pPr>
            <a:r>
              <a:rPr lang="en-US" sz="1200" b="1" i="0" u="none" strike="noStrike" cap="none">
                <a:solidFill>
                  <a:srgbClr val="0F2B46"/>
                </a:solidFill>
                <a:latin typeface="Calibri"/>
                <a:ea typeface="Calibri"/>
                <a:cs typeface="Calibri"/>
                <a:sym typeface="Calibri"/>
              </a:rPr>
              <a:t>G6</a:t>
            </a:r>
            <a:endParaRPr sz="1200" b="0" i="0" u="none" strike="noStrike" cap="none">
              <a:solidFill>
                <a:schemeClr val="dk1"/>
              </a:solidFill>
              <a:latin typeface="Calibri"/>
              <a:ea typeface="Calibri"/>
              <a:cs typeface="Calibri"/>
              <a:sym typeface="Calibri"/>
            </a:endParaRPr>
          </a:p>
        </p:txBody>
      </p:sp>
      <p:sp>
        <p:nvSpPr>
          <p:cNvPr id="148" name="Google Shape;148;p6"/>
          <p:cNvSpPr txBox="1"/>
          <p:nvPr/>
        </p:nvSpPr>
        <p:spPr>
          <a:xfrm>
            <a:off x="6583680" y="3154680"/>
            <a:ext cx="4754880" cy="118872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CADCFC"/>
              </a:buClr>
              <a:buSzPts val="1250"/>
              <a:buFont typeface="Calibri"/>
              <a:buNone/>
            </a:pPr>
            <a:r>
              <a:rPr lang="en-US" sz="1250" b="0" i="0" u="none" strike="noStrike" cap="none">
                <a:solidFill>
                  <a:srgbClr val="CADCFC"/>
                </a:solidFill>
                <a:latin typeface="Calibri"/>
                <a:ea typeface="Calibri"/>
                <a:cs typeface="Calibri"/>
                <a:sym typeface="Calibri"/>
              </a:rPr>
              <a:t>Se hereda el par completo. El valor de una decisión no está en “usar la puerta 4”, sino en poner ese vuelo en esa puerta: un vuelo de 54 pasajeros en la puerta 9 rinde 1,06 y uno de 4 pasajeros la desperdicia.</a:t>
            </a:r>
            <a:endParaRPr sz="1250" b="0" i="0" u="none" strike="noStrike" cap="none">
              <a:solidFill>
                <a:schemeClr val="dk1"/>
              </a:solidFill>
              <a:latin typeface="Calibri"/>
              <a:ea typeface="Calibri"/>
              <a:cs typeface="Calibri"/>
              <a:sym typeface="Calibri"/>
            </a:endParaRPr>
          </a:p>
        </p:txBody>
      </p:sp>
      <p:sp>
        <p:nvSpPr>
          <p:cNvPr id="149" name="Google Shape;149;p6"/>
          <p:cNvSpPr txBox="1"/>
          <p:nvPr/>
        </p:nvSpPr>
        <p:spPr>
          <a:xfrm>
            <a:off x="6583680" y="4709160"/>
            <a:ext cx="4754880" cy="82296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F2A65A"/>
              </a:buClr>
              <a:buSzPts val="1250"/>
              <a:buFont typeface="Calibri"/>
              <a:buNone/>
            </a:pPr>
            <a:r>
              <a:rPr lang="en-US" sz="1250" b="1" i="0" u="none" strike="noStrike" cap="none">
                <a:solidFill>
                  <a:srgbClr val="F2A65A"/>
                </a:solidFill>
                <a:latin typeface="Calibri"/>
                <a:ea typeface="Calibri"/>
                <a:cs typeface="Calibri"/>
                <a:sym typeface="Calibri"/>
              </a:rPr>
              <a:t>Ahora las dos decisiones son heredables, mutables y sujetas a selección.</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4"/>
        <p:cNvGrpSpPr/>
        <p:nvPr/>
      </p:nvGrpSpPr>
      <p:grpSpPr>
        <a:xfrm>
          <a:off x="0" y="0"/>
          <a:ext cx="0" cy="0"/>
          <a:chOff x="0" y="0"/>
          <a:chExt cx="0" cy="0"/>
        </a:xfrm>
      </p:grpSpPr>
      <p:sp>
        <p:nvSpPr>
          <p:cNvPr id="155" name="Google Shape;155;p7"/>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REDISEÑO · 2 DE 3</a:t>
            </a:r>
            <a:endParaRPr sz="1100" b="0" i="0" u="none" strike="noStrike" cap="none">
              <a:solidFill>
                <a:schemeClr val="dk1"/>
              </a:solidFill>
              <a:latin typeface="Calibri"/>
              <a:ea typeface="Calibri"/>
              <a:cs typeface="Calibri"/>
              <a:sym typeface="Calibri"/>
            </a:endParaRPr>
          </a:p>
        </p:txBody>
      </p:sp>
      <p:sp>
        <p:nvSpPr>
          <p:cNvPr id="156" name="Google Shape;156;p7"/>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Reparación en tres fases</a:t>
            </a:r>
            <a:endParaRPr sz="3000" b="0" i="0" u="none" strike="noStrike" cap="none">
              <a:solidFill>
                <a:schemeClr val="dk1"/>
              </a:solidFill>
              <a:latin typeface="Calibri"/>
              <a:ea typeface="Calibri"/>
              <a:cs typeface="Calibri"/>
              <a:sym typeface="Calibri"/>
            </a:endParaRPr>
          </a:p>
        </p:txBody>
      </p:sp>
      <p:sp>
        <p:nvSpPr>
          <p:cNvPr id="157" name="Google Shape;157;p7"/>
          <p:cNvSpPr txBox="1"/>
          <p:nvPr/>
        </p:nvSpPr>
        <p:spPr>
          <a:xfrm>
            <a:off x="548640" y="1188720"/>
            <a:ext cx="11109960" cy="54864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1B2733"/>
              </a:buClr>
              <a:buSzPts val="1400"/>
              <a:buFont typeface="Calibri"/>
              <a:buNone/>
            </a:pPr>
            <a:r>
              <a:rPr lang="en-US" sz="1400" b="0" i="0" u="none" strike="noStrike" cap="none">
                <a:solidFill>
                  <a:srgbClr val="1B2733"/>
                </a:solidFill>
                <a:latin typeface="Calibri"/>
                <a:ea typeface="Calibri"/>
                <a:cs typeface="Calibri"/>
                <a:sym typeface="Calibri"/>
              </a:rPr>
              <a:t>Mezclar pares genera conflictos: dos genes que usan la misma puerta, o el mismo vuelo. En vez de rechazar al hijo o penalizarlo, se le repara conservando el máximo de material heredado.</a:t>
            </a:r>
            <a:endParaRPr sz="1400" b="0" i="0" u="none" strike="noStrike" cap="none">
              <a:solidFill>
                <a:schemeClr val="dk1"/>
              </a:solidFill>
              <a:latin typeface="Calibri"/>
              <a:ea typeface="Calibri"/>
              <a:cs typeface="Calibri"/>
              <a:sym typeface="Calibri"/>
            </a:endParaRPr>
          </a:p>
        </p:txBody>
      </p:sp>
      <p:sp>
        <p:nvSpPr>
          <p:cNvPr id="158" name="Google Shape;158;p7"/>
          <p:cNvSpPr/>
          <p:nvPr/>
        </p:nvSpPr>
        <p:spPr>
          <a:xfrm>
            <a:off x="548640" y="1965960"/>
            <a:ext cx="3566160" cy="2468880"/>
          </a:xfrm>
          <a:prstGeom prst="roundRect">
            <a:avLst>
              <a:gd name="adj" fmla="val 2963"/>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7"/>
          <p:cNvSpPr/>
          <p:nvPr/>
        </p:nvSpPr>
        <p:spPr>
          <a:xfrm>
            <a:off x="822960" y="2194560"/>
            <a:ext cx="457200" cy="457200"/>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7"/>
          <p:cNvSpPr txBox="1"/>
          <p:nvPr/>
        </p:nvSpPr>
        <p:spPr>
          <a:xfrm>
            <a:off x="822960" y="219456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1</a:t>
            </a:r>
            <a:endParaRPr sz="1100" b="0" i="0" u="none" strike="noStrike" cap="none">
              <a:solidFill>
                <a:schemeClr val="dk1"/>
              </a:solidFill>
              <a:latin typeface="Calibri"/>
              <a:ea typeface="Calibri"/>
              <a:cs typeface="Calibri"/>
              <a:sym typeface="Calibri"/>
            </a:endParaRPr>
          </a:p>
        </p:txBody>
      </p:sp>
      <p:sp>
        <p:nvSpPr>
          <p:cNvPr id="161" name="Google Shape;161;p7"/>
          <p:cNvSpPr txBox="1"/>
          <p:nvPr/>
        </p:nvSpPr>
        <p:spPr>
          <a:xfrm>
            <a:off x="822960" y="2743200"/>
            <a:ext cx="301752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500"/>
              <a:buFont typeface="Calibri"/>
              <a:buNone/>
            </a:pPr>
            <a:r>
              <a:rPr lang="en-US" sz="1500" b="1" i="0" u="none" strike="noStrike" cap="none">
                <a:solidFill>
                  <a:srgbClr val="1B2733"/>
                </a:solidFill>
                <a:latin typeface="Calibri"/>
                <a:ea typeface="Calibri"/>
                <a:cs typeface="Calibri"/>
                <a:sym typeface="Calibri"/>
              </a:rPr>
              <a:t>Herencia directa</a:t>
            </a:r>
            <a:endParaRPr sz="1500" b="0" i="0" u="none" strike="noStrike" cap="none">
              <a:solidFill>
                <a:schemeClr val="dk1"/>
              </a:solidFill>
              <a:latin typeface="Calibri"/>
              <a:ea typeface="Calibri"/>
              <a:cs typeface="Calibri"/>
              <a:sym typeface="Calibri"/>
            </a:endParaRPr>
          </a:p>
        </p:txBody>
      </p:sp>
      <p:sp>
        <p:nvSpPr>
          <p:cNvPr id="162" name="Google Shape;162;p7"/>
          <p:cNvSpPr txBox="1"/>
          <p:nvPr/>
        </p:nvSpPr>
        <p:spPr>
          <a:xfrm>
            <a:off x="822960" y="3108960"/>
            <a:ext cx="3017520" cy="9144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5A6B7B"/>
              </a:buClr>
              <a:buSzPts val="1250"/>
              <a:buFont typeface="Calibri"/>
              <a:buNone/>
            </a:pPr>
            <a:r>
              <a:rPr lang="en-US" sz="1250" b="0" i="0" u="none" strike="noStrike" cap="none">
                <a:solidFill>
                  <a:srgbClr val="5A6B7B"/>
                </a:solidFill>
                <a:latin typeface="Calibri"/>
                <a:ea typeface="Calibri"/>
                <a:cs typeface="Calibri"/>
                <a:sym typeface="Calibri"/>
              </a:rPr>
              <a:t>Acepta el par heredado si su vuelo y su puerta siguen libres.</a:t>
            </a:r>
            <a:endParaRPr sz="1250" b="0" i="0" u="none" strike="noStrike" cap="none">
              <a:solidFill>
                <a:schemeClr val="dk1"/>
              </a:solidFill>
              <a:latin typeface="Calibri"/>
              <a:ea typeface="Calibri"/>
              <a:cs typeface="Calibri"/>
              <a:sym typeface="Calibri"/>
            </a:endParaRPr>
          </a:p>
        </p:txBody>
      </p:sp>
      <p:sp>
        <p:nvSpPr>
          <p:cNvPr id="163" name="Google Shape;163;p7"/>
          <p:cNvSpPr txBox="1"/>
          <p:nvPr/>
        </p:nvSpPr>
        <p:spPr>
          <a:xfrm>
            <a:off x="822960" y="4023360"/>
            <a:ext cx="301752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0" i="1" u="none" strike="noStrike" cap="none">
                <a:solidFill>
                  <a:srgbClr val="1C7293"/>
                </a:solidFill>
                <a:latin typeface="Calibri"/>
                <a:ea typeface="Calibri"/>
                <a:cs typeface="Calibri"/>
                <a:sym typeface="Calibri"/>
              </a:rPr>
              <a:t>conserva el par completo</a:t>
            </a:r>
            <a:endParaRPr sz="1100" b="0" i="0" u="none" strike="noStrike" cap="none">
              <a:solidFill>
                <a:schemeClr val="dk1"/>
              </a:solidFill>
              <a:latin typeface="Calibri"/>
              <a:ea typeface="Calibri"/>
              <a:cs typeface="Calibri"/>
              <a:sym typeface="Calibri"/>
            </a:endParaRPr>
          </a:p>
        </p:txBody>
      </p:sp>
      <p:sp>
        <p:nvSpPr>
          <p:cNvPr id="164" name="Google Shape;164;p7"/>
          <p:cNvSpPr/>
          <p:nvPr/>
        </p:nvSpPr>
        <p:spPr>
          <a:xfrm>
            <a:off x="4178808" y="3063240"/>
            <a:ext cx="182880" cy="274320"/>
          </a:xfrm>
          <a:prstGeom prst="rightArrow">
            <a:avLst>
              <a:gd name="adj1" fmla="val 50000"/>
              <a:gd name="adj2" fmla="val 50000"/>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7"/>
          <p:cNvSpPr/>
          <p:nvPr/>
        </p:nvSpPr>
        <p:spPr>
          <a:xfrm>
            <a:off x="4343400" y="1965960"/>
            <a:ext cx="3566160" cy="2468880"/>
          </a:xfrm>
          <a:prstGeom prst="roundRect">
            <a:avLst>
              <a:gd name="adj" fmla="val 2963"/>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7"/>
          <p:cNvSpPr/>
          <p:nvPr/>
        </p:nvSpPr>
        <p:spPr>
          <a:xfrm>
            <a:off x="4617720" y="2194560"/>
            <a:ext cx="457200" cy="457200"/>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7"/>
          <p:cNvSpPr txBox="1"/>
          <p:nvPr/>
        </p:nvSpPr>
        <p:spPr>
          <a:xfrm>
            <a:off x="4617720" y="219456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2</a:t>
            </a:r>
            <a:endParaRPr sz="1100" b="0" i="0" u="none" strike="noStrike" cap="none">
              <a:solidFill>
                <a:schemeClr val="dk1"/>
              </a:solidFill>
              <a:latin typeface="Calibri"/>
              <a:ea typeface="Calibri"/>
              <a:cs typeface="Calibri"/>
              <a:sym typeface="Calibri"/>
            </a:endParaRPr>
          </a:p>
        </p:txBody>
      </p:sp>
      <p:sp>
        <p:nvSpPr>
          <p:cNvPr id="168" name="Google Shape;168;p7"/>
          <p:cNvSpPr txBox="1"/>
          <p:nvPr/>
        </p:nvSpPr>
        <p:spPr>
          <a:xfrm>
            <a:off x="4617720" y="2743200"/>
            <a:ext cx="301752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500"/>
              <a:buFont typeface="Calibri"/>
              <a:buNone/>
            </a:pPr>
            <a:r>
              <a:rPr lang="en-US" sz="1500" b="1" i="0" u="none" strike="noStrike" cap="none">
                <a:solidFill>
                  <a:srgbClr val="1B2733"/>
                </a:solidFill>
                <a:latin typeface="Calibri"/>
                <a:ea typeface="Calibri"/>
                <a:cs typeface="Calibri"/>
                <a:sym typeface="Calibri"/>
              </a:rPr>
              <a:t>Segunda oportunidad</a:t>
            </a:r>
            <a:endParaRPr sz="1500" b="0" i="0" u="none" strike="noStrike" cap="none">
              <a:solidFill>
                <a:schemeClr val="dk1"/>
              </a:solidFill>
              <a:latin typeface="Calibri"/>
              <a:ea typeface="Calibri"/>
              <a:cs typeface="Calibri"/>
              <a:sym typeface="Calibri"/>
            </a:endParaRPr>
          </a:p>
        </p:txBody>
      </p:sp>
      <p:sp>
        <p:nvSpPr>
          <p:cNvPr id="169" name="Google Shape;169;p7"/>
          <p:cNvSpPr txBox="1"/>
          <p:nvPr/>
        </p:nvSpPr>
        <p:spPr>
          <a:xfrm>
            <a:off x="4617720" y="3108960"/>
            <a:ext cx="3017520" cy="9144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5A6B7B"/>
              </a:buClr>
              <a:buSzPts val="1250"/>
              <a:buFont typeface="Calibri"/>
              <a:buNone/>
            </a:pPr>
            <a:r>
              <a:rPr lang="en-US" sz="1250" b="0" i="0" u="none" strike="noStrike" cap="none">
                <a:solidFill>
                  <a:srgbClr val="5A6B7B"/>
                </a:solidFill>
                <a:latin typeface="Calibri"/>
                <a:ea typeface="Calibri"/>
                <a:cs typeface="Calibri"/>
                <a:sym typeface="Calibri"/>
              </a:rPr>
              <a:t>Si hay conflicto, prueba el par que el otro padre tenía en esa posición.</a:t>
            </a:r>
            <a:endParaRPr sz="1250" b="0" i="0" u="none" strike="noStrike" cap="none">
              <a:solidFill>
                <a:schemeClr val="dk1"/>
              </a:solidFill>
              <a:latin typeface="Calibri"/>
              <a:ea typeface="Calibri"/>
              <a:cs typeface="Calibri"/>
              <a:sym typeface="Calibri"/>
            </a:endParaRPr>
          </a:p>
        </p:txBody>
      </p:sp>
      <p:sp>
        <p:nvSpPr>
          <p:cNvPr id="170" name="Google Shape;170;p7"/>
          <p:cNvSpPr txBox="1"/>
          <p:nvPr/>
        </p:nvSpPr>
        <p:spPr>
          <a:xfrm>
            <a:off x="4617720" y="4023360"/>
            <a:ext cx="301752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0" i="1" u="none" strike="noStrike" cap="none">
                <a:solidFill>
                  <a:srgbClr val="1C7293"/>
                </a:solidFill>
                <a:latin typeface="Calibri"/>
                <a:ea typeface="Calibri"/>
                <a:cs typeface="Calibri"/>
                <a:sym typeface="Calibri"/>
              </a:rPr>
              <a:t>conserva un par del otro padre</a:t>
            </a:r>
            <a:endParaRPr sz="1100" b="0" i="0" u="none" strike="noStrike" cap="none">
              <a:solidFill>
                <a:schemeClr val="dk1"/>
              </a:solidFill>
              <a:latin typeface="Calibri"/>
              <a:ea typeface="Calibri"/>
              <a:cs typeface="Calibri"/>
              <a:sym typeface="Calibri"/>
            </a:endParaRPr>
          </a:p>
        </p:txBody>
      </p:sp>
      <p:sp>
        <p:nvSpPr>
          <p:cNvPr id="171" name="Google Shape;171;p7"/>
          <p:cNvSpPr/>
          <p:nvPr/>
        </p:nvSpPr>
        <p:spPr>
          <a:xfrm>
            <a:off x="7973568" y="3063240"/>
            <a:ext cx="182880" cy="274320"/>
          </a:xfrm>
          <a:prstGeom prst="rightArrow">
            <a:avLst>
              <a:gd name="adj1" fmla="val 50000"/>
              <a:gd name="adj2" fmla="val 50000"/>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7"/>
          <p:cNvSpPr/>
          <p:nvPr/>
        </p:nvSpPr>
        <p:spPr>
          <a:xfrm>
            <a:off x="8138160" y="1965960"/>
            <a:ext cx="3566160" cy="2468880"/>
          </a:xfrm>
          <a:prstGeom prst="roundRect">
            <a:avLst>
              <a:gd name="adj" fmla="val 2963"/>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7"/>
          <p:cNvSpPr/>
          <p:nvPr/>
        </p:nvSpPr>
        <p:spPr>
          <a:xfrm>
            <a:off x="8412480" y="2194560"/>
            <a:ext cx="457200" cy="457200"/>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7"/>
          <p:cNvSpPr txBox="1"/>
          <p:nvPr/>
        </p:nvSpPr>
        <p:spPr>
          <a:xfrm>
            <a:off x="8412480" y="219456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3</a:t>
            </a:r>
            <a:endParaRPr sz="1100" b="0" i="0" u="none" strike="noStrike" cap="none">
              <a:solidFill>
                <a:schemeClr val="dk1"/>
              </a:solidFill>
              <a:latin typeface="Calibri"/>
              <a:ea typeface="Calibri"/>
              <a:cs typeface="Calibri"/>
              <a:sym typeface="Calibri"/>
            </a:endParaRPr>
          </a:p>
        </p:txBody>
      </p:sp>
      <p:sp>
        <p:nvSpPr>
          <p:cNvPr id="175" name="Google Shape;175;p7"/>
          <p:cNvSpPr txBox="1"/>
          <p:nvPr/>
        </p:nvSpPr>
        <p:spPr>
          <a:xfrm>
            <a:off x="8412480" y="2743200"/>
            <a:ext cx="301752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libri"/>
              <a:buNone/>
            </a:pPr>
            <a:r>
              <a:rPr lang="en-US" sz="1500" b="1" i="0" u="none" strike="noStrike" cap="none">
                <a:solidFill>
                  <a:srgbClr val="FFFFFF"/>
                </a:solidFill>
                <a:latin typeface="Calibri"/>
                <a:ea typeface="Calibri"/>
                <a:cs typeface="Calibri"/>
                <a:sym typeface="Calibri"/>
              </a:rPr>
              <a:t>Rescate parcial</a:t>
            </a:r>
            <a:endParaRPr sz="1500" b="0" i="0" u="none" strike="noStrike" cap="none">
              <a:solidFill>
                <a:schemeClr val="dk1"/>
              </a:solidFill>
              <a:latin typeface="Calibri"/>
              <a:ea typeface="Calibri"/>
              <a:cs typeface="Calibri"/>
              <a:sym typeface="Calibri"/>
            </a:endParaRPr>
          </a:p>
        </p:txBody>
      </p:sp>
      <p:sp>
        <p:nvSpPr>
          <p:cNvPr id="176" name="Google Shape;176;p7"/>
          <p:cNvSpPr txBox="1"/>
          <p:nvPr/>
        </p:nvSpPr>
        <p:spPr>
          <a:xfrm>
            <a:off x="8412480" y="3108960"/>
            <a:ext cx="3017520" cy="91440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250"/>
              <a:buFont typeface="Calibri"/>
              <a:buNone/>
            </a:pPr>
            <a:r>
              <a:rPr lang="en-US" sz="1250" b="0" i="0" u="none" strike="noStrike" cap="none">
                <a:solidFill>
                  <a:srgbClr val="CADCFC"/>
                </a:solidFill>
                <a:latin typeface="Calibri"/>
                <a:ea typeface="Calibri"/>
                <a:cs typeface="Calibri"/>
                <a:sym typeface="Calibri"/>
              </a:rPr>
              <a:t>Conserva la mitad libre —vuelo o puerta— y completa la otra con un elemento libre al azar.</a:t>
            </a:r>
            <a:endParaRPr sz="1250" b="0" i="0" u="none" strike="noStrike" cap="none">
              <a:solidFill>
                <a:schemeClr val="dk1"/>
              </a:solidFill>
              <a:latin typeface="Calibri"/>
              <a:ea typeface="Calibri"/>
              <a:cs typeface="Calibri"/>
              <a:sym typeface="Calibri"/>
            </a:endParaRPr>
          </a:p>
        </p:txBody>
      </p:sp>
      <p:sp>
        <p:nvSpPr>
          <p:cNvPr id="177" name="Google Shape;177;p7"/>
          <p:cNvSpPr txBox="1"/>
          <p:nvPr/>
        </p:nvSpPr>
        <p:spPr>
          <a:xfrm>
            <a:off x="8412480" y="4023360"/>
            <a:ext cx="301752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100"/>
              <a:buFont typeface="Calibri"/>
              <a:buNone/>
            </a:pPr>
            <a:r>
              <a:rPr lang="en-US" sz="1100" b="0" i="1" u="none" strike="noStrike" cap="none">
                <a:solidFill>
                  <a:srgbClr val="F2A65A"/>
                </a:solidFill>
                <a:latin typeface="Calibri"/>
                <a:ea typeface="Calibri"/>
                <a:cs typeface="Calibri"/>
                <a:sym typeface="Calibri"/>
              </a:rPr>
              <a:t>media asignación + diversidad</a:t>
            </a:r>
            <a:endParaRPr sz="1100" b="0" i="0" u="none" strike="noStrike" cap="none">
              <a:solidFill>
                <a:schemeClr val="dk1"/>
              </a:solidFill>
              <a:latin typeface="Calibri"/>
              <a:ea typeface="Calibri"/>
              <a:cs typeface="Calibri"/>
              <a:sym typeface="Calibri"/>
            </a:endParaRPr>
          </a:p>
        </p:txBody>
      </p:sp>
      <p:sp>
        <p:nvSpPr>
          <p:cNvPr id="178" name="Google Shape;178;p7"/>
          <p:cNvSpPr/>
          <p:nvPr/>
        </p:nvSpPr>
        <p:spPr>
          <a:xfrm>
            <a:off x="548640" y="4709160"/>
            <a:ext cx="11109960" cy="1051560"/>
          </a:xfrm>
          <a:prstGeom prst="roundRect">
            <a:avLst>
              <a:gd name="adj" fmla="val 6957"/>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7"/>
          <p:cNvSpPr txBox="1"/>
          <p:nvPr/>
        </p:nvSpPr>
        <p:spPr>
          <a:xfrm>
            <a:off x="914400" y="4709160"/>
            <a:ext cx="10378440" cy="105156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2E9E6B"/>
              </a:buClr>
              <a:buSzPts val="1300"/>
              <a:buFont typeface="Calibri"/>
              <a:buNone/>
            </a:pPr>
            <a:r>
              <a:rPr lang="en-US" sz="1300" b="1" i="0" u="none" strike="noStrike" cap="none">
                <a:solidFill>
                  <a:srgbClr val="2E9E6B"/>
                </a:solidFill>
                <a:latin typeface="Calibri"/>
                <a:ea typeface="Calibri"/>
                <a:cs typeface="Calibri"/>
                <a:sym typeface="Calibri"/>
              </a:rPr>
              <a:t>La fase 3 siempre puede completarse</a:t>
            </a:r>
            <a:r>
              <a:rPr lang="en-US" sz="1300" b="0" i="0" u="none" strike="noStrike" cap="none">
                <a:solidFill>
                  <a:srgbClr val="1B2733"/>
                </a:solidFill>
                <a:latin typeface="Calibri"/>
                <a:ea typeface="Calibri"/>
                <a:cs typeface="Calibri"/>
                <a:sym typeface="Calibri"/>
              </a:rPr>
              <a:t>  —como K = mín(vuelos, puertas), nunca se agotan los elementos libres—, así que el hijo es factible por construcción: no hace falta verificar nada después. Además inyecta vuelos nuevos, de modo que el cruzamiento también explora “a quién atender”.</a:t>
            </a:r>
            <a:endParaRPr sz="13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4"/>
        <p:cNvGrpSpPr/>
        <p:nvPr/>
      </p:nvGrpSpPr>
      <p:grpSpPr>
        <a:xfrm>
          <a:off x="0" y="0"/>
          <a:ext cx="0" cy="0"/>
          <a:chOff x="0" y="0"/>
          <a:chExt cx="0" cy="0"/>
        </a:xfrm>
      </p:grpSpPr>
      <p:sp>
        <p:nvSpPr>
          <p:cNvPr id="185" name="Google Shape;185;p8"/>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REDISEÑO · 3 DE 3</a:t>
            </a:r>
            <a:endParaRPr sz="1100" b="0" i="0" u="none" strike="noStrike" cap="none">
              <a:solidFill>
                <a:schemeClr val="dk1"/>
              </a:solidFill>
              <a:latin typeface="Calibri"/>
              <a:ea typeface="Calibri"/>
              <a:cs typeface="Calibri"/>
              <a:sym typeface="Calibri"/>
            </a:endParaRPr>
          </a:p>
        </p:txBody>
      </p:sp>
      <p:sp>
        <p:nvSpPr>
          <p:cNvPr id="186" name="Google Shape;186;p8"/>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Mutación en los dos niveles de decisión</a:t>
            </a:r>
            <a:endParaRPr sz="3000" b="0" i="0" u="none" strike="noStrike" cap="none">
              <a:solidFill>
                <a:schemeClr val="dk1"/>
              </a:solidFill>
              <a:latin typeface="Calibri"/>
              <a:ea typeface="Calibri"/>
              <a:cs typeface="Calibri"/>
              <a:sym typeface="Calibri"/>
            </a:endParaRPr>
          </a:p>
        </p:txBody>
      </p:sp>
      <p:sp>
        <p:nvSpPr>
          <p:cNvPr id="187" name="Google Shape;187;p8"/>
          <p:cNvSpPr/>
          <p:nvPr/>
        </p:nvSpPr>
        <p:spPr>
          <a:xfrm>
            <a:off x="548640" y="1325880"/>
            <a:ext cx="5394960" cy="2286000"/>
          </a:xfrm>
          <a:prstGeom prst="roundRect">
            <a:avLst>
              <a:gd name="adj" fmla="val 3200"/>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8"/>
          <p:cNvSpPr/>
          <p:nvPr/>
        </p:nvSpPr>
        <p:spPr>
          <a:xfrm>
            <a:off x="868680" y="1600200"/>
            <a:ext cx="457200" cy="457200"/>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8"/>
          <p:cNvSpPr txBox="1"/>
          <p:nvPr/>
        </p:nvSpPr>
        <p:spPr>
          <a:xfrm>
            <a:off x="868680" y="160020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Q</a:t>
            </a:r>
            <a:endParaRPr sz="1100" b="0" i="0" u="none" strike="noStrike" cap="none">
              <a:solidFill>
                <a:schemeClr val="dk1"/>
              </a:solidFill>
              <a:latin typeface="Calibri"/>
              <a:ea typeface="Calibri"/>
              <a:cs typeface="Calibri"/>
              <a:sym typeface="Calibri"/>
            </a:endParaRPr>
          </a:p>
        </p:txBody>
      </p:sp>
      <p:sp>
        <p:nvSpPr>
          <p:cNvPr id="190" name="Google Shape;190;p8"/>
          <p:cNvSpPr txBox="1"/>
          <p:nvPr/>
        </p:nvSpPr>
        <p:spPr>
          <a:xfrm>
            <a:off x="1463040" y="1627632"/>
            <a:ext cx="4206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500"/>
              <a:buFont typeface="Calibri"/>
              <a:buNone/>
            </a:pPr>
            <a:r>
              <a:rPr lang="en-US" sz="1500" b="1" i="0" u="none" strike="noStrike" cap="none">
                <a:solidFill>
                  <a:srgbClr val="1B2733"/>
                </a:solidFill>
                <a:latin typeface="Calibri"/>
                <a:ea typeface="Calibri"/>
                <a:cs typeface="Calibri"/>
                <a:sym typeface="Calibri"/>
              </a:rPr>
              <a:t>mutate_flight  ·  ¿QUÉ atender?</a:t>
            </a:r>
            <a:endParaRPr sz="1500" b="0" i="0" u="none" strike="noStrike" cap="none">
              <a:solidFill>
                <a:schemeClr val="dk1"/>
              </a:solidFill>
              <a:latin typeface="Calibri"/>
              <a:ea typeface="Calibri"/>
              <a:cs typeface="Calibri"/>
              <a:sym typeface="Calibri"/>
            </a:endParaRPr>
          </a:p>
        </p:txBody>
      </p:sp>
      <p:sp>
        <p:nvSpPr>
          <p:cNvPr id="191" name="Google Shape;191;p8"/>
          <p:cNvSpPr txBox="1"/>
          <p:nvPr/>
        </p:nvSpPr>
        <p:spPr>
          <a:xfrm>
            <a:off x="868680" y="2194560"/>
            <a:ext cx="4754880" cy="118872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5A6B7B"/>
              </a:buClr>
              <a:buSzPts val="1300"/>
              <a:buFont typeface="Calibri"/>
              <a:buNone/>
            </a:pPr>
            <a:r>
              <a:rPr lang="en-US" sz="1300" b="0" i="0" u="none" strike="noStrike" cap="none">
                <a:solidFill>
                  <a:srgbClr val="5A6B7B"/>
                </a:solidFill>
                <a:latin typeface="Calibri"/>
                <a:ea typeface="Calibri"/>
                <a:cs typeface="Calibri"/>
                <a:sym typeface="Calibri"/>
              </a:rPr>
              <a:t>Saca un vuelo de la programación y mete uno de los 20 que quedaron fuera, conservando su puerta. Es el operador que el código base no tenía.</a:t>
            </a:r>
            <a:endParaRPr sz="1300" b="0" i="0" u="none" strike="noStrike" cap="none">
              <a:solidFill>
                <a:schemeClr val="dk1"/>
              </a:solidFill>
              <a:latin typeface="Calibri"/>
              <a:ea typeface="Calibri"/>
              <a:cs typeface="Calibri"/>
              <a:sym typeface="Calibri"/>
            </a:endParaRPr>
          </a:p>
        </p:txBody>
      </p:sp>
      <p:sp>
        <p:nvSpPr>
          <p:cNvPr id="192" name="Google Shape;192;p8"/>
          <p:cNvSpPr/>
          <p:nvPr/>
        </p:nvSpPr>
        <p:spPr>
          <a:xfrm>
            <a:off x="6263640" y="1325880"/>
            <a:ext cx="5394960" cy="2286000"/>
          </a:xfrm>
          <a:prstGeom prst="roundRect">
            <a:avLst>
              <a:gd name="adj" fmla="val 3200"/>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8"/>
          <p:cNvSpPr/>
          <p:nvPr/>
        </p:nvSpPr>
        <p:spPr>
          <a:xfrm>
            <a:off x="6583680" y="1600200"/>
            <a:ext cx="457200" cy="457200"/>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8"/>
          <p:cNvSpPr txBox="1"/>
          <p:nvPr/>
        </p:nvSpPr>
        <p:spPr>
          <a:xfrm>
            <a:off x="6583680" y="160020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D</a:t>
            </a:r>
            <a:endParaRPr sz="1100" b="0" i="0" u="none" strike="noStrike" cap="none">
              <a:solidFill>
                <a:schemeClr val="dk1"/>
              </a:solidFill>
              <a:latin typeface="Calibri"/>
              <a:ea typeface="Calibri"/>
              <a:cs typeface="Calibri"/>
              <a:sym typeface="Calibri"/>
            </a:endParaRPr>
          </a:p>
        </p:txBody>
      </p:sp>
      <p:sp>
        <p:nvSpPr>
          <p:cNvPr id="195" name="Google Shape;195;p8"/>
          <p:cNvSpPr txBox="1"/>
          <p:nvPr/>
        </p:nvSpPr>
        <p:spPr>
          <a:xfrm>
            <a:off x="7178040" y="1627632"/>
            <a:ext cx="4206240" cy="4114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500"/>
              <a:buFont typeface="Calibri"/>
              <a:buNone/>
            </a:pPr>
            <a:r>
              <a:rPr lang="en-US" sz="1500" b="1" i="0" u="none" strike="noStrike" cap="none">
                <a:solidFill>
                  <a:srgbClr val="1B2733"/>
                </a:solidFill>
                <a:latin typeface="Calibri"/>
                <a:ea typeface="Calibri"/>
                <a:cs typeface="Calibri"/>
                <a:sym typeface="Calibri"/>
              </a:rPr>
              <a:t>mutate_gate  ·  ¿DÓNDE atender?</a:t>
            </a:r>
            <a:endParaRPr sz="1500" b="0" i="0" u="none" strike="noStrike" cap="none">
              <a:solidFill>
                <a:schemeClr val="dk1"/>
              </a:solidFill>
              <a:latin typeface="Calibri"/>
              <a:ea typeface="Calibri"/>
              <a:cs typeface="Calibri"/>
              <a:sym typeface="Calibri"/>
            </a:endParaRPr>
          </a:p>
        </p:txBody>
      </p:sp>
      <p:sp>
        <p:nvSpPr>
          <p:cNvPr id="196" name="Google Shape;196;p8"/>
          <p:cNvSpPr txBox="1"/>
          <p:nvPr/>
        </p:nvSpPr>
        <p:spPr>
          <a:xfrm>
            <a:off x="6583680" y="2194560"/>
            <a:ext cx="4754880" cy="118872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5A6B7B"/>
              </a:buClr>
              <a:buSzPts val="1300"/>
              <a:buFont typeface="Calibri"/>
              <a:buNone/>
            </a:pPr>
            <a:r>
              <a:rPr lang="en-US" sz="1300" b="0" i="0" u="none" strike="noStrike" cap="none">
                <a:solidFill>
                  <a:srgbClr val="5A6B7B"/>
                </a:solidFill>
                <a:latin typeface="Calibri"/>
                <a:ea typeface="Calibri"/>
                <a:cs typeface="Calibri"/>
                <a:sym typeface="Calibri"/>
              </a:rPr>
              <a:t>Si hay puertas libres, reasigna una libre. Si todas están ocupadas —K = 10 = número de puertas—, intercambia las puertas de dos asignaciones.</a:t>
            </a:r>
            <a:endParaRPr sz="1300" b="0" i="0" u="none" strike="noStrike" cap="none">
              <a:solidFill>
                <a:schemeClr val="dk1"/>
              </a:solidFill>
              <a:latin typeface="Calibri"/>
              <a:ea typeface="Calibri"/>
              <a:cs typeface="Calibri"/>
              <a:sym typeface="Calibri"/>
            </a:endParaRPr>
          </a:p>
        </p:txBody>
      </p:sp>
      <p:sp>
        <p:nvSpPr>
          <p:cNvPr id="197" name="Google Shape;197;p8"/>
          <p:cNvSpPr/>
          <p:nvPr/>
        </p:nvSpPr>
        <p:spPr>
          <a:xfrm>
            <a:off x="548640" y="3794760"/>
            <a:ext cx="11109960" cy="1965960"/>
          </a:xfrm>
          <a:prstGeom prst="roundRect">
            <a:avLst>
              <a:gd name="adj" fmla="val 3721"/>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8"/>
          <p:cNvSpPr txBox="1"/>
          <p:nvPr/>
        </p:nvSpPr>
        <p:spPr>
          <a:xfrm>
            <a:off x="914400" y="4023360"/>
            <a:ext cx="566928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mbria"/>
              <a:buNone/>
            </a:pPr>
            <a:r>
              <a:rPr lang="en-US" sz="1600" b="1" i="0" u="none" strike="noStrike" cap="none">
                <a:solidFill>
                  <a:srgbClr val="FFFFFF"/>
                </a:solidFill>
                <a:latin typeface="Cambria"/>
                <a:ea typeface="Cambria"/>
                <a:cs typeface="Cambria"/>
                <a:sym typeface="Cambria"/>
              </a:rPr>
              <a:t>mutate_flight_and_gate  ·  mutate_flight_or_gate</a:t>
            </a:r>
            <a:endParaRPr sz="1600" b="0" i="0" u="none" strike="noStrike" cap="none">
              <a:solidFill>
                <a:schemeClr val="dk1"/>
              </a:solidFill>
              <a:latin typeface="Calibri"/>
              <a:ea typeface="Calibri"/>
              <a:cs typeface="Calibri"/>
              <a:sym typeface="Calibri"/>
            </a:endParaRPr>
          </a:p>
        </p:txBody>
      </p:sp>
      <p:sp>
        <p:nvSpPr>
          <p:cNvPr id="199" name="Google Shape;199;p8"/>
          <p:cNvSpPr txBox="1"/>
          <p:nvPr/>
        </p:nvSpPr>
        <p:spPr>
          <a:xfrm>
            <a:off x="914400" y="4434840"/>
            <a:ext cx="5669280" cy="100584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CADCFC"/>
              </a:buClr>
              <a:buSzPts val="1300"/>
              <a:buFont typeface="Calibri"/>
              <a:buNone/>
            </a:pPr>
            <a:r>
              <a:rPr lang="en-US" sz="1300" b="0" i="0" u="none" strike="noStrike" cap="none">
                <a:solidFill>
                  <a:srgbClr val="CADCFC"/>
                </a:solidFill>
                <a:latin typeface="Calibri"/>
                <a:ea typeface="Calibri"/>
                <a:cs typeface="Calibri"/>
                <a:sym typeface="Calibri"/>
              </a:rPr>
              <a:t>and aplica las dos mutaciones en cadena; or elige una de las dos al azar en cada evento. Todos preservan la factibilidad por diseño y no necesitan reparación posterior. La variante or, de perturbación más localizada, es la que gana en los experimentos.</a:t>
            </a:r>
            <a:endParaRPr sz="1300" b="0" i="0" u="none" strike="noStrike" cap="none">
              <a:solidFill>
                <a:schemeClr val="dk1"/>
              </a:solidFill>
              <a:latin typeface="Calibri"/>
              <a:ea typeface="Calibri"/>
              <a:cs typeface="Calibri"/>
              <a:sym typeface="Calibri"/>
            </a:endParaRPr>
          </a:p>
        </p:txBody>
      </p:sp>
      <p:sp>
        <p:nvSpPr>
          <p:cNvPr id="200" name="Google Shape;200;p8"/>
          <p:cNvSpPr txBox="1"/>
          <p:nvPr/>
        </p:nvSpPr>
        <p:spPr>
          <a:xfrm>
            <a:off x="7132320" y="4114800"/>
            <a:ext cx="210312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9E6B"/>
              </a:buClr>
              <a:buSzPts val="3400"/>
              <a:buFont typeface="Cambria"/>
              <a:buNone/>
            </a:pPr>
            <a:r>
              <a:rPr lang="en-US" sz="3400" b="1" i="0" u="none" strike="noStrike" cap="none">
                <a:solidFill>
                  <a:srgbClr val="2E9E6B"/>
                </a:solidFill>
                <a:latin typeface="Cambria"/>
                <a:ea typeface="Cambria"/>
                <a:cs typeface="Cambria"/>
                <a:sym typeface="Cambria"/>
              </a:rPr>
              <a:t>100 %</a:t>
            </a:r>
            <a:endParaRPr sz="3400" b="0" i="0" u="none" strike="noStrike" cap="none">
              <a:solidFill>
                <a:schemeClr val="dk1"/>
              </a:solidFill>
              <a:latin typeface="Calibri"/>
              <a:ea typeface="Calibri"/>
              <a:cs typeface="Calibri"/>
              <a:sym typeface="Calibri"/>
            </a:endParaRPr>
          </a:p>
        </p:txBody>
      </p:sp>
      <p:sp>
        <p:nvSpPr>
          <p:cNvPr id="201" name="Google Shape;201;p8"/>
          <p:cNvSpPr txBox="1"/>
          <p:nvPr/>
        </p:nvSpPr>
        <p:spPr>
          <a:xfrm>
            <a:off x="7132320" y="4773168"/>
            <a:ext cx="2103120" cy="4572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CADCFC"/>
              </a:buClr>
              <a:buSzPts val="1100"/>
              <a:buFont typeface="Calibri"/>
              <a:buNone/>
            </a:pPr>
            <a:r>
              <a:rPr lang="en-US" sz="1100" b="0" i="0" u="none" strike="noStrike" cap="none">
                <a:solidFill>
                  <a:srgbClr val="CADCFC"/>
                </a:solidFill>
                <a:latin typeface="Calibri"/>
                <a:ea typeface="Calibri"/>
                <a:cs typeface="Calibri"/>
                <a:sym typeface="Calibri"/>
              </a:rPr>
              <a:t>hijos válidos, siempre</a:t>
            </a:r>
            <a:endParaRPr sz="1100" b="0" i="0" u="none" strike="noStrike" cap="none">
              <a:solidFill>
                <a:schemeClr val="dk1"/>
              </a:solidFill>
              <a:latin typeface="Calibri"/>
              <a:ea typeface="Calibri"/>
              <a:cs typeface="Calibri"/>
              <a:sym typeface="Calibri"/>
            </a:endParaRPr>
          </a:p>
        </p:txBody>
      </p:sp>
      <p:sp>
        <p:nvSpPr>
          <p:cNvPr id="202" name="Google Shape;202;p8"/>
          <p:cNvSpPr txBox="1"/>
          <p:nvPr/>
        </p:nvSpPr>
        <p:spPr>
          <a:xfrm>
            <a:off x="9418320" y="4114800"/>
            <a:ext cx="210312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2A65A"/>
              </a:buClr>
              <a:buSzPts val="3000"/>
              <a:buFont typeface="Cambria"/>
              <a:buNone/>
            </a:pPr>
            <a:r>
              <a:rPr lang="en-US" sz="3000" b="1" i="0" u="none" strike="noStrike" cap="none">
                <a:solidFill>
                  <a:srgbClr val="F2A65A"/>
                </a:solidFill>
                <a:latin typeface="Cambria"/>
                <a:ea typeface="Cambria"/>
                <a:cs typeface="Cambria"/>
                <a:sym typeface="Cambria"/>
              </a:rPr>
              <a:t>2 niveles</a:t>
            </a:r>
            <a:endParaRPr sz="3000" b="0" i="0" u="none" strike="noStrike" cap="none">
              <a:solidFill>
                <a:schemeClr val="dk1"/>
              </a:solidFill>
              <a:latin typeface="Calibri"/>
              <a:ea typeface="Calibri"/>
              <a:cs typeface="Calibri"/>
              <a:sym typeface="Calibri"/>
            </a:endParaRPr>
          </a:p>
        </p:txBody>
      </p:sp>
      <p:sp>
        <p:nvSpPr>
          <p:cNvPr id="203" name="Google Shape;203;p8"/>
          <p:cNvSpPr txBox="1"/>
          <p:nvPr/>
        </p:nvSpPr>
        <p:spPr>
          <a:xfrm>
            <a:off x="9418320" y="4773168"/>
            <a:ext cx="2103120" cy="4572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CADCFC"/>
              </a:buClr>
              <a:buSzPts val="1100"/>
              <a:buFont typeface="Calibri"/>
              <a:buNone/>
            </a:pPr>
            <a:r>
              <a:rPr lang="en-US" sz="1100" b="0" i="0" u="none" strike="noStrike" cap="none">
                <a:solidFill>
                  <a:srgbClr val="CADCFC"/>
                </a:solidFill>
                <a:latin typeface="Calibri"/>
                <a:ea typeface="Calibri"/>
                <a:cs typeface="Calibri"/>
                <a:sym typeface="Calibri"/>
              </a:rPr>
              <a:t>de decisión mutados</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8"/>
        <p:cNvGrpSpPr/>
        <p:nvPr/>
      </p:nvGrpSpPr>
      <p:grpSpPr>
        <a:xfrm>
          <a:off x="0" y="0"/>
          <a:ext cx="0" cy="0"/>
          <a:chOff x="0" y="0"/>
          <a:chExt cx="0" cy="0"/>
        </a:xfrm>
      </p:grpSpPr>
      <p:sp>
        <p:nvSpPr>
          <p:cNvPr id="209" name="Google Shape;209;p9"/>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EXPERIMENTACIÓN</a:t>
            </a:r>
            <a:endParaRPr sz="1100" b="0" i="0" u="none" strike="noStrike" cap="none">
              <a:solidFill>
                <a:schemeClr val="dk1"/>
              </a:solidFill>
              <a:latin typeface="Calibri"/>
              <a:ea typeface="Calibri"/>
              <a:cs typeface="Calibri"/>
              <a:sym typeface="Calibri"/>
            </a:endParaRPr>
          </a:p>
        </p:txBody>
      </p:sp>
      <p:sp>
        <p:nvSpPr>
          <p:cNvPr id="210" name="Google Shape;210;p9"/>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Diseño experimental</a:t>
            </a:r>
            <a:endParaRPr sz="3000" b="0" i="0" u="none" strike="noStrike" cap="none">
              <a:solidFill>
                <a:schemeClr val="dk1"/>
              </a:solidFill>
              <a:latin typeface="Calibri"/>
              <a:ea typeface="Calibri"/>
              <a:cs typeface="Calibri"/>
              <a:sym typeface="Calibri"/>
            </a:endParaRPr>
          </a:p>
        </p:txBody>
      </p:sp>
      <p:sp>
        <p:nvSpPr>
          <p:cNvPr id="211" name="Google Shape;211;p9"/>
          <p:cNvSpPr/>
          <p:nvPr/>
        </p:nvSpPr>
        <p:spPr>
          <a:xfrm>
            <a:off x="548640" y="1280160"/>
            <a:ext cx="5394960" cy="4480560"/>
          </a:xfrm>
          <a:prstGeom prst="roundRect">
            <a:avLst>
              <a:gd name="adj" fmla="val 1633"/>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9"/>
          <p:cNvSpPr txBox="1"/>
          <p:nvPr/>
        </p:nvSpPr>
        <p:spPr>
          <a:xfrm>
            <a:off x="868680" y="1508760"/>
            <a:ext cx="475488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600"/>
              <a:buFont typeface="Cambria"/>
              <a:buNone/>
            </a:pPr>
            <a:r>
              <a:rPr lang="en-US" sz="1600" b="1" i="0" u="none" strike="noStrike" cap="none">
                <a:solidFill>
                  <a:srgbClr val="1C7293"/>
                </a:solidFill>
                <a:latin typeface="Cambria"/>
                <a:ea typeface="Cambria"/>
                <a:cs typeface="Cambria"/>
                <a:sym typeface="Cambria"/>
              </a:rPr>
              <a:t>Setup</a:t>
            </a:r>
            <a:endParaRPr sz="1600" b="0" i="0" u="none" strike="noStrike" cap="none">
              <a:solidFill>
                <a:schemeClr val="dk1"/>
              </a:solidFill>
              <a:latin typeface="Calibri"/>
              <a:ea typeface="Calibri"/>
              <a:cs typeface="Calibri"/>
              <a:sym typeface="Calibri"/>
            </a:endParaRPr>
          </a:p>
        </p:txBody>
      </p:sp>
      <p:sp>
        <p:nvSpPr>
          <p:cNvPr id="213" name="Google Shape;213;p9"/>
          <p:cNvSpPr txBox="1"/>
          <p:nvPr/>
        </p:nvSpPr>
        <p:spPr>
          <a:xfrm>
            <a:off x="868680" y="1920240"/>
            <a:ext cx="4754880" cy="3657600"/>
          </a:xfrm>
          <a:prstGeom prst="rect">
            <a:avLst/>
          </a:prstGeom>
          <a:noFill/>
          <a:ln>
            <a:noFill/>
          </a:ln>
        </p:spPr>
        <p:txBody>
          <a:bodyPr spcFirstLastPara="1" wrap="square" lIns="0" tIns="0" rIns="0" bIns="0" anchor="t" anchorCtr="0">
            <a:noAutofit/>
          </a:bodyPr>
          <a:lstStyle/>
          <a:p>
            <a:pPr marL="177800" marR="0" lvl="0" indent="-177800" algn="l" rtl="0">
              <a:lnSpc>
                <a:spcPct val="105000"/>
              </a:lnSpc>
              <a:spcBef>
                <a:spcPts val="0"/>
              </a:spcBef>
              <a:spcAft>
                <a:spcPts val="0"/>
              </a:spcAft>
              <a:buClr>
                <a:srgbClr val="1B2733"/>
              </a:buClr>
              <a:buSzPts val="1300"/>
              <a:buFont typeface="Calibri"/>
              <a:buChar char="•"/>
            </a:pPr>
            <a:r>
              <a:rPr lang="en-US" sz="1300" b="0" i="0" u="none" strike="noStrike" cap="none">
                <a:solidFill>
                  <a:srgbClr val="1B2733"/>
                </a:solidFill>
                <a:latin typeface="Calibri"/>
                <a:ea typeface="Calibri"/>
                <a:cs typeface="Calibri"/>
                <a:sym typeface="Calibri"/>
              </a:rPr>
              <a:t>Instancia fija: 30 vuelos, 10 puertas y 1087 pasajeros, semilla 0. La misma en todos los experimentos.</a:t>
            </a:r>
            <a:endParaRPr sz="130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300"/>
              <a:buFont typeface="Calibri"/>
              <a:buChar char="•"/>
            </a:pPr>
            <a:r>
              <a:rPr lang="en-US" sz="1300" b="0" i="0" u="none" strike="noStrike" cap="none">
                <a:solidFill>
                  <a:srgbClr val="1B2733"/>
                </a:solidFill>
                <a:latin typeface="Calibri"/>
                <a:ea typeface="Calibri"/>
                <a:cs typeface="Calibri"/>
                <a:sym typeface="Calibri"/>
              </a:rPr>
              <a:t>Población de 50 individuos, 100 generaciones, ruleta y reemplazo elitista por ranking.</a:t>
            </a:r>
            <a:endParaRPr sz="130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300"/>
              <a:buFont typeface="Calibri"/>
              <a:buChar char="•"/>
            </a:pPr>
            <a:r>
              <a:rPr lang="en-US" sz="1300" b="0" i="0" u="none" strike="noStrike" cap="none">
                <a:solidFill>
                  <a:srgbClr val="1B2733"/>
                </a:solidFill>
                <a:latin typeface="Calibri"/>
                <a:ea typeface="Calibri"/>
                <a:cs typeface="Calibri"/>
                <a:sym typeface="Calibri"/>
              </a:rPr>
              <a:t>10 corridas por configuración; la corrida r usa la semilla 1000 + r en todas ellas (diseño pareado).</a:t>
            </a:r>
            <a:endParaRPr sz="130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300"/>
              <a:buFont typeface="Calibri"/>
              <a:buChar char="•"/>
            </a:pPr>
            <a:r>
              <a:rPr lang="en-US" sz="1300" b="0" i="0" u="none" strike="noStrike" cap="none">
                <a:solidFill>
                  <a:srgbClr val="1B2733"/>
                </a:solidFill>
                <a:latin typeface="Calibri"/>
                <a:ea typeface="Calibri"/>
                <a:cs typeface="Calibri"/>
                <a:sym typeface="Calibri"/>
              </a:rPr>
              <a:t>NSGA-II: 50 individuos, 100 generaciones, 5 corridas.</a:t>
            </a:r>
            <a:endParaRPr sz="130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300"/>
              <a:buFont typeface="Calibri"/>
              <a:buChar char="•"/>
            </a:pPr>
            <a:r>
              <a:rPr lang="en-US" sz="1300" b="0" i="0" u="none" strike="noStrike" cap="none">
                <a:solidFill>
                  <a:srgbClr val="1B2733"/>
                </a:solidFill>
                <a:latin typeface="Calibri"/>
                <a:ea typeface="Calibri"/>
                <a:cs typeface="Calibri"/>
                <a:sym typeface="Calibri"/>
              </a:rPr>
              <a:t>Prueba de permutación pareada exacta (1024 cambios de signo) en Python puro: no asume normalidad.</a:t>
            </a:r>
            <a:endParaRPr sz="1300" b="0" i="0" u="none" strike="noStrike" cap="none">
              <a:solidFill>
                <a:schemeClr val="dk1"/>
              </a:solidFill>
              <a:latin typeface="Calibri"/>
              <a:ea typeface="Calibri"/>
              <a:cs typeface="Calibri"/>
              <a:sym typeface="Calibri"/>
            </a:endParaRPr>
          </a:p>
        </p:txBody>
      </p:sp>
      <p:sp>
        <p:nvSpPr>
          <p:cNvPr id="214" name="Google Shape;214;p9"/>
          <p:cNvSpPr/>
          <p:nvPr/>
        </p:nvSpPr>
        <p:spPr>
          <a:xfrm>
            <a:off x="6263640" y="1280160"/>
            <a:ext cx="5394960" cy="4480560"/>
          </a:xfrm>
          <a:prstGeom prst="roundRect">
            <a:avLst>
              <a:gd name="adj" fmla="val 1633"/>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9"/>
          <p:cNvSpPr txBox="1"/>
          <p:nvPr/>
        </p:nvSpPr>
        <p:spPr>
          <a:xfrm>
            <a:off x="6583680" y="1508760"/>
            <a:ext cx="475488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600"/>
              <a:buFont typeface="Cambria"/>
              <a:buNone/>
            </a:pPr>
            <a:r>
              <a:rPr lang="en-US" sz="1600" b="1" i="0" u="none" strike="noStrike" cap="none">
                <a:solidFill>
                  <a:srgbClr val="F2A65A"/>
                </a:solidFill>
                <a:latin typeface="Cambria"/>
                <a:ea typeface="Cambria"/>
                <a:cs typeface="Cambria"/>
                <a:sym typeface="Cambria"/>
              </a:rPr>
              <a:t>Métricas</a:t>
            </a:r>
            <a:endParaRPr sz="1600" b="0" i="0" u="none" strike="noStrike" cap="none">
              <a:solidFill>
                <a:schemeClr val="dk1"/>
              </a:solidFill>
              <a:latin typeface="Calibri"/>
              <a:ea typeface="Calibri"/>
              <a:cs typeface="Calibri"/>
              <a:sym typeface="Calibri"/>
            </a:endParaRPr>
          </a:p>
        </p:txBody>
      </p:sp>
      <p:sp>
        <p:nvSpPr>
          <p:cNvPr id="216" name="Google Shape;216;p9"/>
          <p:cNvSpPr txBox="1"/>
          <p:nvPr/>
        </p:nvSpPr>
        <p:spPr>
          <a:xfrm>
            <a:off x="6583680" y="1965960"/>
            <a:ext cx="47548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Validez</a:t>
            </a:r>
            <a:endParaRPr sz="1300" b="0" i="0" u="none" strike="noStrike" cap="none">
              <a:solidFill>
                <a:schemeClr val="dk1"/>
              </a:solidFill>
              <a:latin typeface="Calibri"/>
              <a:ea typeface="Calibri"/>
              <a:cs typeface="Calibri"/>
              <a:sym typeface="Calibri"/>
            </a:endParaRPr>
          </a:p>
        </p:txBody>
      </p:sp>
      <p:sp>
        <p:nvSpPr>
          <p:cNvPr id="217" name="Google Shape;217;p9"/>
          <p:cNvSpPr txBox="1"/>
          <p:nvPr/>
        </p:nvSpPr>
        <p:spPr>
          <a:xfrm>
            <a:off x="6583680" y="2221992"/>
            <a:ext cx="475488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¿el mejor individuo es ejecutable? — restricción dura</a:t>
            </a:r>
            <a:endParaRPr sz="1150" b="0" i="0" u="none" strike="noStrike" cap="none">
              <a:solidFill>
                <a:schemeClr val="dk1"/>
              </a:solidFill>
              <a:latin typeface="Calibri"/>
              <a:ea typeface="Calibri"/>
              <a:cs typeface="Calibri"/>
              <a:sym typeface="Calibri"/>
            </a:endParaRPr>
          </a:p>
        </p:txBody>
      </p:sp>
      <p:sp>
        <p:nvSpPr>
          <p:cNvPr id="218" name="Google Shape;218;p9"/>
          <p:cNvSpPr txBox="1"/>
          <p:nvPr/>
        </p:nvSpPr>
        <p:spPr>
          <a:xfrm>
            <a:off x="6583680" y="2697480"/>
            <a:ext cx="47548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Mejor fitness</a:t>
            </a:r>
            <a:endParaRPr sz="1300" b="0" i="0" u="none" strike="noStrike" cap="none">
              <a:solidFill>
                <a:schemeClr val="dk1"/>
              </a:solidFill>
              <a:latin typeface="Calibri"/>
              <a:ea typeface="Calibri"/>
              <a:cs typeface="Calibri"/>
              <a:sym typeface="Calibri"/>
            </a:endParaRPr>
          </a:p>
        </p:txBody>
      </p:sp>
      <p:sp>
        <p:nvSpPr>
          <p:cNvPr id="219" name="Google Shape;219;p9"/>
          <p:cNvSpPr txBox="1"/>
          <p:nvPr/>
        </p:nvSpPr>
        <p:spPr>
          <a:xfrm>
            <a:off x="6583680" y="2953512"/>
            <a:ext cx="475488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pasajeros por unidad de tiempo</a:t>
            </a:r>
            <a:endParaRPr sz="1150" b="0" i="0" u="none" strike="noStrike" cap="none">
              <a:solidFill>
                <a:schemeClr val="dk1"/>
              </a:solidFill>
              <a:latin typeface="Calibri"/>
              <a:ea typeface="Calibri"/>
              <a:cs typeface="Calibri"/>
              <a:sym typeface="Calibri"/>
            </a:endParaRPr>
          </a:p>
        </p:txBody>
      </p:sp>
      <p:sp>
        <p:nvSpPr>
          <p:cNvPr id="220" name="Google Shape;220;p9"/>
          <p:cNvSpPr txBox="1"/>
          <p:nvPr/>
        </p:nvSpPr>
        <p:spPr>
          <a:xfrm>
            <a:off x="6583680" y="3429000"/>
            <a:ext cx="47548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Gap al óptimo</a:t>
            </a:r>
            <a:endParaRPr sz="1300" b="0" i="0" u="none" strike="noStrike" cap="none">
              <a:solidFill>
                <a:schemeClr val="dk1"/>
              </a:solidFill>
              <a:latin typeface="Calibri"/>
              <a:ea typeface="Calibri"/>
              <a:cs typeface="Calibri"/>
              <a:sym typeface="Calibri"/>
            </a:endParaRPr>
          </a:p>
        </p:txBody>
      </p:sp>
      <p:sp>
        <p:nvSpPr>
          <p:cNvPr id="221" name="Google Shape;221;p9"/>
          <p:cNvSpPr txBox="1"/>
          <p:nvPr/>
        </p:nvSpPr>
        <p:spPr>
          <a:xfrm>
            <a:off x="6583680" y="3685032"/>
            <a:ext cx="475488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distancia porcentual al óptimo exacto</a:t>
            </a:r>
            <a:endParaRPr sz="1150" b="0" i="0" u="none" strike="noStrike" cap="none">
              <a:solidFill>
                <a:schemeClr val="dk1"/>
              </a:solidFill>
              <a:latin typeface="Calibri"/>
              <a:ea typeface="Calibri"/>
              <a:cs typeface="Calibri"/>
              <a:sym typeface="Calibri"/>
            </a:endParaRPr>
          </a:p>
        </p:txBody>
      </p:sp>
      <p:sp>
        <p:nvSpPr>
          <p:cNvPr id="222" name="Google Shape;222;p9"/>
          <p:cNvSpPr txBox="1"/>
          <p:nvPr/>
        </p:nvSpPr>
        <p:spPr>
          <a:xfrm>
            <a:off x="6583680" y="4160520"/>
            <a:ext cx="47548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Tasa de éxito</a:t>
            </a:r>
            <a:endParaRPr sz="1300" b="0" i="0" u="none" strike="noStrike" cap="none">
              <a:solidFill>
                <a:schemeClr val="dk1"/>
              </a:solidFill>
              <a:latin typeface="Calibri"/>
              <a:ea typeface="Calibri"/>
              <a:cs typeface="Calibri"/>
              <a:sym typeface="Calibri"/>
            </a:endParaRPr>
          </a:p>
        </p:txBody>
      </p:sp>
      <p:sp>
        <p:nvSpPr>
          <p:cNvPr id="223" name="Google Shape;223;p9"/>
          <p:cNvSpPr txBox="1"/>
          <p:nvPr/>
        </p:nvSpPr>
        <p:spPr>
          <a:xfrm>
            <a:off x="6583680" y="4416552"/>
            <a:ext cx="475488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corridas que alcanzan el óptimo exacto — la métrica decisiva</a:t>
            </a:r>
            <a:endParaRPr sz="1150" b="0" i="0" u="none" strike="noStrike" cap="none">
              <a:solidFill>
                <a:schemeClr val="dk1"/>
              </a:solidFill>
              <a:latin typeface="Calibri"/>
              <a:ea typeface="Calibri"/>
              <a:cs typeface="Calibri"/>
              <a:sym typeface="Calibri"/>
            </a:endParaRPr>
          </a:p>
        </p:txBody>
      </p:sp>
      <p:sp>
        <p:nvSpPr>
          <p:cNvPr id="224" name="Google Shape;224;p9"/>
          <p:cNvSpPr txBox="1"/>
          <p:nvPr/>
        </p:nvSpPr>
        <p:spPr>
          <a:xfrm>
            <a:off x="6583680" y="4892040"/>
            <a:ext cx="47548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US" sz="1300" b="1" i="0" u="none" strike="noStrike" cap="none">
                <a:solidFill>
                  <a:srgbClr val="FFFFFF"/>
                </a:solidFill>
                <a:latin typeface="Calibri"/>
                <a:ea typeface="Calibri"/>
                <a:cs typeface="Calibri"/>
                <a:sym typeface="Calibri"/>
              </a:rPr>
              <a:t>Hipervolumen</a:t>
            </a:r>
            <a:endParaRPr sz="1300" b="0" i="0" u="none" strike="noStrike" cap="none">
              <a:solidFill>
                <a:schemeClr val="dk1"/>
              </a:solidFill>
              <a:latin typeface="Calibri"/>
              <a:ea typeface="Calibri"/>
              <a:cs typeface="Calibri"/>
              <a:sym typeface="Calibri"/>
            </a:endParaRPr>
          </a:p>
        </p:txBody>
      </p:sp>
      <p:sp>
        <p:nvSpPr>
          <p:cNvPr id="225" name="Google Shape;225;p9"/>
          <p:cNvSpPr txBox="1"/>
          <p:nvPr/>
        </p:nvSpPr>
        <p:spPr>
          <a:xfrm>
            <a:off x="6583680" y="5148072"/>
            <a:ext cx="475488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calidad y extensión de la frontera de Pareto</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9"/>
        <p:cNvGrpSpPr/>
        <p:nvPr/>
      </p:nvGrpSpPr>
      <p:grpSpPr>
        <a:xfrm>
          <a:off x="0" y="0"/>
          <a:ext cx="0" cy="0"/>
          <a:chOff x="0" y="0"/>
          <a:chExt cx="0" cy="0"/>
        </a:xfrm>
      </p:grpSpPr>
      <p:sp>
        <p:nvSpPr>
          <p:cNvPr id="230" name="Google Shape;230;p10"/>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LA VARA DE MEDIR</a:t>
            </a:r>
            <a:endParaRPr sz="1100" b="0" i="0" u="none" strike="noStrike" cap="none">
              <a:solidFill>
                <a:schemeClr val="dk1"/>
              </a:solidFill>
              <a:latin typeface="Calibri"/>
              <a:ea typeface="Calibri"/>
              <a:cs typeface="Calibri"/>
              <a:sym typeface="Calibri"/>
            </a:endParaRPr>
          </a:p>
        </p:txBody>
      </p:sp>
      <p:sp>
        <p:nvSpPr>
          <p:cNvPr id="231" name="Google Shape;231;p10"/>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El óptimo exacto de la instancia</a:t>
            </a:r>
            <a:endParaRPr sz="3000" b="0" i="0" u="none" strike="noStrike" cap="none">
              <a:solidFill>
                <a:schemeClr val="dk1"/>
              </a:solidFill>
              <a:latin typeface="Calibri"/>
              <a:ea typeface="Calibri"/>
              <a:cs typeface="Calibri"/>
              <a:sym typeface="Calibri"/>
            </a:endParaRPr>
          </a:p>
        </p:txBody>
      </p:sp>
      <p:sp>
        <p:nvSpPr>
          <p:cNvPr id="232" name="Google Shape;232;p10"/>
          <p:cNvSpPr/>
          <p:nvPr/>
        </p:nvSpPr>
        <p:spPr>
          <a:xfrm>
            <a:off x="548640" y="1280160"/>
            <a:ext cx="3566160" cy="1965960"/>
          </a:xfrm>
          <a:prstGeom prst="roundRect">
            <a:avLst>
              <a:gd name="adj" fmla="val 3721"/>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0"/>
          <p:cNvSpPr/>
          <p:nvPr/>
        </p:nvSpPr>
        <p:spPr>
          <a:xfrm>
            <a:off x="822960" y="1508760"/>
            <a:ext cx="384048" cy="384048"/>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10"/>
          <p:cNvSpPr txBox="1"/>
          <p:nvPr/>
        </p:nvSpPr>
        <p:spPr>
          <a:xfrm>
            <a:off x="822960" y="150876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1</a:t>
            </a:r>
            <a:endParaRPr sz="1100" b="0" i="0" u="none" strike="noStrike" cap="none">
              <a:solidFill>
                <a:schemeClr val="dk1"/>
              </a:solidFill>
              <a:latin typeface="Calibri"/>
              <a:ea typeface="Calibri"/>
              <a:cs typeface="Calibri"/>
              <a:sym typeface="Calibri"/>
            </a:endParaRPr>
          </a:p>
        </p:txBody>
      </p:sp>
      <p:sp>
        <p:nvSpPr>
          <p:cNvPr id="235" name="Google Shape;235;p10"/>
          <p:cNvSpPr txBox="1"/>
          <p:nvPr/>
        </p:nvSpPr>
        <p:spPr>
          <a:xfrm>
            <a:off x="822960" y="2011680"/>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500"/>
              <a:buFont typeface="Calibri"/>
              <a:buNone/>
            </a:pPr>
            <a:r>
              <a:rPr lang="en-US" sz="1500" b="1" i="0" u="none" strike="noStrike" cap="none">
                <a:solidFill>
                  <a:srgbClr val="1B2733"/>
                </a:solidFill>
                <a:latin typeface="Calibri"/>
                <a:ea typeface="Calibri"/>
                <a:cs typeface="Calibri"/>
                <a:sym typeface="Calibri"/>
              </a:rPr>
              <a:t>Fitness aditivo</a:t>
            </a:r>
            <a:endParaRPr sz="1500" b="0" i="0" u="none" strike="noStrike" cap="none">
              <a:solidFill>
                <a:schemeClr val="dk1"/>
              </a:solidFill>
              <a:latin typeface="Calibri"/>
              <a:ea typeface="Calibri"/>
              <a:cs typeface="Calibri"/>
              <a:sym typeface="Calibri"/>
            </a:endParaRPr>
          </a:p>
        </p:txBody>
      </p:sp>
      <p:sp>
        <p:nvSpPr>
          <p:cNvPr id="236" name="Google Shape;236;p10"/>
          <p:cNvSpPr txBox="1"/>
          <p:nvPr/>
        </p:nvSpPr>
        <p:spPr>
          <a:xfrm>
            <a:off x="822960" y="2331720"/>
            <a:ext cx="3017520" cy="82296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5A6B7B"/>
              </a:buClr>
              <a:buSzPts val="1250"/>
              <a:buFont typeface="Calibri"/>
              <a:buNone/>
            </a:pPr>
            <a:r>
              <a:rPr lang="en-US" sz="1250" b="0" i="0" u="none" strike="noStrike" cap="none">
                <a:solidFill>
                  <a:srgbClr val="5A6B7B"/>
                </a:solidFill>
                <a:latin typeface="Calibri"/>
                <a:ea typeface="Calibri"/>
                <a:cs typeface="Calibri"/>
                <a:sym typeface="Calibri"/>
              </a:rPr>
              <a:t>El fitness suma un término independiente por asignación: las 10 decisiones no interactúan entre sí.</a:t>
            </a:r>
            <a:endParaRPr sz="1250" b="0" i="0" u="none" strike="noStrike" cap="none">
              <a:solidFill>
                <a:schemeClr val="dk1"/>
              </a:solidFill>
              <a:latin typeface="Calibri"/>
              <a:ea typeface="Calibri"/>
              <a:cs typeface="Calibri"/>
              <a:sym typeface="Calibri"/>
            </a:endParaRPr>
          </a:p>
        </p:txBody>
      </p:sp>
      <p:sp>
        <p:nvSpPr>
          <p:cNvPr id="237" name="Google Shape;237;p10"/>
          <p:cNvSpPr/>
          <p:nvPr/>
        </p:nvSpPr>
        <p:spPr>
          <a:xfrm>
            <a:off x="4343400" y="1280160"/>
            <a:ext cx="3566160" cy="1965960"/>
          </a:xfrm>
          <a:prstGeom prst="roundRect">
            <a:avLst>
              <a:gd name="adj" fmla="val 3721"/>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0"/>
          <p:cNvSpPr/>
          <p:nvPr/>
        </p:nvSpPr>
        <p:spPr>
          <a:xfrm>
            <a:off x="4617720" y="1508760"/>
            <a:ext cx="384048" cy="384048"/>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10"/>
          <p:cNvSpPr txBox="1"/>
          <p:nvPr/>
        </p:nvSpPr>
        <p:spPr>
          <a:xfrm>
            <a:off x="4617720" y="150876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2</a:t>
            </a:r>
            <a:endParaRPr sz="1100" b="0" i="0" u="none" strike="noStrike" cap="none">
              <a:solidFill>
                <a:schemeClr val="dk1"/>
              </a:solidFill>
              <a:latin typeface="Calibri"/>
              <a:ea typeface="Calibri"/>
              <a:cs typeface="Calibri"/>
              <a:sym typeface="Calibri"/>
            </a:endParaRPr>
          </a:p>
        </p:txBody>
      </p:sp>
      <p:sp>
        <p:nvSpPr>
          <p:cNvPr id="240" name="Google Shape;240;p10"/>
          <p:cNvSpPr txBox="1"/>
          <p:nvPr/>
        </p:nvSpPr>
        <p:spPr>
          <a:xfrm>
            <a:off x="4617720" y="2011680"/>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500"/>
              <a:buFont typeface="Calibri"/>
              <a:buNone/>
            </a:pPr>
            <a:r>
              <a:rPr lang="en-US" sz="1500" b="1" i="0" u="none" strike="noStrike" cap="none">
                <a:solidFill>
                  <a:srgbClr val="1B2733"/>
                </a:solidFill>
                <a:latin typeface="Calibri"/>
                <a:ea typeface="Calibri"/>
                <a:cs typeface="Calibri"/>
                <a:sym typeface="Calibri"/>
              </a:rPr>
              <a:t>Estado compacto</a:t>
            </a:r>
            <a:endParaRPr sz="1500" b="0" i="0" u="none" strike="noStrike" cap="none">
              <a:solidFill>
                <a:schemeClr val="dk1"/>
              </a:solidFill>
              <a:latin typeface="Calibri"/>
              <a:ea typeface="Calibri"/>
              <a:cs typeface="Calibri"/>
              <a:sym typeface="Calibri"/>
            </a:endParaRPr>
          </a:p>
        </p:txBody>
      </p:sp>
      <p:sp>
        <p:nvSpPr>
          <p:cNvPr id="241" name="Google Shape;241;p10"/>
          <p:cNvSpPr txBox="1"/>
          <p:nvPr/>
        </p:nvSpPr>
        <p:spPr>
          <a:xfrm>
            <a:off x="4617720" y="2331720"/>
            <a:ext cx="3017520" cy="82296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5A6B7B"/>
              </a:buClr>
              <a:buSzPts val="1250"/>
              <a:buFont typeface="Calibri"/>
              <a:buNone/>
            </a:pPr>
            <a:r>
              <a:rPr lang="en-US" sz="1250" b="0" i="0" u="none" strike="noStrike" cap="none">
                <a:solidFill>
                  <a:srgbClr val="5A6B7B"/>
                </a:solidFill>
                <a:latin typeface="Calibri"/>
                <a:ea typeface="Calibri"/>
                <a:cs typeface="Calibri"/>
                <a:sym typeface="Calibri"/>
              </a:rPr>
              <a:t>Con 10 puertas, qué puertas ya se usaron cabe en una máscara de 10 bits: solo 1024 estados posibles.</a:t>
            </a:r>
            <a:endParaRPr sz="1250" b="0" i="0" u="none" strike="noStrike" cap="none">
              <a:solidFill>
                <a:schemeClr val="dk1"/>
              </a:solidFill>
              <a:latin typeface="Calibri"/>
              <a:ea typeface="Calibri"/>
              <a:cs typeface="Calibri"/>
              <a:sym typeface="Calibri"/>
            </a:endParaRPr>
          </a:p>
        </p:txBody>
      </p:sp>
      <p:sp>
        <p:nvSpPr>
          <p:cNvPr id="242" name="Google Shape;242;p10"/>
          <p:cNvSpPr/>
          <p:nvPr/>
        </p:nvSpPr>
        <p:spPr>
          <a:xfrm>
            <a:off x="8138160" y="1280160"/>
            <a:ext cx="3566160" cy="1965960"/>
          </a:xfrm>
          <a:prstGeom prst="roundRect">
            <a:avLst>
              <a:gd name="adj" fmla="val 3721"/>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0"/>
          <p:cNvSpPr/>
          <p:nvPr/>
        </p:nvSpPr>
        <p:spPr>
          <a:xfrm>
            <a:off x="8412480" y="1508760"/>
            <a:ext cx="384048" cy="384048"/>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10"/>
          <p:cNvSpPr txBox="1"/>
          <p:nvPr/>
        </p:nvSpPr>
        <p:spPr>
          <a:xfrm>
            <a:off x="8412480" y="150876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3</a:t>
            </a:r>
            <a:endParaRPr sz="1100" b="0" i="0" u="none" strike="noStrike" cap="none">
              <a:solidFill>
                <a:schemeClr val="dk1"/>
              </a:solidFill>
              <a:latin typeface="Calibri"/>
              <a:ea typeface="Calibri"/>
              <a:cs typeface="Calibri"/>
              <a:sym typeface="Calibri"/>
            </a:endParaRPr>
          </a:p>
        </p:txBody>
      </p:sp>
      <p:sp>
        <p:nvSpPr>
          <p:cNvPr id="245" name="Google Shape;245;p10"/>
          <p:cNvSpPr txBox="1"/>
          <p:nvPr/>
        </p:nvSpPr>
        <p:spPr>
          <a:xfrm>
            <a:off x="8412480" y="2011680"/>
            <a:ext cx="30175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500"/>
              <a:buFont typeface="Calibri"/>
              <a:buNone/>
            </a:pPr>
            <a:r>
              <a:rPr lang="en-US" sz="1500" b="1" i="0" u="none" strike="noStrike" cap="none">
                <a:solidFill>
                  <a:srgbClr val="1B2733"/>
                </a:solidFill>
                <a:latin typeface="Calibri"/>
                <a:ea typeface="Calibri"/>
                <a:cs typeface="Calibri"/>
                <a:sym typeface="Calibri"/>
              </a:rPr>
              <a:t>Programación dinámica</a:t>
            </a:r>
            <a:endParaRPr sz="1500" b="0" i="0" u="none" strike="noStrike" cap="none">
              <a:solidFill>
                <a:schemeClr val="dk1"/>
              </a:solidFill>
              <a:latin typeface="Calibri"/>
              <a:ea typeface="Calibri"/>
              <a:cs typeface="Calibri"/>
              <a:sym typeface="Calibri"/>
            </a:endParaRPr>
          </a:p>
        </p:txBody>
      </p:sp>
      <p:sp>
        <p:nvSpPr>
          <p:cNvPr id="246" name="Google Shape;246;p10"/>
          <p:cNvSpPr txBox="1"/>
          <p:nvPr/>
        </p:nvSpPr>
        <p:spPr>
          <a:xfrm>
            <a:off x="8412480" y="2331720"/>
            <a:ext cx="3017520" cy="82296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5A6B7B"/>
              </a:buClr>
              <a:buSzPts val="1250"/>
              <a:buFont typeface="Calibri"/>
              <a:buNone/>
            </a:pPr>
            <a:r>
              <a:rPr lang="en-US" sz="1250" b="0" i="0" u="none" strike="noStrike" cap="none">
                <a:solidFill>
                  <a:srgbClr val="5A6B7B"/>
                </a:solidFill>
                <a:latin typeface="Calibri"/>
                <a:ea typeface="Calibri"/>
                <a:cs typeface="Calibri"/>
                <a:sym typeface="Calibri"/>
              </a:rPr>
              <a:t>Se recorre vuelo por vuelo: omitirlo o asignarlo a una puerta libre. 307 200 transiciones en total.</a:t>
            </a:r>
            <a:endParaRPr sz="1250" b="0" i="0" u="none" strike="noStrike" cap="none">
              <a:solidFill>
                <a:schemeClr val="dk1"/>
              </a:solidFill>
              <a:latin typeface="Calibri"/>
              <a:ea typeface="Calibri"/>
              <a:cs typeface="Calibri"/>
              <a:sym typeface="Calibri"/>
            </a:endParaRPr>
          </a:p>
        </p:txBody>
      </p:sp>
      <p:sp>
        <p:nvSpPr>
          <p:cNvPr id="247" name="Google Shape;247;p10"/>
          <p:cNvSpPr/>
          <p:nvPr/>
        </p:nvSpPr>
        <p:spPr>
          <a:xfrm>
            <a:off x="548640" y="3611880"/>
            <a:ext cx="11109960" cy="2148840"/>
          </a:xfrm>
          <a:prstGeom prst="roundRect">
            <a:avLst>
              <a:gd name="adj" fmla="val 3404"/>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0"/>
          <p:cNvSpPr txBox="1"/>
          <p:nvPr/>
        </p:nvSpPr>
        <p:spPr>
          <a:xfrm>
            <a:off x="914400" y="3840480"/>
            <a:ext cx="59436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700"/>
              <a:buFont typeface="Cambria"/>
              <a:buNone/>
            </a:pPr>
            <a:r>
              <a:rPr lang="en-US" sz="1700" b="1" i="0" u="none" strike="noStrike" cap="none">
                <a:solidFill>
                  <a:srgbClr val="FFFFFF"/>
                </a:solidFill>
                <a:latin typeface="Cambria"/>
                <a:ea typeface="Cambria"/>
                <a:cs typeface="Cambria"/>
                <a:sym typeface="Cambria"/>
              </a:rPr>
              <a:t>Por qué esto cambia todo el análisis</a:t>
            </a:r>
            <a:endParaRPr sz="1700" b="0" i="0" u="none" strike="noStrike" cap="none">
              <a:solidFill>
                <a:schemeClr val="dk1"/>
              </a:solidFill>
              <a:latin typeface="Calibri"/>
              <a:ea typeface="Calibri"/>
              <a:cs typeface="Calibri"/>
              <a:sym typeface="Calibri"/>
            </a:endParaRPr>
          </a:p>
        </p:txBody>
      </p:sp>
      <p:sp>
        <p:nvSpPr>
          <p:cNvPr id="249" name="Google Shape;249;p10"/>
          <p:cNvSpPr txBox="1"/>
          <p:nvPr/>
        </p:nvSpPr>
        <p:spPr>
          <a:xfrm>
            <a:off x="914400" y="4251960"/>
            <a:ext cx="5943600" cy="109728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CADCFC"/>
              </a:buClr>
              <a:buSzPts val="1300"/>
              <a:buFont typeface="Calibri"/>
              <a:buNone/>
            </a:pPr>
            <a:r>
              <a:rPr lang="en-US" sz="1300" b="0" i="0" u="none" strike="noStrike" cap="none">
                <a:solidFill>
                  <a:srgbClr val="CADCFC"/>
                </a:solidFill>
                <a:latin typeface="Calibri"/>
                <a:ea typeface="Calibri"/>
                <a:cs typeface="Calibri"/>
                <a:sym typeface="Calibri"/>
              </a:rPr>
              <a:t>Hasta aquí solo podíamos decir que el AG encontró algo bueno. Con el óptimo calculado podemos decir si lo encontró y con qué frecuencia. La calidad deja de medirse contra el mejor resultado del propio algoritmo y pasa a medirse contra el mejor valor que existe.</a:t>
            </a:r>
            <a:endParaRPr sz="1300" b="0" i="0" u="none" strike="noStrike" cap="none">
              <a:solidFill>
                <a:schemeClr val="dk1"/>
              </a:solidFill>
              <a:latin typeface="Calibri"/>
              <a:ea typeface="Calibri"/>
              <a:cs typeface="Calibri"/>
              <a:sym typeface="Calibri"/>
            </a:endParaRPr>
          </a:p>
        </p:txBody>
      </p:sp>
      <p:sp>
        <p:nvSpPr>
          <p:cNvPr id="250" name="Google Shape;250;p10"/>
          <p:cNvSpPr txBox="1"/>
          <p:nvPr/>
        </p:nvSpPr>
        <p:spPr>
          <a:xfrm>
            <a:off x="7315200" y="3931920"/>
            <a:ext cx="201168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C7293"/>
              </a:buClr>
              <a:buSzPts val="4000"/>
              <a:buFont typeface="Cambria"/>
              <a:buNone/>
            </a:pPr>
            <a:r>
              <a:rPr lang="en-US" sz="4000" b="1" i="0" u="none" strike="noStrike" cap="none">
                <a:solidFill>
                  <a:srgbClr val="1C7293"/>
                </a:solidFill>
                <a:latin typeface="Cambria"/>
                <a:ea typeface="Cambria"/>
                <a:cs typeface="Cambria"/>
                <a:sym typeface="Cambria"/>
              </a:rPr>
              <a:t>5,0819</a:t>
            </a:r>
            <a:endParaRPr sz="4000" b="0" i="0" u="none" strike="noStrike" cap="none">
              <a:solidFill>
                <a:schemeClr val="dk1"/>
              </a:solidFill>
              <a:latin typeface="Calibri"/>
              <a:ea typeface="Calibri"/>
              <a:cs typeface="Calibri"/>
              <a:sym typeface="Calibri"/>
            </a:endParaRPr>
          </a:p>
        </p:txBody>
      </p:sp>
      <p:sp>
        <p:nvSpPr>
          <p:cNvPr id="251" name="Google Shape;251;p10"/>
          <p:cNvSpPr txBox="1"/>
          <p:nvPr/>
        </p:nvSpPr>
        <p:spPr>
          <a:xfrm>
            <a:off x="7315200" y="4590288"/>
            <a:ext cx="2011680" cy="4572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CADCFC"/>
              </a:buClr>
              <a:buSzPts val="1100"/>
              <a:buFont typeface="Calibri"/>
              <a:buNone/>
            </a:pPr>
            <a:r>
              <a:rPr lang="en-US" sz="1100" b="0" i="0" u="none" strike="noStrike" cap="none">
                <a:solidFill>
                  <a:srgbClr val="CADCFC"/>
                </a:solidFill>
                <a:latin typeface="Calibri"/>
                <a:ea typeface="Calibri"/>
                <a:cs typeface="Calibri"/>
                <a:sym typeface="Calibri"/>
              </a:rPr>
              <a:t>óptimo exacto demostrado</a:t>
            </a:r>
            <a:endParaRPr sz="1100" b="0" i="0" u="none" strike="noStrike" cap="none">
              <a:solidFill>
                <a:schemeClr val="dk1"/>
              </a:solidFill>
              <a:latin typeface="Calibri"/>
              <a:ea typeface="Calibri"/>
              <a:cs typeface="Calibri"/>
              <a:sym typeface="Calibri"/>
            </a:endParaRPr>
          </a:p>
        </p:txBody>
      </p:sp>
      <p:sp>
        <p:nvSpPr>
          <p:cNvPr id="252" name="Google Shape;252;p10"/>
          <p:cNvSpPr txBox="1"/>
          <p:nvPr/>
        </p:nvSpPr>
        <p:spPr>
          <a:xfrm>
            <a:off x="9464040" y="3931920"/>
            <a:ext cx="2011680" cy="685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C7293"/>
              </a:buClr>
              <a:buSzPts val="4000"/>
              <a:buFont typeface="Cambria"/>
              <a:buNone/>
            </a:pPr>
            <a:r>
              <a:rPr lang="en-US" sz="4000" b="1" i="0" u="none" strike="noStrike" cap="none">
                <a:solidFill>
                  <a:srgbClr val="1C7293"/>
                </a:solidFill>
                <a:latin typeface="Cambria"/>
                <a:ea typeface="Cambria"/>
                <a:cs typeface="Cambria"/>
                <a:sym typeface="Cambria"/>
              </a:rPr>
              <a:t>1024</a:t>
            </a:r>
            <a:endParaRPr sz="4000" b="0" i="0" u="none" strike="noStrike" cap="none">
              <a:solidFill>
                <a:schemeClr val="dk1"/>
              </a:solidFill>
              <a:latin typeface="Calibri"/>
              <a:ea typeface="Calibri"/>
              <a:cs typeface="Calibri"/>
              <a:sym typeface="Calibri"/>
            </a:endParaRPr>
          </a:p>
        </p:txBody>
      </p:sp>
      <p:sp>
        <p:nvSpPr>
          <p:cNvPr id="253" name="Google Shape;253;p10"/>
          <p:cNvSpPr txBox="1"/>
          <p:nvPr/>
        </p:nvSpPr>
        <p:spPr>
          <a:xfrm>
            <a:off x="9464040" y="4590288"/>
            <a:ext cx="2011680" cy="4572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rgbClr val="CADCFC"/>
              </a:buClr>
              <a:buSzPts val="1100"/>
              <a:buFont typeface="Calibri"/>
              <a:buNone/>
            </a:pPr>
            <a:r>
              <a:rPr lang="en-US" sz="1100" b="0" i="0" u="none" strike="noStrike" cap="none">
                <a:solidFill>
                  <a:srgbClr val="CADCFC"/>
                </a:solidFill>
                <a:latin typeface="Calibri"/>
                <a:ea typeface="Calibri"/>
                <a:cs typeface="Calibri"/>
                <a:sym typeface="Calibri"/>
              </a:rPr>
              <a:t>estados de la programación dinámica</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8"/>
        <p:cNvGrpSpPr/>
        <p:nvPr/>
      </p:nvGrpSpPr>
      <p:grpSpPr>
        <a:xfrm>
          <a:off x="0" y="0"/>
          <a:ext cx="0" cy="0"/>
          <a:chOff x="0" y="0"/>
          <a:chExt cx="0" cy="0"/>
        </a:xfrm>
      </p:grpSpPr>
      <p:sp>
        <p:nvSpPr>
          <p:cNvPr id="259" name="Google Shape;259;p11"/>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RESULTADO 1</a:t>
            </a:r>
            <a:endParaRPr sz="1100" b="0" i="0" u="none" strike="noStrike" cap="none">
              <a:solidFill>
                <a:schemeClr val="dk1"/>
              </a:solidFill>
              <a:latin typeface="Calibri"/>
              <a:ea typeface="Calibri"/>
              <a:cs typeface="Calibri"/>
              <a:sym typeface="Calibri"/>
            </a:endParaRPr>
          </a:p>
        </p:txBody>
      </p:sp>
      <p:sp>
        <p:nvSpPr>
          <p:cNvPr id="260" name="Google Shape;260;p11"/>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Auditoría directa de los operadores</a:t>
            </a:r>
            <a:endParaRPr sz="3000" b="0" i="0" u="none" strike="noStrike" cap="none">
              <a:solidFill>
                <a:schemeClr val="dk1"/>
              </a:solidFill>
              <a:latin typeface="Calibri"/>
              <a:ea typeface="Calibri"/>
              <a:cs typeface="Calibri"/>
              <a:sym typeface="Calibri"/>
            </a:endParaRPr>
          </a:p>
        </p:txBody>
      </p:sp>
      <p:sp>
        <p:nvSpPr>
          <p:cNvPr id="261" name="Google Shape;261;p11"/>
          <p:cNvSpPr txBox="1"/>
          <p:nvPr/>
        </p:nvSpPr>
        <p:spPr>
          <a:xfrm>
            <a:off x="548640" y="1143000"/>
            <a:ext cx="731520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6B7B"/>
              </a:buClr>
              <a:buSzPts val="1300"/>
              <a:buFont typeface="Calibri"/>
              <a:buNone/>
            </a:pPr>
            <a:r>
              <a:rPr lang="en-US" sz="1300" b="0" i="0" u="none" strike="noStrike" cap="none">
                <a:solidFill>
                  <a:srgbClr val="5A6B7B"/>
                </a:solidFill>
                <a:latin typeface="Calibri"/>
                <a:ea typeface="Calibri"/>
                <a:cs typeface="Calibri"/>
                <a:sym typeface="Calibri"/>
              </a:rPr>
              <a:t>2000 parejas de padres factibles, midiendo solo el efecto del operador.</a:t>
            </a:r>
            <a:endParaRPr sz="1300" b="0" i="0" u="none" strike="noStrike" cap="none">
              <a:solidFill>
                <a:schemeClr val="dk1"/>
              </a:solidFill>
              <a:latin typeface="Calibri"/>
              <a:ea typeface="Calibri"/>
              <a:cs typeface="Calibri"/>
              <a:sym typeface="Calibri"/>
            </a:endParaRPr>
          </a:p>
        </p:txBody>
      </p:sp>
      <p:graphicFrame>
        <p:nvGraphicFramePr>
          <p:cNvPr id="262" name="Google Shape;262;p11"/>
          <p:cNvGraphicFramePr/>
          <p:nvPr/>
        </p:nvGraphicFramePr>
        <p:xfrm>
          <a:off x="548640" y="1600200"/>
          <a:ext cx="3000000" cy="3000000"/>
        </p:xfrm>
        <a:graphic>
          <a:graphicData uri="http://schemas.openxmlformats.org/drawingml/2006/table">
            <a:tbl>
              <a:tblPr>
                <a:noFill/>
                <a:tableStyleId>{DBD8EA12-1187-4A30-BC3E-C45968364C9D}</a:tableStyleId>
              </a:tblPr>
              <a:tblGrid>
                <a:gridCol w="3383275">
                  <a:extLst>
                    <a:ext uri="{9D8B030D-6E8A-4147-A177-3AD203B41FA5}">
                      <a16:colId xmlns:a16="http://schemas.microsoft.com/office/drawing/2014/main" val="20000"/>
                    </a:ext>
                  </a:extLst>
                </a:gridCol>
                <a:gridCol w="1280150">
                  <a:extLst>
                    <a:ext uri="{9D8B030D-6E8A-4147-A177-3AD203B41FA5}">
                      <a16:colId xmlns:a16="http://schemas.microsoft.com/office/drawing/2014/main" val="20001"/>
                    </a:ext>
                  </a:extLst>
                </a:gridCol>
                <a:gridCol w="1645925">
                  <a:extLst>
                    <a:ext uri="{9D8B030D-6E8A-4147-A177-3AD203B41FA5}">
                      <a16:colId xmlns:a16="http://schemas.microsoft.com/office/drawing/2014/main" val="20002"/>
                    </a:ext>
                  </a:extLst>
                </a:gridCol>
                <a:gridCol w="1463050">
                  <a:extLst>
                    <a:ext uri="{9D8B030D-6E8A-4147-A177-3AD203B41FA5}">
                      <a16:colId xmlns:a16="http://schemas.microsoft.com/office/drawing/2014/main" val="20003"/>
                    </a:ext>
                  </a:extLst>
                </a:gridCol>
              </a:tblGrid>
              <a:tr h="279800">
                <a:tc>
                  <a:txBody>
                    <a:bodyPr/>
                    <a:lstStyle/>
                    <a:p>
                      <a:pPr marL="0" marR="0" lvl="0" indent="0" algn="l" rtl="0">
                        <a:spcBef>
                          <a:spcPts val="0"/>
                        </a:spcBef>
                        <a:spcAft>
                          <a:spcPts val="0"/>
                        </a:spcAft>
                        <a:buClr>
                          <a:srgbClr val="FFFFFF"/>
                        </a:buClr>
                        <a:buSzPts val="1150"/>
                        <a:buFont typeface="Calibri"/>
                        <a:buNone/>
                      </a:pPr>
                      <a:r>
                        <a:rPr lang="en-US" sz="1150" b="1" u="none" strike="noStrike" cap="none">
                          <a:solidFill>
                            <a:srgbClr val="FFFFFF"/>
                          </a:solidFill>
                          <a:latin typeface="Calibri"/>
                          <a:ea typeface="Calibri"/>
                          <a:cs typeface="Calibri"/>
                          <a:sym typeface="Calibri"/>
                        </a:rPr>
                        <a:t>Operador</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solidFill>
                      <a:srgbClr val="0F2B46"/>
                    </a:solidFill>
                  </a:tcPr>
                </a:tc>
                <a:tc>
                  <a:txBody>
                    <a:bodyPr/>
                    <a:lstStyle/>
                    <a:p>
                      <a:pPr marL="0" marR="0" lvl="0" indent="0" algn="ctr" rtl="0">
                        <a:spcBef>
                          <a:spcPts val="0"/>
                        </a:spcBef>
                        <a:spcAft>
                          <a:spcPts val="0"/>
                        </a:spcAft>
                        <a:buClr>
                          <a:srgbClr val="FFFFFF"/>
                        </a:buClr>
                        <a:buSzPts val="1150"/>
                        <a:buFont typeface="Calibri"/>
                        <a:buNone/>
                      </a:pPr>
                      <a:r>
                        <a:rPr lang="en-US" sz="1150" b="1" u="none" strike="noStrike" cap="none">
                          <a:solidFill>
                            <a:srgbClr val="FFFFFF"/>
                          </a:solidFill>
                          <a:latin typeface="Calibri"/>
                          <a:ea typeface="Calibri"/>
                          <a:cs typeface="Calibri"/>
                          <a:sym typeface="Calibri"/>
                        </a:rPr>
                        <a:t>Validez</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solidFill>
                      <a:srgbClr val="0F2B46"/>
                    </a:solidFill>
                  </a:tcPr>
                </a:tc>
                <a:tc>
                  <a:txBody>
                    <a:bodyPr/>
                    <a:lstStyle/>
                    <a:p>
                      <a:pPr marL="0" marR="0" lvl="0" indent="0" algn="ctr" rtl="0">
                        <a:spcBef>
                          <a:spcPts val="0"/>
                        </a:spcBef>
                        <a:spcAft>
                          <a:spcPts val="0"/>
                        </a:spcAft>
                        <a:buClr>
                          <a:srgbClr val="FFFFFF"/>
                        </a:buClr>
                        <a:buSzPts val="1150"/>
                        <a:buFont typeface="Calibri"/>
                        <a:buNone/>
                      </a:pPr>
                      <a:r>
                        <a:rPr lang="en-US" sz="1150" b="1" u="none" strike="noStrike" cap="none">
                          <a:solidFill>
                            <a:srgbClr val="FFFFFF"/>
                          </a:solidFill>
                          <a:latin typeface="Calibri"/>
                          <a:ea typeface="Calibri"/>
                          <a:cs typeface="Calibri"/>
                          <a:sym typeface="Calibri"/>
                        </a:rPr>
                        <a:t>Puertas repetidas</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solidFill>
                      <a:srgbClr val="0F2B46"/>
                    </a:solidFill>
                  </a:tcPr>
                </a:tc>
                <a:tc>
                  <a:txBody>
                    <a:bodyPr/>
                    <a:lstStyle/>
                    <a:p>
                      <a:pPr marL="0" marR="0" lvl="0" indent="0" algn="ctr" rtl="0">
                        <a:spcBef>
                          <a:spcPts val="0"/>
                        </a:spcBef>
                        <a:spcAft>
                          <a:spcPts val="0"/>
                        </a:spcAft>
                        <a:buClr>
                          <a:srgbClr val="FFFFFF"/>
                        </a:buClr>
                        <a:buSzPts val="1150"/>
                        <a:buFont typeface="Calibri"/>
                        <a:buNone/>
                      </a:pPr>
                      <a:r>
                        <a:rPr lang="en-US" sz="1150" b="1" u="none" strike="noStrike" cap="none">
                          <a:solidFill>
                            <a:srgbClr val="FFFFFF"/>
                          </a:solidFill>
                          <a:latin typeface="Calibri"/>
                          <a:ea typeface="Calibri"/>
                          <a:cs typeface="Calibri"/>
                          <a:sym typeface="Calibri"/>
                        </a:rPr>
                        <a:t>¿Cambia los vuelos?</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solidFill>
                      <a:srgbClr val="0F2B46"/>
                    </a:solidFill>
                  </a:tcPr>
                </a:tc>
                <a:extLst>
                  <a:ext uri="{0D108BD9-81ED-4DB2-BD59-A6C34878D82A}">
                    <a16:rowId xmlns:a16="http://schemas.microsoft.com/office/drawing/2014/main" val="10000"/>
                  </a:ext>
                </a:extLst>
              </a:tr>
              <a:tr h="279800">
                <a:tc>
                  <a:txBody>
                    <a:bodyPr/>
                    <a:lstStyle/>
                    <a:p>
                      <a:pPr marL="0" marR="0" lvl="0" indent="0" algn="l"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BASE  crossover_onepoint</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D64550"/>
                        </a:buClr>
                        <a:buSzPts val="1150"/>
                        <a:buFont typeface="Calibri"/>
                        <a:buNone/>
                      </a:pPr>
                      <a:r>
                        <a:rPr lang="en-US" sz="1150" b="1" u="none" strike="noStrike" cap="none">
                          <a:solidFill>
                            <a:srgbClr val="D64550"/>
                          </a:solidFill>
                          <a:latin typeface="Calibri"/>
                          <a:ea typeface="Calibri"/>
                          <a:cs typeface="Calibri"/>
                          <a:sym typeface="Calibri"/>
                        </a:rPr>
                        <a:t>12,6 %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1,62</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D64550"/>
                        </a:buClr>
                        <a:buSzPts val="1150"/>
                        <a:buFont typeface="Calibri"/>
                        <a:buNone/>
                      </a:pPr>
                      <a:r>
                        <a:rPr lang="en-US" sz="1150" u="none" strike="noStrike" cap="none">
                          <a:solidFill>
                            <a:srgbClr val="D64550"/>
                          </a:solidFill>
                          <a:latin typeface="Calibri"/>
                          <a:ea typeface="Calibri"/>
                          <a:cs typeface="Calibri"/>
                          <a:sym typeface="Calibri"/>
                        </a:rPr>
                        <a:t>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extLst>
                  <a:ext uri="{0D108BD9-81ED-4DB2-BD59-A6C34878D82A}">
                    <a16:rowId xmlns:a16="http://schemas.microsoft.com/office/drawing/2014/main" val="10001"/>
                  </a:ext>
                </a:extLst>
              </a:tr>
              <a:tr h="279800">
                <a:tc>
                  <a:txBody>
                    <a:bodyPr/>
                    <a:lstStyle/>
                    <a:p>
                      <a:pPr marL="0" marR="0" lvl="0" indent="0" algn="l"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BASE  crossover_uniform</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D64550"/>
                        </a:buClr>
                        <a:buSzPts val="1150"/>
                        <a:buFont typeface="Calibri"/>
                        <a:buNone/>
                      </a:pPr>
                      <a:r>
                        <a:rPr lang="en-US" sz="1150" b="1" u="none" strike="noStrike" cap="none">
                          <a:solidFill>
                            <a:srgbClr val="D64550"/>
                          </a:solidFill>
                          <a:latin typeface="Calibri"/>
                          <a:ea typeface="Calibri"/>
                          <a:cs typeface="Calibri"/>
                          <a:sym typeface="Calibri"/>
                        </a:rPr>
                        <a:t>0,8 %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2,22</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D64550"/>
                        </a:buClr>
                        <a:buSzPts val="1150"/>
                        <a:buFont typeface="Calibri"/>
                        <a:buNone/>
                      </a:pPr>
                      <a:r>
                        <a:rPr lang="en-US" sz="1150" u="none" strike="noStrike" cap="none">
                          <a:solidFill>
                            <a:srgbClr val="D64550"/>
                          </a:solidFill>
                          <a:latin typeface="Calibri"/>
                          <a:ea typeface="Calibri"/>
                          <a:cs typeface="Calibri"/>
                          <a:sym typeface="Calibri"/>
                        </a:rPr>
                        <a:t>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extLst>
                  <a:ext uri="{0D108BD9-81ED-4DB2-BD59-A6C34878D82A}">
                    <a16:rowId xmlns:a16="http://schemas.microsoft.com/office/drawing/2014/main" val="10002"/>
                  </a:ext>
                </a:extLst>
              </a:tr>
              <a:tr h="279800">
                <a:tc>
                  <a:txBody>
                    <a:bodyPr/>
                    <a:lstStyle/>
                    <a:p>
                      <a:pPr marL="0" marR="0" lvl="0" indent="0" algn="l"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BASE  mutate_position</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D64550"/>
                        </a:buClr>
                        <a:buSzPts val="1150"/>
                        <a:buFont typeface="Calibri"/>
                        <a:buNone/>
                      </a:pPr>
                      <a:r>
                        <a:rPr lang="en-US" sz="1150" b="1" u="none" strike="noStrike" cap="none">
                          <a:solidFill>
                            <a:srgbClr val="D64550"/>
                          </a:solidFill>
                          <a:latin typeface="Calibri"/>
                          <a:ea typeface="Calibri"/>
                          <a:cs typeface="Calibri"/>
                          <a:sym typeface="Calibri"/>
                        </a:rPr>
                        <a:t>10,1 %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0,90</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D64550"/>
                        </a:buClr>
                        <a:buSzPts val="1150"/>
                        <a:buFont typeface="Calibri"/>
                        <a:buNone/>
                      </a:pPr>
                      <a:r>
                        <a:rPr lang="en-US" sz="1150" u="none" strike="noStrike" cap="none">
                          <a:solidFill>
                            <a:srgbClr val="D64550"/>
                          </a:solidFill>
                          <a:latin typeface="Calibri"/>
                          <a:ea typeface="Calibri"/>
                          <a:cs typeface="Calibri"/>
                          <a:sym typeface="Calibri"/>
                        </a:rPr>
                        <a:t>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extLst>
                  <a:ext uri="{0D108BD9-81ED-4DB2-BD59-A6C34878D82A}">
                    <a16:rowId xmlns:a16="http://schemas.microsoft.com/office/drawing/2014/main" val="10003"/>
                  </a:ext>
                </a:extLst>
              </a:tr>
              <a:tr h="279800">
                <a:tc>
                  <a:txBody>
                    <a:bodyPr/>
                    <a:lstStyle/>
                    <a:p>
                      <a:pPr marL="0" marR="0" lvl="0" indent="0" algn="l"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NUEVO  crossover_onepoint_assignment</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b="1" u="none" strike="noStrike" cap="none">
                          <a:solidFill>
                            <a:srgbClr val="2E9E6B"/>
                          </a:solidFill>
                          <a:latin typeface="Calibri"/>
                          <a:ea typeface="Calibri"/>
                          <a:cs typeface="Calibri"/>
                          <a:sym typeface="Calibri"/>
                        </a:rPr>
                        <a:t>100 %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0,00</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u="none" strike="noStrike" cap="none">
                          <a:solidFill>
                            <a:srgbClr val="2E9E6B"/>
                          </a:solidFill>
                          <a:latin typeface="Calibri"/>
                          <a:ea typeface="Calibri"/>
                          <a:cs typeface="Calibri"/>
                          <a:sym typeface="Calibri"/>
                        </a:rPr>
                        <a:t>87 %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extLst>
                  <a:ext uri="{0D108BD9-81ED-4DB2-BD59-A6C34878D82A}">
                    <a16:rowId xmlns:a16="http://schemas.microsoft.com/office/drawing/2014/main" val="10004"/>
                  </a:ext>
                </a:extLst>
              </a:tr>
              <a:tr h="279800">
                <a:tc>
                  <a:txBody>
                    <a:bodyPr/>
                    <a:lstStyle/>
                    <a:p>
                      <a:pPr marL="0" marR="0" lvl="0" indent="0" algn="l"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NUEVO  crossover_uniform_assignment</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b="1" u="none" strike="noStrike" cap="none">
                          <a:solidFill>
                            <a:srgbClr val="2E9E6B"/>
                          </a:solidFill>
                          <a:latin typeface="Calibri"/>
                          <a:ea typeface="Calibri"/>
                          <a:cs typeface="Calibri"/>
                          <a:sym typeface="Calibri"/>
                        </a:rPr>
                        <a:t>100 %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0,00</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u="none" strike="noStrike" cap="none">
                          <a:solidFill>
                            <a:srgbClr val="2E9E6B"/>
                          </a:solidFill>
                          <a:latin typeface="Calibri"/>
                          <a:ea typeface="Calibri"/>
                          <a:cs typeface="Calibri"/>
                          <a:sym typeface="Calibri"/>
                        </a:rPr>
                        <a:t>97 %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extLst>
                  <a:ext uri="{0D108BD9-81ED-4DB2-BD59-A6C34878D82A}">
                    <a16:rowId xmlns:a16="http://schemas.microsoft.com/office/drawing/2014/main" val="10005"/>
                  </a:ext>
                </a:extLst>
              </a:tr>
              <a:tr h="279800">
                <a:tc>
                  <a:txBody>
                    <a:bodyPr/>
                    <a:lstStyle/>
                    <a:p>
                      <a:pPr marL="0" marR="0" lvl="0" indent="0" algn="l"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NUEVO  mutate_flight</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b="1" u="none" strike="noStrike" cap="none">
                          <a:solidFill>
                            <a:srgbClr val="2E9E6B"/>
                          </a:solidFill>
                          <a:latin typeface="Calibri"/>
                          <a:ea typeface="Calibri"/>
                          <a:cs typeface="Calibri"/>
                          <a:sym typeface="Calibri"/>
                        </a:rPr>
                        <a:t>100 %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0,00</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u="none" strike="noStrike" cap="none">
                          <a:solidFill>
                            <a:srgbClr val="2E9E6B"/>
                          </a:solidFill>
                          <a:latin typeface="Calibri"/>
                          <a:ea typeface="Calibri"/>
                          <a:cs typeface="Calibri"/>
                          <a:sym typeface="Calibri"/>
                        </a:rPr>
                        <a:t>100 %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extLst>
                  <a:ext uri="{0D108BD9-81ED-4DB2-BD59-A6C34878D82A}">
                    <a16:rowId xmlns:a16="http://schemas.microsoft.com/office/drawing/2014/main" val="10006"/>
                  </a:ext>
                </a:extLst>
              </a:tr>
              <a:tr h="279800">
                <a:tc>
                  <a:txBody>
                    <a:bodyPr/>
                    <a:lstStyle/>
                    <a:p>
                      <a:pPr marL="0" marR="0" lvl="0" indent="0" algn="l"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NUEVO  mutate_gate</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b="1" u="none" strike="noStrike" cap="none">
                          <a:solidFill>
                            <a:srgbClr val="2E9E6B"/>
                          </a:solidFill>
                          <a:latin typeface="Calibri"/>
                          <a:ea typeface="Calibri"/>
                          <a:cs typeface="Calibri"/>
                          <a:sym typeface="Calibri"/>
                        </a:rPr>
                        <a:t>100 %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0,00</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extLst>
                  <a:ext uri="{0D108BD9-81ED-4DB2-BD59-A6C34878D82A}">
                    <a16:rowId xmlns:a16="http://schemas.microsoft.com/office/drawing/2014/main" val="10007"/>
                  </a:ext>
                </a:extLst>
              </a:tr>
              <a:tr h="279800">
                <a:tc>
                  <a:txBody>
                    <a:bodyPr/>
                    <a:lstStyle/>
                    <a:p>
                      <a:pPr marL="0" marR="0" lvl="0" indent="0" algn="l"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NUEVO  mutate_flight_and_gate</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b="1" u="none" strike="noStrike" cap="none">
                          <a:solidFill>
                            <a:srgbClr val="2E9E6B"/>
                          </a:solidFill>
                          <a:latin typeface="Calibri"/>
                          <a:ea typeface="Calibri"/>
                          <a:cs typeface="Calibri"/>
                          <a:sym typeface="Calibri"/>
                        </a:rPr>
                        <a:t>100 %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0,00</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u="none" strike="noStrike" cap="none">
                          <a:solidFill>
                            <a:srgbClr val="2E9E6B"/>
                          </a:solidFill>
                          <a:latin typeface="Calibri"/>
                          <a:ea typeface="Calibri"/>
                          <a:cs typeface="Calibri"/>
                          <a:sym typeface="Calibri"/>
                        </a:rPr>
                        <a:t>100 %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extLst>
                  <a:ext uri="{0D108BD9-81ED-4DB2-BD59-A6C34878D82A}">
                    <a16:rowId xmlns:a16="http://schemas.microsoft.com/office/drawing/2014/main" val="10008"/>
                  </a:ext>
                </a:extLst>
              </a:tr>
              <a:tr h="279800">
                <a:tc>
                  <a:txBody>
                    <a:bodyPr/>
                    <a:lstStyle/>
                    <a:p>
                      <a:pPr marL="0" marR="0" lvl="0" indent="0" algn="l"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NUEVO  mutate_flight_or_gate</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b="1" u="none" strike="noStrike" cap="none">
                          <a:solidFill>
                            <a:srgbClr val="2E9E6B"/>
                          </a:solidFill>
                          <a:latin typeface="Calibri"/>
                          <a:ea typeface="Calibri"/>
                          <a:cs typeface="Calibri"/>
                          <a:sym typeface="Calibri"/>
                        </a:rPr>
                        <a:t>100 %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1B2733"/>
                        </a:buClr>
                        <a:buSzPts val="1150"/>
                        <a:buFont typeface="Calibri"/>
                        <a:buNone/>
                      </a:pPr>
                      <a:r>
                        <a:rPr lang="en-US" sz="1150" u="none" strike="noStrike" cap="none">
                          <a:solidFill>
                            <a:srgbClr val="1B2733"/>
                          </a:solidFill>
                          <a:latin typeface="Calibri"/>
                          <a:ea typeface="Calibri"/>
                          <a:cs typeface="Calibri"/>
                          <a:sym typeface="Calibri"/>
                        </a:rPr>
                        <a:t>0,00</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tc>
                  <a:txBody>
                    <a:bodyPr/>
                    <a:lstStyle/>
                    <a:p>
                      <a:pPr marL="0" marR="0" lvl="0" indent="0" algn="ctr" rtl="0">
                        <a:spcBef>
                          <a:spcPts val="0"/>
                        </a:spcBef>
                        <a:spcAft>
                          <a:spcPts val="0"/>
                        </a:spcAft>
                        <a:buClr>
                          <a:srgbClr val="2E9E6B"/>
                        </a:buClr>
                        <a:buSzPts val="1150"/>
                        <a:buFont typeface="Calibri"/>
                        <a:buNone/>
                      </a:pPr>
                      <a:r>
                        <a:rPr lang="en-US" sz="1150" u="none" strike="noStrike" cap="none">
                          <a:solidFill>
                            <a:srgbClr val="2E9E6B"/>
                          </a:solidFill>
                          <a:latin typeface="Calibri"/>
                          <a:ea typeface="Calibri"/>
                          <a:cs typeface="Calibri"/>
                          <a:sym typeface="Calibri"/>
                        </a:rPr>
                        <a:t>52 %</a:t>
                      </a:r>
                      <a:endParaRPr sz="1150" u="none" strike="noStrike" cap="none">
                        <a:latin typeface="Calibri"/>
                        <a:ea typeface="Calibri"/>
                        <a:cs typeface="Calibri"/>
                        <a:sym typeface="Calibri"/>
                      </a:endParaRPr>
                    </a:p>
                  </a:txBody>
                  <a:tcPr marL="54875" marR="54875" marT="54875" marB="54875" anchor="ctr">
                    <a:lnL w="12700" cap="flat" cmpd="sng">
                      <a:solidFill>
                        <a:srgbClr val="DDE3E9"/>
                      </a:solidFill>
                      <a:prstDash val="solid"/>
                      <a:round/>
                      <a:headEnd type="none" w="sm" len="sm"/>
                      <a:tailEnd type="none" w="sm" len="sm"/>
                    </a:lnL>
                    <a:lnR w="12700" cap="flat" cmpd="sng">
                      <a:solidFill>
                        <a:srgbClr val="DDE3E9"/>
                      </a:solidFill>
                      <a:prstDash val="solid"/>
                      <a:round/>
                      <a:headEnd type="none" w="sm" len="sm"/>
                      <a:tailEnd type="none" w="sm" len="sm"/>
                    </a:lnR>
                    <a:lnT w="12700" cap="flat" cmpd="sng">
                      <a:solidFill>
                        <a:srgbClr val="DDE3E9"/>
                      </a:solidFill>
                      <a:prstDash val="solid"/>
                      <a:round/>
                      <a:headEnd type="none" w="sm" len="sm"/>
                      <a:tailEnd type="none" w="sm" len="sm"/>
                    </a:lnT>
                    <a:lnB w="12700" cap="flat" cmpd="sng">
                      <a:solidFill>
                        <a:srgbClr val="DDE3E9"/>
                      </a:solidFill>
                      <a:prstDash val="solid"/>
                      <a:round/>
                      <a:headEnd type="none" w="sm" len="sm"/>
                      <a:tailEnd type="none" w="sm" len="sm"/>
                    </a:lnB>
                  </a:tcPr>
                </a:tc>
                <a:extLst>
                  <a:ext uri="{0D108BD9-81ED-4DB2-BD59-A6C34878D82A}">
                    <a16:rowId xmlns:a16="http://schemas.microsoft.com/office/drawing/2014/main" val="10009"/>
                  </a:ext>
                </a:extLst>
              </a:tr>
            </a:tbl>
          </a:graphicData>
        </a:graphic>
      </p:graphicFrame>
      <p:sp>
        <p:nvSpPr>
          <p:cNvPr id="263" name="Google Shape;263;p11"/>
          <p:cNvSpPr/>
          <p:nvPr/>
        </p:nvSpPr>
        <p:spPr>
          <a:xfrm>
            <a:off x="8549640" y="1600200"/>
            <a:ext cx="3108960" cy="2926080"/>
          </a:xfrm>
          <a:prstGeom prst="roundRect">
            <a:avLst>
              <a:gd name="adj" fmla="val 2500"/>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11"/>
          <p:cNvSpPr txBox="1"/>
          <p:nvPr/>
        </p:nvSpPr>
        <p:spPr>
          <a:xfrm>
            <a:off x="8778240" y="1783080"/>
            <a:ext cx="265176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ADCFC"/>
              </a:buClr>
              <a:buSzPts val="1200"/>
              <a:buFont typeface="Calibri"/>
              <a:buNone/>
            </a:pPr>
            <a:r>
              <a:rPr lang="en-US" sz="1200" b="0" i="0" u="none" strike="noStrike" cap="none">
                <a:solidFill>
                  <a:srgbClr val="CADCFC"/>
                </a:solidFill>
                <a:latin typeface="Calibri"/>
                <a:ea typeface="Calibri"/>
                <a:cs typeface="Calibri"/>
                <a:sym typeface="Calibri"/>
              </a:rPr>
              <a:t>El cruzamiento uniforme del código base produce</a:t>
            </a:r>
            <a:endParaRPr sz="1200" b="0" i="0" u="none" strike="noStrike" cap="none">
              <a:solidFill>
                <a:schemeClr val="dk1"/>
              </a:solidFill>
              <a:latin typeface="Calibri"/>
              <a:ea typeface="Calibri"/>
              <a:cs typeface="Calibri"/>
              <a:sym typeface="Calibri"/>
            </a:endParaRPr>
          </a:p>
        </p:txBody>
      </p:sp>
      <p:sp>
        <p:nvSpPr>
          <p:cNvPr id="265" name="Google Shape;265;p11"/>
          <p:cNvSpPr txBox="1"/>
          <p:nvPr/>
        </p:nvSpPr>
        <p:spPr>
          <a:xfrm>
            <a:off x="8778240" y="2286000"/>
            <a:ext cx="2651760" cy="6400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64550"/>
              </a:buClr>
              <a:buSzPts val="4400"/>
              <a:buFont typeface="Cambria"/>
              <a:buNone/>
            </a:pPr>
            <a:r>
              <a:rPr lang="en-US" sz="4400" b="1" i="0" u="none" strike="noStrike" cap="none">
                <a:solidFill>
                  <a:srgbClr val="D64550"/>
                </a:solidFill>
                <a:latin typeface="Cambria"/>
                <a:ea typeface="Cambria"/>
                <a:cs typeface="Cambria"/>
                <a:sym typeface="Cambria"/>
              </a:rPr>
              <a:t>0,8 %</a:t>
            </a:r>
            <a:endParaRPr sz="4400" b="0" i="0" u="none" strike="noStrike" cap="none">
              <a:solidFill>
                <a:schemeClr val="dk1"/>
              </a:solidFill>
              <a:latin typeface="Calibri"/>
              <a:ea typeface="Calibri"/>
              <a:cs typeface="Calibri"/>
              <a:sym typeface="Calibri"/>
            </a:endParaRPr>
          </a:p>
        </p:txBody>
      </p:sp>
      <p:sp>
        <p:nvSpPr>
          <p:cNvPr id="266" name="Google Shape;266;p11"/>
          <p:cNvSpPr txBox="1"/>
          <p:nvPr/>
        </p:nvSpPr>
        <p:spPr>
          <a:xfrm>
            <a:off x="8778240" y="2880360"/>
            <a:ext cx="265176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ADCFC"/>
              </a:buClr>
              <a:buSzPts val="1200"/>
              <a:buFont typeface="Calibri"/>
              <a:buNone/>
            </a:pPr>
            <a:r>
              <a:rPr lang="en-US" sz="1200" b="0" i="0" u="none" strike="noStrike" cap="none">
                <a:solidFill>
                  <a:srgbClr val="CADCFC"/>
                </a:solidFill>
                <a:latin typeface="Calibri"/>
                <a:ea typeface="Calibri"/>
                <a:cs typeface="Calibri"/>
                <a:sym typeface="Calibri"/>
              </a:rPr>
              <a:t>de hijos ejecutables</a:t>
            </a:r>
            <a:endParaRPr sz="1200" b="0" i="0" u="none" strike="noStrike" cap="none">
              <a:solidFill>
                <a:schemeClr val="dk1"/>
              </a:solidFill>
              <a:latin typeface="Calibri"/>
              <a:ea typeface="Calibri"/>
              <a:cs typeface="Calibri"/>
              <a:sym typeface="Calibri"/>
            </a:endParaRPr>
          </a:p>
        </p:txBody>
      </p:sp>
      <p:sp>
        <p:nvSpPr>
          <p:cNvPr id="267" name="Google Shape;267;p11"/>
          <p:cNvSpPr txBox="1"/>
          <p:nvPr/>
        </p:nvSpPr>
        <p:spPr>
          <a:xfrm>
            <a:off x="8778240" y="3291840"/>
            <a:ext cx="2651760" cy="100584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F2A65A"/>
              </a:buClr>
              <a:buSzPts val="1200"/>
              <a:buFont typeface="Calibri"/>
              <a:buNone/>
            </a:pPr>
            <a:r>
              <a:rPr lang="en-US" sz="1200" b="0" i="0" u="none" strike="noStrike" cap="none">
                <a:solidFill>
                  <a:srgbClr val="F2A65A"/>
                </a:solidFill>
                <a:latin typeface="Calibri"/>
                <a:ea typeface="Calibri"/>
                <a:cs typeface="Calibri"/>
                <a:sym typeface="Calibri"/>
              </a:rPr>
              <a:t>Ningún operador base toca el conjunto de vuelos: 0 % en la última columna.</a:t>
            </a:r>
            <a:endParaRPr sz="1200" b="0" i="0" u="none" strike="noStrike" cap="none">
              <a:solidFill>
                <a:schemeClr val="dk1"/>
              </a:solidFill>
              <a:latin typeface="Calibri"/>
              <a:ea typeface="Calibri"/>
              <a:cs typeface="Calibri"/>
              <a:sym typeface="Calibri"/>
            </a:endParaRPr>
          </a:p>
        </p:txBody>
      </p:sp>
      <p:sp>
        <p:nvSpPr>
          <p:cNvPr id="268" name="Google Shape;268;p11"/>
          <p:cNvSpPr/>
          <p:nvPr/>
        </p:nvSpPr>
        <p:spPr>
          <a:xfrm>
            <a:off x="548640" y="4892040"/>
            <a:ext cx="11109960" cy="1051560"/>
          </a:xfrm>
          <a:prstGeom prst="roundRect">
            <a:avLst>
              <a:gd name="adj" fmla="val 6957"/>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11"/>
          <p:cNvSpPr txBox="1"/>
          <p:nvPr/>
        </p:nvSpPr>
        <p:spPr>
          <a:xfrm>
            <a:off x="914400" y="4892040"/>
            <a:ext cx="10378440" cy="105156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1C7293"/>
              </a:buClr>
              <a:buSzPts val="1300"/>
              <a:buFont typeface="Calibri"/>
              <a:buNone/>
            </a:pPr>
            <a:r>
              <a:rPr lang="en-US" sz="1300" b="1" i="0" u="none" strike="noStrike" cap="none">
                <a:solidFill>
                  <a:srgbClr val="1C7293"/>
                </a:solidFill>
                <a:latin typeface="Calibri"/>
                <a:ea typeface="Calibri"/>
                <a:cs typeface="Calibri"/>
                <a:sym typeface="Calibri"/>
              </a:rPr>
              <a:t>Por qué el 0,8 %: </a:t>
            </a:r>
            <a:r>
              <a:rPr lang="en-US" sz="1300" b="0" i="0" u="none" strike="noStrike" cap="none">
                <a:solidFill>
                  <a:srgbClr val="1B2733"/>
                </a:solidFill>
                <a:latin typeface="Calibri"/>
                <a:ea typeface="Calibri"/>
                <a:cs typeface="Calibri"/>
                <a:sym typeface="Calibri"/>
              </a:rPr>
              <a:t>al sortear cada posición de forma independiente entre dos permutaciones distintas, la probabilidad de no generar ni una sola colisión en diez posiciones es mínima. Los operadores nuevos no dependen de la suerte: entregan factibilidad por construcción.</a:t>
            </a:r>
            <a:endParaRPr sz="13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4"/>
        <p:cNvGrpSpPr/>
        <p:nvPr/>
      </p:nvGrpSpPr>
      <p:grpSpPr>
        <a:xfrm>
          <a:off x="0" y="0"/>
          <a:ext cx="0" cy="0"/>
          <a:chOff x="0" y="0"/>
          <a:chExt cx="0" cy="0"/>
        </a:xfrm>
      </p:grpSpPr>
      <p:sp>
        <p:nvSpPr>
          <p:cNvPr id="275" name="Google Shape;275;p12"/>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RESULTADO 2</a:t>
            </a:r>
            <a:endParaRPr sz="1100" b="0" i="0" u="none" strike="noStrike" cap="none">
              <a:solidFill>
                <a:schemeClr val="dk1"/>
              </a:solidFill>
              <a:latin typeface="Calibri"/>
              <a:ea typeface="Calibri"/>
              <a:cs typeface="Calibri"/>
              <a:sym typeface="Calibri"/>
            </a:endParaRPr>
          </a:p>
        </p:txBody>
      </p:sp>
      <p:sp>
        <p:nvSpPr>
          <p:cNvPr id="276" name="Google Shape;276;p12"/>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Efecto del operador de cruzamiento</a:t>
            </a:r>
            <a:endParaRPr sz="3000" b="0" i="0" u="none" strike="noStrike" cap="none">
              <a:solidFill>
                <a:schemeClr val="dk1"/>
              </a:solidFill>
              <a:latin typeface="Calibri"/>
              <a:ea typeface="Calibri"/>
              <a:cs typeface="Calibri"/>
              <a:sym typeface="Calibri"/>
            </a:endParaRPr>
          </a:p>
        </p:txBody>
      </p:sp>
      <p:pic>
        <p:nvPicPr>
          <p:cNvPr id="277" name="Google Shape;277;p12" descr="C:/Users/Ampue/Documents/PUCP/Diplomado IA/computacion_evolutiva/trabajo_final/figuras/exp1_cruzamiento.png"/>
          <p:cNvPicPr preferRelativeResize="0"/>
          <p:nvPr/>
        </p:nvPicPr>
        <p:blipFill rotWithShape="1">
          <a:blip r:embed="rId3">
            <a:alphaModFix/>
          </a:blip>
          <a:srcRect/>
          <a:stretch/>
        </p:blipFill>
        <p:spPr>
          <a:xfrm>
            <a:off x="548640" y="1188720"/>
            <a:ext cx="7360920" cy="2642616"/>
          </a:xfrm>
          <a:prstGeom prst="rect">
            <a:avLst/>
          </a:prstGeom>
          <a:noFill/>
          <a:ln>
            <a:noFill/>
          </a:ln>
        </p:spPr>
      </p:pic>
      <p:sp>
        <p:nvSpPr>
          <p:cNvPr id="278" name="Google Shape;278;p12"/>
          <p:cNvSpPr txBox="1"/>
          <p:nvPr/>
        </p:nvSpPr>
        <p:spPr>
          <a:xfrm>
            <a:off x="548640" y="3913632"/>
            <a:ext cx="736092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A6B7B"/>
              </a:buClr>
              <a:buSzPts val="1050"/>
              <a:buFont typeface="Calibri"/>
              <a:buNone/>
            </a:pPr>
            <a:r>
              <a:rPr lang="en-US" sz="1050" b="0" i="1" u="none" strike="noStrike" cap="none">
                <a:solidFill>
                  <a:srgbClr val="5A6B7B"/>
                </a:solidFill>
                <a:latin typeface="Calibri"/>
                <a:ea typeface="Calibri"/>
                <a:cs typeface="Calibri"/>
                <a:sym typeface="Calibri"/>
              </a:rPr>
              <a:t>Curvas punteadas = configuraciones base; su fitness pertenece a soluciones infactibles y no es comparable.</a:t>
            </a:r>
            <a:endParaRPr sz="1050" b="0" i="0" u="none" strike="noStrike" cap="none">
              <a:solidFill>
                <a:schemeClr val="dk1"/>
              </a:solidFill>
              <a:latin typeface="Calibri"/>
              <a:ea typeface="Calibri"/>
              <a:cs typeface="Calibri"/>
              <a:sym typeface="Calibri"/>
            </a:endParaRPr>
          </a:p>
        </p:txBody>
      </p:sp>
      <p:sp>
        <p:nvSpPr>
          <p:cNvPr id="279" name="Google Shape;279;p12"/>
          <p:cNvSpPr/>
          <p:nvPr/>
        </p:nvSpPr>
        <p:spPr>
          <a:xfrm>
            <a:off x="8001000" y="1188720"/>
            <a:ext cx="3657600" cy="4572000"/>
          </a:xfrm>
          <a:prstGeom prst="roundRect">
            <a:avLst>
              <a:gd name="adj" fmla="val 2000"/>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12"/>
          <p:cNvSpPr txBox="1"/>
          <p:nvPr/>
        </p:nvSpPr>
        <p:spPr>
          <a:xfrm>
            <a:off x="8275320" y="1371600"/>
            <a:ext cx="310896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500"/>
              <a:buFont typeface="Cambria"/>
              <a:buNone/>
            </a:pPr>
            <a:r>
              <a:rPr lang="en-US" sz="1500" b="1" i="0" u="none" strike="noStrike" cap="none">
                <a:solidFill>
                  <a:srgbClr val="1C7293"/>
                </a:solidFill>
                <a:latin typeface="Cambria"/>
                <a:ea typeface="Cambria"/>
                <a:cs typeface="Cambria"/>
                <a:sym typeface="Cambria"/>
              </a:rPr>
              <a:t>Qué muestra</a:t>
            </a:r>
            <a:endParaRPr sz="1500" b="0" i="0" u="none" strike="noStrike" cap="none">
              <a:solidFill>
                <a:schemeClr val="dk1"/>
              </a:solidFill>
              <a:latin typeface="Calibri"/>
              <a:ea typeface="Calibri"/>
              <a:cs typeface="Calibri"/>
              <a:sym typeface="Calibri"/>
            </a:endParaRPr>
          </a:p>
        </p:txBody>
      </p:sp>
      <p:sp>
        <p:nvSpPr>
          <p:cNvPr id="281" name="Google Shape;281;p12"/>
          <p:cNvSpPr txBox="1"/>
          <p:nvPr/>
        </p:nvSpPr>
        <p:spPr>
          <a:xfrm>
            <a:off x="8275320" y="1783080"/>
            <a:ext cx="3108960" cy="3108960"/>
          </a:xfrm>
          <a:prstGeom prst="rect">
            <a:avLst/>
          </a:prstGeom>
          <a:noFill/>
          <a:ln>
            <a:noFill/>
          </a:ln>
        </p:spPr>
        <p:txBody>
          <a:bodyPr spcFirstLastPara="1" wrap="square" lIns="0" tIns="0" rIns="0" bIns="0" anchor="t" anchorCtr="0">
            <a:noAutofit/>
          </a:bodyPr>
          <a:lstStyle/>
          <a:p>
            <a:pPr marL="177800" marR="0" lvl="0" indent="-177800" algn="l" rtl="0">
              <a:lnSpc>
                <a:spcPct val="105000"/>
              </a:lnSpc>
              <a:spcBef>
                <a:spcPts val="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Las tres configuraciones base terminan con 0 % de validez: su mejor individuo no es ejecutable.</a:t>
            </a:r>
            <a:endParaRPr sz="125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Entre los nuevos, uniform_assignment gana a onepoint_assignment: 4,9546 vs 4,7529 (p = 0,00195).</a:t>
            </a:r>
            <a:endParaRPr sz="125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La posición en el cromosoma no significa nada, así que preservar bloques contiguos no aporta.</a:t>
            </a:r>
            <a:endParaRPr sz="125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La dispersión cae de 0,27–0,36 a 0,057: entre 4 y 6 veces más repetible.</a:t>
            </a:r>
            <a:endParaRPr sz="1250" b="0" i="0" u="none" strike="noStrike" cap="none">
              <a:solidFill>
                <a:schemeClr val="dk1"/>
              </a:solidFill>
              <a:latin typeface="Calibri"/>
              <a:ea typeface="Calibri"/>
              <a:cs typeface="Calibri"/>
              <a:sym typeface="Calibri"/>
            </a:endParaRPr>
          </a:p>
        </p:txBody>
      </p:sp>
      <p:sp>
        <p:nvSpPr>
          <p:cNvPr id="282" name="Google Shape;282;p12"/>
          <p:cNvSpPr txBox="1"/>
          <p:nvPr/>
        </p:nvSpPr>
        <p:spPr>
          <a:xfrm>
            <a:off x="8275320" y="5029200"/>
            <a:ext cx="3108960" cy="54864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1B2733"/>
              </a:buClr>
              <a:buSzPts val="1200"/>
              <a:buFont typeface="Calibri"/>
              <a:buNone/>
            </a:pPr>
            <a:r>
              <a:rPr lang="en-US" sz="1200" b="1" i="0" u="none" strike="noStrike" cap="none">
                <a:solidFill>
                  <a:srgbClr val="1B2733"/>
                </a:solidFill>
                <a:latin typeface="Calibri"/>
                <a:ea typeface="Calibri"/>
                <a:cs typeface="Calibri"/>
                <a:sym typeface="Calibri"/>
              </a:rPr>
              <a:t>Costo de la reparación: +16 % de tiempo por corrida. Despreciable.</a:t>
            </a:r>
            <a:endParaRPr sz="1200" b="0" i="0" u="none" strike="noStrike" cap="none">
              <a:solidFill>
                <a:schemeClr val="dk1"/>
              </a:solidFill>
              <a:latin typeface="Calibri"/>
              <a:ea typeface="Calibri"/>
              <a:cs typeface="Calibri"/>
              <a:sym typeface="Calibri"/>
            </a:endParaRPr>
          </a:p>
        </p:txBody>
      </p:sp>
      <p:sp>
        <p:nvSpPr>
          <p:cNvPr id="283" name="Google Shape;283;p12"/>
          <p:cNvSpPr/>
          <p:nvPr/>
        </p:nvSpPr>
        <p:spPr>
          <a:xfrm>
            <a:off x="548640" y="4343400"/>
            <a:ext cx="3566160" cy="1417320"/>
          </a:xfrm>
          <a:prstGeom prst="roundRect">
            <a:avLst>
              <a:gd name="adj" fmla="val 5161"/>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12"/>
          <p:cNvSpPr txBox="1"/>
          <p:nvPr/>
        </p:nvSpPr>
        <p:spPr>
          <a:xfrm>
            <a:off x="731520" y="4526280"/>
            <a:ext cx="3200400"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64550"/>
              </a:buClr>
              <a:buSzPts val="3000"/>
              <a:buFont typeface="Cambria"/>
              <a:buNone/>
            </a:pPr>
            <a:r>
              <a:rPr lang="en-US" sz="3000" b="1" i="0" u="none" strike="noStrike" cap="none">
                <a:solidFill>
                  <a:srgbClr val="D64550"/>
                </a:solidFill>
                <a:latin typeface="Cambria"/>
                <a:ea typeface="Cambria"/>
                <a:cs typeface="Cambria"/>
                <a:sym typeface="Cambria"/>
              </a:rPr>
              <a:t>0 %</a:t>
            </a:r>
            <a:endParaRPr sz="3000" b="0" i="0" u="none" strike="noStrike" cap="none">
              <a:solidFill>
                <a:schemeClr val="dk1"/>
              </a:solidFill>
              <a:latin typeface="Calibri"/>
              <a:ea typeface="Calibri"/>
              <a:cs typeface="Calibri"/>
              <a:sym typeface="Calibri"/>
            </a:endParaRPr>
          </a:p>
        </p:txBody>
      </p:sp>
      <p:sp>
        <p:nvSpPr>
          <p:cNvPr id="285" name="Google Shape;285;p12"/>
          <p:cNvSpPr txBox="1"/>
          <p:nvPr/>
        </p:nvSpPr>
        <p:spPr>
          <a:xfrm>
            <a:off x="731520" y="5074920"/>
            <a:ext cx="3200400"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corridas con solución ejecutable — operadores base</a:t>
            </a:r>
            <a:endParaRPr sz="1150" b="0" i="0" u="none" strike="noStrike" cap="none">
              <a:solidFill>
                <a:schemeClr val="dk1"/>
              </a:solidFill>
              <a:latin typeface="Calibri"/>
              <a:ea typeface="Calibri"/>
              <a:cs typeface="Calibri"/>
              <a:sym typeface="Calibri"/>
            </a:endParaRPr>
          </a:p>
        </p:txBody>
      </p:sp>
      <p:sp>
        <p:nvSpPr>
          <p:cNvPr id="286" name="Google Shape;286;p12"/>
          <p:cNvSpPr/>
          <p:nvPr/>
        </p:nvSpPr>
        <p:spPr>
          <a:xfrm>
            <a:off x="4343400" y="4343400"/>
            <a:ext cx="3566160" cy="1417320"/>
          </a:xfrm>
          <a:prstGeom prst="roundRect">
            <a:avLst>
              <a:gd name="adj" fmla="val 5161"/>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12"/>
          <p:cNvSpPr txBox="1"/>
          <p:nvPr/>
        </p:nvSpPr>
        <p:spPr>
          <a:xfrm>
            <a:off x="4526280" y="4526280"/>
            <a:ext cx="3200400"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E9E6B"/>
              </a:buClr>
              <a:buSzPts val="3000"/>
              <a:buFont typeface="Cambria"/>
              <a:buNone/>
            </a:pPr>
            <a:r>
              <a:rPr lang="en-US" sz="3000" b="1" i="0" u="none" strike="noStrike" cap="none">
                <a:solidFill>
                  <a:srgbClr val="2E9E6B"/>
                </a:solidFill>
                <a:latin typeface="Cambria"/>
                <a:ea typeface="Cambria"/>
                <a:cs typeface="Cambria"/>
                <a:sym typeface="Cambria"/>
              </a:rPr>
              <a:t>100 %</a:t>
            </a:r>
            <a:endParaRPr sz="3000" b="0" i="0" u="none" strike="noStrike" cap="none">
              <a:solidFill>
                <a:schemeClr val="dk1"/>
              </a:solidFill>
              <a:latin typeface="Calibri"/>
              <a:ea typeface="Calibri"/>
              <a:cs typeface="Calibri"/>
              <a:sym typeface="Calibri"/>
            </a:endParaRPr>
          </a:p>
        </p:txBody>
      </p:sp>
      <p:sp>
        <p:nvSpPr>
          <p:cNvPr id="288" name="Google Shape;288;p12"/>
          <p:cNvSpPr txBox="1"/>
          <p:nvPr/>
        </p:nvSpPr>
        <p:spPr>
          <a:xfrm>
            <a:off x="4526280" y="5074920"/>
            <a:ext cx="3200400"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corridas con solución ejecutable — operadores nuevos</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3"/>
        <p:cNvGrpSpPr/>
        <p:nvPr/>
      </p:nvGrpSpPr>
      <p:grpSpPr>
        <a:xfrm>
          <a:off x="0" y="0"/>
          <a:ext cx="0" cy="0"/>
          <a:chOff x="0" y="0"/>
          <a:chExt cx="0" cy="0"/>
        </a:xfrm>
      </p:grpSpPr>
      <p:sp>
        <p:nvSpPr>
          <p:cNvPr id="294" name="Google Shape;294;p13"/>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RESULTADO 3</a:t>
            </a:r>
            <a:endParaRPr sz="1100" b="0" i="0" u="none" strike="noStrike" cap="none">
              <a:solidFill>
                <a:schemeClr val="dk1"/>
              </a:solidFill>
              <a:latin typeface="Calibri"/>
              <a:ea typeface="Calibri"/>
              <a:cs typeface="Calibri"/>
              <a:sym typeface="Calibri"/>
            </a:endParaRPr>
          </a:p>
        </p:txBody>
      </p:sp>
      <p:sp>
        <p:nvSpPr>
          <p:cNvPr id="295" name="Google Shape;295;p13"/>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La mutación y su tasa</a:t>
            </a:r>
            <a:endParaRPr sz="3000" b="0" i="0" u="none" strike="noStrike" cap="none">
              <a:solidFill>
                <a:schemeClr val="dk1"/>
              </a:solidFill>
              <a:latin typeface="Calibri"/>
              <a:ea typeface="Calibri"/>
              <a:cs typeface="Calibri"/>
              <a:sym typeface="Calibri"/>
            </a:endParaRPr>
          </a:p>
        </p:txBody>
      </p:sp>
      <p:pic>
        <p:nvPicPr>
          <p:cNvPr id="296" name="Google Shape;296;p13" descr="C:/Users/Ampue/Documents/PUCP/Diplomado IA/computacion_evolutiva/trabajo_final/figuras/exp2_tasa_mutacion.png"/>
          <p:cNvPicPr preferRelativeResize="0"/>
          <p:nvPr/>
        </p:nvPicPr>
        <p:blipFill rotWithShape="1">
          <a:blip r:embed="rId3">
            <a:alphaModFix/>
          </a:blip>
          <a:srcRect/>
          <a:stretch/>
        </p:blipFill>
        <p:spPr>
          <a:xfrm>
            <a:off x="548640" y="1234440"/>
            <a:ext cx="4362038" cy="3163824"/>
          </a:xfrm>
          <a:prstGeom prst="rect">
            <a:avLst/>
          </a:prstGeom>
          <a:noFill/>
          <a:ln>
            <a:noFill/>
          </a:ln>
        </p:spPr>
      </p:pic>
      <p:sp>
        <p:nvSpPr>
          <p:cNvPr id="297" name="Google Shape;297;p13"/>
          <p:cNvSpPr/>
          <p:nvPr/>
        </p:nvSpPr>
        <p:spPr>
          <a:xfrm>
            <a:off x="6263640" y="1234440"/>
            <a:ext cx="5394960" cy="3163824"/>
          </a:xfrm>
          <a:prstGeom prst="roundRect">
            <a:avLst>
              <a:gd name="adj" fmla="val 2312"/>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3"/>
          <p:cNvSpPr txBox="1"/>
          <p:nvPr/>
        </p:nvSpPr>
        <p:spPr>
          <a:xfrm>
            <a:off x="6583680" y="1463040"/>
            <a:ext cx="4754880" cy="2743200"/>
          </a:xfrm>
          <a:prstGeom prst="rect">
            <a:avLst/>
          </a:prstGeom>
          <a:noFill/>
          <a:ln>
            <a:noFill/>
          </a:ln>
        </p:spPr>
        <p:txBody>
          <a:bodyPr spcFirstLastPara="1" wrap="square" lIns="0" tIns="0" rIns="0" bIns="0" anchor="t" anchorCtr="0">
            <a:noAutofit/>
          </a:bodyPr>
          <a:lstStyle/>
          <a:p>
            <a:pPr marL="177800" marR="0" lvl="0" indent="-177800" algn="l" rtl="0">
              <a:lnSpc>
                <a:spcPct val="105000"/>
              </a:lnSpc>
              <a:spcBef>
                <a:spcPts val="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La mutación lleva del 4,9546 sin mutar hasta el óptimo exacto 5,0819 (p = 0,00195).</a:t>
            </a:r>
            <a:endParaRPr sz="125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Con flight_or_gate a pm = 0,7 las 10 corridas alcanzan el óptimo: éxito 100 % y desviación 0.</a:t>
            </a:r>
            <a:endParaRPr sz="125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La respuesta a la tasa no es monótona: el éxito sube de 30 % (pm = 0,1) a 100 % (pm = 0,7) y cae a 30 % en pm = 0,9.</a:t>
            </a:r>
            <a:endParaRPr sz="125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Mutar un solo nivel por evento supera a mutar los dos en cadena: 100 % contra 10 % de éxito a la misma tasa.</a:t>
            </a:r>
            <a:endParaRPr sz="1250" b="0" i="0" u="none" strike="noStrike" cap="none">
              <a:solidFill>
                <a:schemeClr val="dk1"/>
              </a:solidFill>
              <a:latin typeface="Calibri"/>
              <a:ea typeface="Calibri"/>
              <a:cs typeface="Calibri"/>
              <a:sym typeface="Calibri"/>
            </a:endParaRPr>
          </a:p>
        </p:txBody>
      </p:sp>
      <p:sp>
        <p:nvSpPr>
          <p:cNvPr id="299" name="Google Shape;299;p13"/>
          <p:cNvSpPr/>
          <p:nvPr/>
        </p:nvSpPr>
        <p:spPr>
          <a:xfrm>
            <a:off x="548640" y="4663440"/>
            <a:ext cx="3566160" cy="1097280"/>
          </a:xfrm>
          <a:prstGeom prst="roundRect">
            <a:avLst>
              <a:gd name="adj" fmla="val 6667"/>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13"/>
          <p:cNvSpPr txBox="1"/>
          <p:nvPr/>
        </p:nvSpPr>
        <p:spPr>
          <a:xfrm>
            <a:off x="731520" y="4800600"/>
            <a:ext cx="32004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2A65A"/>
              </a:buClr>
              <a:buSzPts val="1900"/>
              <a:buFont typeface="Cambria"/>
              <a:buNone/>
            </a:pPr>
            <a:r>
              <a:rPr lang="en-US" sz="1900" b="1" i="0" u="none" strike="noStrike" cap="none">
                <a:solidFill>
                  <a:srgbClr val="F2A65A"/>
                </a:solidFill>
                <a:latin typeface="Cambria"/>
                <a:ea typeface="Cambria"/>
                <a:cs typeface="Cambria"/>
                <a:sym typeface="Cambria"/>
              </a:rPr>
              <a:t>4,9546 → 5,0819</a:t>
            </a:r>
            <a:endParaRPr sz="1900" b="0" i="0" u="none" strike="noStrike" cap="none">
              <a:solidFill>
                <a:schemeClr val="dk1"/>
              </a:solidFill>
              <a:latin typeface="Calibri"/>
              <a:ea typeface="Calibri"/>
              <a:cs typeface="Calibri"/>
              <a:sym typeface="Calibri"/>
            </a:endParaRPr>
          </a:p>
        </p:txBody>
      </p:sp>
      <p:sp>
        <p:nvSpPr>
          <p:cNvPr id="301" name="Google Shape;301;p13"/>
          <p:cNvSpPr txBox="1"/>
          <p:nvPr/>
        </p:nvSpPr>
        <p:spPr>
          <a:xfrm>
            <a:off x="731520" y="5257800"/>
            <a:ext cx="3200400" cy="3200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fitness medio</a:t>
            </a:r>
            <a:endParaRPr sz="1150" b="0" i="0" u="none" strike="noStrike" cap="none">
              <a:solidFill>
                <a:schemeClr val="dk1"/>
              </a:solidFill>
              <a:latin typeface="Calibri"/>
              <a:ea typeface="Calibri"/>
              <a:cs typeface="Calibri"/>
              <a:sym typeface="Calibri"/>
            </a:endParaRPr>
          </a:p>
        </p:txBody>
      </p:sp>
      <p:sp>
        <p:nvSpPr>
          <p:cNvPr id="302" name="Google Shape;302;p13"/>
          <p:cNvSpPr/>
          <p:nvPr/>
        </p:nvSpPr>
        <p:spPr>
          <a:xfrm>
            <a:off x="4343400" y="4663440"/>
            <a:ext cx="3566160" cy="1097280"/>
          </a:xfrm>
          <a:prstGeom prst="roundRect">
            <a:avLst>
              <a:gd name="adj" fmla="val 6667"/>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13"/>
          <p:cNvSpPr txBox="1"/>
          <p:nvPr/>
        </p:nvSpPr>
        <p:spPr>
          <a:xfrm>
            <a:off x="4526280" y="4800600"/>
            <a:ext cx="32004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2A65A"/>
              </a:buClr>
              <a:buSzPts val="1900"/>
              <a:buFont typeface="Cambria"/>
              <a:buNone/>
            </a:pPr>
            <a:r>
              <a:rPr lang="en-US" sz="1900" b="1" i="0" u="none" strike="noStrike" cap="none">
                <a:solidFill>
                  <a:srgbClr val="F2A65A"/>
                </a:solidFill>
                <a:latin typeface="Cambria"/>
                <a:ea typeface="Cambria"/>
                <a:cs typeface="Cambria"/>
                <a:sym typeface="Cambria"/>
              </a:rPr>
              <a:t>0,0573 → 0,0000</a:t>
            </a:r>
            <a:endParaRPr sz="1900" b="0" i="0" u="none" strike="noStrike" cap="none">
              <a:solidFill>
                <a:schemeClr val="dk1"/>
              </a:solidFill>
              <a:latin typeface="Calibri"/>
              <a:ea typeface="Calibri"/>
              <a:cs typeface="Calibri"/>
              <a:sym typeface="Calibri"/>
            </a:endParaRPr>
          </a:p>
        </p:txBody>
      </p:sp>
      <p:sp>
        <p:nvSpPr>
          <p:cNvPr id="304" name="Google Shape;304;p13"/>
          <p:cNvSpPr txBox="1"/>
          <p:nvPr/>
        </p:nvSpPr>
        <p:spPr>
          <a:xfrm>
            <a:off x="4526280" y="5257800"/>
            <a:ext cx="3200400" cy="3200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desviación estándar</a:t>
            </a:r>
            <a:endParaRPr sz="1150" b="0" i="0" u="none" strike="noStrike" cap="none">
              <a:solidFill>
                <a:schemeClr val="dk1"/>
              </a:solidFill>
              <a:latin typeface="Calibri"/>
              <a:ea typeface="Calibri"/>
              <a:cs typeface="Calibri"/>
              <a:sym typeface="Calibri"/>
            </a:endParaRPr>
          </a:p>
        </p:txBody>
      </p:sp>
      <p:sp>
        <p:nvSpPr>
          <p:cNvPr id="305" name="Google Shape;305;p13"/>
          <p:cNvSpPr/>
          <p:nvPr/>
        </p:nvSpPr>
        <p:spPr>
          <a:xfrm>
            <a:off x="8138160" y="4663440"/>
            <a:ext cx="3566160" cy="1097280"/>
          </a:xfrm>
          <a:prstGeom prst="roundRect">
            <a:avLst>
              <a:gd name="adj" fmla="val 6667"/>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13"/>
          <p:cNvSpPr txBox="1"/>
          <p:nvPr/>
        </p:nvSpPr>
        <p:spPr>
          <a:xfrm>
            <a:off x="8321040" y="4800600"/>
            <a:ext cx="32004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2A65A"/>
              </a:buClr>
              <a:buSzPts val="1900"/>
              <a:buFont typeface="Cambria"/>
              <a:buNone/>
            </a:pPr>
            <a:r>
              <a:rPr lang="en-US" sz="1900" b="1" i="0" u="none" strike="noStrike" cap="none">
                <a:solidFill>
                  <a:srgbClr val="F2A65A"/>
                </a:solidFill>
                <a:latin typeface="Cambria"/>
                <a:ea typeface="Cambria"/>
                <a:cs typeface="Cambria"/>
                <a:sym typeface="Cambria"/>
              </a:rPr>
              <a:t>pm = 0,7</a:t>
            </a:r>
            <a:endParaRPr sz="1900" b="0" i="0" u="none" strike="noStrike" cap="none">
              <a:solidFill>
                <a:schemeClr val="dk1"/>
              </a:solidFill>
              <a:latin typeface="Calibri"/>
              <a:ea typeface="Calibri"/>
              <a:cs typeface="Calibri"/>
              <a:sym typeface="Calibri"/>
            </a:endParaRPr>
          </a:p>
        </p:txBody>
      </p:sp>
      <p:sp>
        <p:nvSpPr>
          <p:cNvPr id="307" name="Google Shape;307;p13"/>
          <p:cNvSpPr txBox="1"/>
          <p:nvPr/>
        </p:nvSpPr>
        <p:spPr>
          <a:xfrm>
            <a:off x="8321040" y="5257800"/>
            <a:ext cx="3200400" cy="3200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con flight_or_gate</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2B46"/>
        </a:solidFill>
        <a:effectLst/>
      </p:bgPr>
    </p:bg>
    <p:spTree>
      <p:nvGrpSpPr>
        <p:cNvPr id="1" name="Shape 312"/>
        <p:cNvGrpSpPr/>
        <p:nvPr/>
      </p:nvGrpSpPr>
      <p:grpSpPr>
        <a:xfrm>
          <a:off x="0" y="0"/>
          <a:ext cx="0" cy="0"/>
          <a:chOff x="0" y="0"/>
          <a:chExt cx="0" cy="0"/>
        </a:xfrm>
      </p:grpSpPr>
      <p:sp>
        <p:nvSpPr>
          <p:cNvPr id="313" name="Google Shape;313;p14"/>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100"/>
              <a:buFont typeface="Calibri"/>
              <a:buNone/>
            </a:pPr>
            <a:r>
              <a:rPr lang="en-US" sz="1100" b="1" i="0" u="none" strike="noStrike" cap="none">
                <a:solidFill>
                  <a:srgbClr val="F2A65A"/>
                </a:solidFill>
                <a:latin typeface="Calibri"/>
                <a:ea typeface="Calibri"/>
                <a:cs typeface="Calibri"/>
                <a:sym typeface="Calibri"/>
              </a:rPr>
              <a:t>MULTIOBJETIVO</a:t>
            </a:r>
            <a:endParaRPr sz="1100" b="0" i="0" u="none" strike="noStrike" cap="none">
              <a:solidFill>
                <a:schemeClr val="dk1"/>
              </a:solidFill>
              <a:latin typeface="Calibri"/>
              <a:ea typeface="Calibri"/>
              <a:cs typeface="Calibri"/>
              <a:sym typeface="Calibri"/>
            </a:endParaRPr>
          </a:p>
        </p:txBody>
      </p:sp>
      <p:sp>
        <p:nvSpPr>
          <p:cNvPr id="314" name="Google Shape;314;p14"/>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000"/>
              <a:buFont typeface="Cambria"/>
              <a:buNone/>
            </a:pPr>
            <a:r>
              <a:rPr lang="en-US" sz="3000" b="1" i="0" u="none" strike="noStrike" cap="none">
                <a:solidFill>
                  <a:srgbClr val="FFFFFF"/>
                </a:solidFill>
                <a:latin typeface="Cambria"/>
                <a:ea typeface="Cambria"/>
                <a:cs typeface="Cambria"/>
                <a:sym typeface="Cambria"/>
              </a:rPr>
              <a:t>NSGA-II: dos objetivos en conflicto</a:t>
            </a:r>
            <a:endParaRPr sz="3000" b="0" i="0" u="none" strike="noStrike" cap="none">
              <a:solidFill>
                <a:schemeClr val="dk1"/>
              </a:solidFill>
              <a:latin typeface="Calibri"/>
              <a:ea typeface="Calibri"/>
              <a:cs typeface="Calibri"/>
              <a:sym typeface="Calibri"/>
            </a:endParaRPr>
          </a:p>
        </p:txBody>
      </p:sp>
      <p:sp>
        <p:nvSpPr>
          <p:cNvPr id="315" name="Google Shape;315;p14"/>
          <p:cNvSpPr/>
          <p:nvPr/>
        </p:nvSpPr>
        <p:spPr>
          <a:xfrm>
            <a:off x="548640" y="1280160"/>
            <a:ext cx="5394960" cy="1371600"/>
          </a:xfrm>
          <a:prstGeom prst="roundRect">
            <a:avLst>
              <a:gd name="adj" fmla="val 5333"/>
            </a:avLst>
          </a:prstGeom>
          <a:solidFill>
            <a:srgbClr val="17395B"/>
          </a:solidFill>
          <a:ln w="12700" cap="flat" cmpd="sng">
            <a:solidFill>
              <a:srgbClr val="1739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14"/>
          <p:cNvSpPr txBox="1"/>
          <p:nvPr/>
        </p:nvSpPr>
        <p:spPr>
          <a:xfrm>
            <a:off x="868680" y="1463040"/>
            <a:ext cx="47548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200"/>
              <a:buFont typeface="Calibri"/>
              <a:buNone/>
            </a:pPr>
            <a:r>
              <a:rPr lang="en-US" sz="1200" b="1" i="0" u="none" strike="noStrike" cap="none">
                <a:solidFill>
                  <a:srgbClr val="F2A65A"/>
                </a:solidFill>
                <a:latin typeface="Calibri"/>
                <a:ea typeface="Calibri"/>
                <a:cs typeface="Calibri"/>
                <a:sym typeface="Calibri"/>
              </a:rPr>
              <a:t>f1 · maximizar</a:t>
            </a:r>
            <a:endParaRPr sz="1200" b="0" i="0" u="none" strike="noStrike" cap="none">
              <a:solidFill>
                <a:schemeClr val="dk1"/>
              </a:solidFill>
              <a:latin typeface="Calibri"/>
              <a:ea typeface="Calibri"/>
              <a:cs typeface="Calibri"/>
              <a:sym typeface="Calibri"/>
            </a:endParaRPr>
          </a:p>
        </p:txBody>
      </p:sp>
      <p:sp>
        <p:nvSpPr>
          <p:cNvPr id="317" name="Google Shape;317;p14"/>
          <p:cNvSpPr txBox="1"/>
          <p:nvPr/>
        </p:nvSpPr>
        <p:spPr>
          <a:xfrm>
            <a:off x="868680" y="1783080"/>
            <a:ext cx="4754880" cy="73152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FFFFFF"/>
              </a:buClr>
              <a:buSzPts val="1350"/>
              <a:buFont typeface="Calibri"/>
              <a:buNone/>
            </a:pPr>
            <a:r>
              <a:rPr lang="en-US" sz="1350" b="0" i="0" u="none" strike="noStrike" cap="none">
                <a:solidFill>
                  <a:srgbClr val="FFFFFF"/>
                </a:solidFill>
                <a:latin typeface="Calibri"/>
                <a:ea typeface="Calibri"/>
                <a:cs typeface="Calibri"/>
                <a:sym typeface="Calibri"/>
              </a:rPr>
              <a:t>Total de pasajeros de los vuelos escogidos: el servicio prestado.</a:t>
            </a:r>
            <a:endParaRPr sz="1350" b="0" i="0" u="none" strike="noStrike" cap="none">
              <a:solidFill>
                <a:schemeClr val="dk1"/>
              </a:solidFill>
              <a:latin typeface="Calibri"/>
              <a:ea typeface="Calibri"/>
              <a:cs typeface="Calibri"/>
              <a:sym typeface="Calibri"/>
            </a:endParaRPr>
          </a:p>
        </p:txBody>
      </p:sp>
      <p:sp>
        <p:nvSpPr>
          <p:cNvPr id="318" name="Google Shape;318;p14"/>
          <p:cNvSpPr/>
          <p:nvPr/>
        </p:nvSpPr>
        <p:spPr>
          <a:xfrm>
            <a:off x="6263640" y="1280160"/>
            <a:ext cx="5394960" cy="1371600"/>
          </a:xfrm>
          <a:prstGeom prst="roundRect">
            <a:avLst>
              <a:gd name="adj" fmla="val 5333"/>
            </a:avLst>
          </a:prstGeom>
          <a:solidFill>
            <a:srgbClr val="17395B"/>
          </a:solidFill>
          <a:ln w="12700" cap="flat" cmpd="sng">
            <a:solidFill>
              <a:srgbClr val="1739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14"/>
          <p:cNvSpPr txBox="1"/>
          <p:nvPr/>
        </p:nvSpPr>
        <p:spPr>
          <a:xfrm>
            <a:off x="6583680" y="1463040"/>
            <a:ext cx="47548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200"/>
              <a:buFont typeface="Calibri"/>
              <a:buNone/>
            </a:pPr>
            <a:r>
              <a:rPr lang="en-US" sz="1200" b="1" i="0" u="none" strike="noStrike" cap="none">
                <a:solidFill>
                  <a:srgbClr val="F2A65A"/>
                </a:solidFill>
                <a:latin typeface="Calibri"/>
                <a:ea typeface="Calibri"/>
                <a:cs typeface="Calibri"/>
                <a:sym typeface="Calibri"/>
              </a:rPr>
              <a:t>f2 · minimizar</a:t>
            </a:r>
            <a:endParaRPr sz="1200" b="0" i="0" u="none" strike="noStrike" cap="none">
              <a:solidFill>
                <a:schemeClr val="dk1"/>
              </a:solidFill>
              <a:latin typeface="Calibri"/>
              <a:ea typeface="Calibri"/>
              <a:cs typeface="Calibri"/>
              <a:sym typeface="Calibri"/>
            </a:endParaRPr>
          </a:p>
        </p:txBody>
      </p:sp>
      <p:sp>
        <p:nvSpPr>
          <p:cNvPr id="320" name="Google Shape;320;p14"/>
          <p:cNvSpPr txBox="1"/>
          <p:nvPr/>
        </p:nvSpPr>
        <p:spPr>
          <a:xfrm>
            <a:off x="6583680" y="1783080"/>
            <a:ext cx="4754880" cy="73152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FFFFFF"/>
              </a:buClr>
              <a:buSzPts val="1350"/>
              <a:buFont typeface="Calibri"/>
              <a:buNone/>
            </a:pPr>
            <a:r>
              <a:rPr lang="en-US" sz="1350" b="0" i="0" u="none" strike="noStrike" cap="none">
                <a:solidFill>
                  <a:srgbClr val="FFFFFF"/>
                </a:solidFill>
                <a:latin typeface="Calibri"/>
                <a:ea typeface="Calibri"/>
                <a:cs typeface="Calibri"/>
                <a:sym typeface="Calibri"/>
              </a:rPr>
              <a:t>Tiempo total de desembarque: la ocupación del recurso.</a:t>
            </a:r>
            <a:endParaRPr sz="1350" b="0" i="0" u="none" strike="noStrike" cap="none">
              <a:solidFill>
                <a:schemeClr val="dk1"/>
              </a:solidFill>
              <a:latin typeface="Calibri"/>
              <a:ea typeface="Calibri"/>
              <a:cs typeface="Calibri"/>
              <a:sym typeface="Calibri"/>
            </a:endParaRPr>
          </a:p>
        </p:txBody>
      </p:sp>
      <p:sp>
        <p:nvSpPr>
          <p:cNvPr id="321" name="Google Shape;321;p14"/>
          <p:cNvSpPr txBox="1"/>
          <p:nvPr/>
        </p:nvSpPr>
        <p:spPr>
          <a:xfrm>
            <a:off x="548640" y="2788920"/>
            <a:ext cx="11109960" cy="3200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2A65A"/>
              </a:buClr>
              <a:buSzPts val="1400"/>
              <a:buFont typeface="Calibri"/>
              <a:buNone/>
            </a:pPr>
            <a:r>
              <a:rPr lang="en-US" sz="1400" b="1" i="0" u="none" strike="noStrike" cap="none">
                <a:solidFill>
                  <a:srgbClr val="F2A65A"/>
                </a:solidFill>
                <a:latin typeface="Calibri"/>
                <a:ea typeface="Calibri"/>
                <a:cs typeface="Calibri"/>
                <a:sym typeface="Calibri"/>
              </a:rPr>
              <a:t>Están en conflicto: todo vuelo agregado suma pasajeros, pero también suma tiempo de puerta.</a:t>
            </a:r>
            <a:endParaRPr sz="1400" b="0" i="0" u="none" strike="noStrike" cap="none">
              <a:solidFill>
                <a:schemeClr val="dk1"/>
              </a:solidFill>
              <a:latin typeface="Calibri"/>
              <a:ea typeface="Calibri"/>
              <a:cs typeface="Calibri"/>
              <a:sym typeface="Calibri"/>
            </a:endParaRPr>
          </a:p>
        </p:txBody>
      </p:sp>
      <p:sp>
        <p:nvSpPr>
          <p:cNvPr id="322" name="Google Shape;322;p14"/>
          <p:cNvSpPr/>
          <p:nvPr/>
        </p:nvSpPr>
        <p:spPr>
          <a:xfrm>
            <a:off x="548640" y="3291840"/>
            <a:ext cx="2606040" cy="1828800"/>
          </a:xfrm>
          <a:prstGeom prst="roundRect">
            <a:avLst>
              <a:gd name="adj" fmla="val 4000"/>
            </a:avLst>
          </a:prstGeom>
          <a:solidFill>
            <a:srgbClr val="17395B"/>
          </a:solidFill>
          <a:ln w="12700" cap="flat" cmpd="sng">
            <a:solidFill>
              <a:srgbClr val="1739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4"/>
          <p:cNvSpPr/>
          <p:nvPr/>
        </p:nvSpPr>
        <p:spPr>
          <a:xfrm>
            <a:off x="777240" y="3474720"/>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14"/>
          <p:cNvSpPr txBox="1"/>
          <p:nvPr/>
        </p:nvSpPr>
        <p:spPr>
          <a:xfrm>
            <a:off x="777240" y="347472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1</a:t>
            </a:r>
            <a:endParaRPr sz="1100" b="0" i="0" u="none" strike="noStrike" cap="none">
              <a:solidFill>
                <a:schemeClr val="dk1"/>
              </a:solidFill>
              <a:latin typeface="Calibri"/>
              <a:ea typeface="Calibri"/>
              <a:cs typeface="Calibri"/>
              <a:sym typeface="Calibri"/>
            </a:endParaRPr>
          </a:p>
        </p:txBody>
      </p:sp>
      <p:sp>
        <p:nvSpPr>
          <p:cNvPr id="325" name="Google Shape;325;p14"/>
          <p:cNvSpPr txBox="1"/>
          <p:nvPr/>
        </p:nvSpPr>
        <p:spPr>
          <a:xfrm>
            <a:off x="777240" y="3931920"/>
            <a:ext cx="2194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Dominancia</a:t>
            </a:r>
            <a:endParaRPr sz="1400" b="0" i="0" u="none" strike="noStrike" cap="none">
              <a:solidFill>
                <a:schemeClr val="dk1"/>
              </a:solidFill>
              <a:latin typeface="Calibri"/>
              <a:ea typeface="Calibri"/>
              <a:cs typeface="Calibri"/>
              <a:sym typeface="Calibri"/>
            </a:endParaRPr>
          </a:p>
        </p:txBody>
      </p:sp>
      <p:sp>
        <p:nvSpPr>
          <p:cNvPr id="326" name="Google Shape;326;p14"/>
          <p:cNvSpPr txBox="1"/>
          <p:nvPr/>
        </p:nvSpPr>
        <p:spPr>
          <a:xfrm>
            <a:off x="777240" y="4224528"/>
            <a:ext cx="2194560" cy="82296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A domina a B si es al menos igual en ambos objetivos y mejor en uno.</a:t>
            </a:r>
            <a:endParaRPr sz="1150" b="0" i="0" u="none" strike="noStrike" cap="none">
              <a:solidFill>
                <a:schemeClr val="dk1"/>
              </a:solidFill>
              <a:latin typeface="Calibri"/>
              <a:ea typeface="Calibri"/>
              <a:cs typeface="Calibri"/>
              <a:sym typeface="Calibri"/>
            </a:endParaRPr>
          </a:p>
        </p:txBody>
      </p:sp>
      <p:sp>
        <p:nvSpPr>
          <p:cNvPr id="327" name="Google Shape;327;p14"/>
          <p:cNvSpPr/>
          <p:nvPr/>
        </p:nvSpPr>
        <p:spPr>
          <a:xfrm>
            <a:off x="3383280" y="3291840"/>
            <a:ext cx="2606040" cy="1828800"/>
          </a:xfrm>
          <a:prstGeom prst="roundRect">
            <a:avLst>
              <a:gd name="adj" fmla="val 4000"/>
            </a:avLst>
          </a:prstGeom>
          <a:solidFill>
            <a:srgbClr val="17395B"/>
          </a:solidFill>
          <a:ln w="12700" cap="flat" cmpd="sng">
            <a:solidFill>
              <a:srgbClr val="1739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4"/>
          <p:cNvSpPr/>
          <p:nvPr/>
        </p:nvSpPr>
        <p:spPr>
          <a:xfrm>
            <a:off x="3611880" y="3474720"/>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4"/>
          <p:cNvSpPr txBox="1"/>
          <p:nvPr/>
        </p:nvSpPr>
        <p:spPr>
          <a:xfrm>
            <a:off x="3611880" y="347472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2</a:t>
            </a:r>
            <a:endParaRPr sz="1100" b="0" i="0" u="none" strike="noStrike" cap="none">
              <a:solidFill>
                <a:schemeClr val="dk1"/>
              </a:solidFill>
              <a:latin typeface="Calibri"/>
              <a:ea typeface="Calibri"/>
              <a:cs typeface="Calibri"/>
              <a:sym typeface="Calibri"/>
            </a:endParaRPr>
          </a:p>
        </p:txBody>
      </p:sp>
      <p:sp>
        <p:nvSpPr>
          <p:cNvPr id="330" name="Google Shape;330;p14"/>
          <p:cNvSpPr txBox="1"/>
          <p:nvPr/>
        </p:nvSpPr>
        <p:spPr>
          <a:xfrm>
            <a:off x="3611880" y="3931920"/>
            <a:ext cx="2194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Frentes</a:t>
            </a:r>
            <a:endParaRPr sz="1400" b="0" i="0" u="none" strike="noStrike" cap="none">
              <a:solidFill>
                <a:schemeClr val="dk1"/>
              </a:solidFill>
              <a:latin typeface="Calibri"/>
              <a:ea typeface="Calibri"/>
              <a:cs typeface="Calibri"/>
              <a:sym typeface="Calibri"/>
            </a:endParaRPr>
          </a:p>
        </p:txBody>
      </p:sp>
      <p:sp>
        <p:nvSpPr>
          <p:cNvPr id="331" name="Google Shape;331;p14"/>
          <p:cNvSpPr txBox="1"/>
          <p:nvPr/>
        </p:nvSpPr>
        <p:spPr>
          <a:xfrm>
            <a:off x="3611880" y="4224528"/>
            <a:ext cx="2194560" cy="82296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La población se ordena en capas; el frente 0 es el de las no dominadas.</a:t>
            </a:r>
            <a:endParaRPr sz="1150" b="0" i="0" u="none" strike="noStrike" cap="none">
              <a:solidFill>
                <a:schemeClr val="dk1"/>
              </a:solidFill>
              <a:latin typeface="Calibri"/>
              <a:ea typeface="Calibri"/>
              <a:cs typeface="Calibri"/>
              <a:sym typeface="Calibri"/>
            </a:endParaRPr>
          </a:p>
        </p:txBody>
      </p:sp>
      <p:sp>
        <p:nvSpPr>
          <p:cNvPr id="332" name="Google Shape;332;p14"/>
          <p:cNvSpPr/>
          <p:nvPr/>
        </p:nvSpPr>
        <p:spPr>
          <a:xfrm>
            <a:off x="6217920" y="3291840"/>
            <a:ext cx="2606040" cy="1828800"/>
          </a:xfrm>
          <a:prstGeom prst="roundRect">
            <a:avLst>
              <a:gd name="adj" fmla="val 4000"/>
            </a:avLst>
          </a:prstGeom>
          <a:solidFill>
            <a:srgbClr val="17395B"/>
          </a:solidFill>
          <a:ln w="12700" cap="flat" cmpd="sng">
            <a:solidFill>
              <a:srgbClr val="1739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14"/>
          <p:cNvSpPr/>
          <p:nvPr/>
        </p:nvSpPr>
        <p:spPr>
          <a:xfrm>
            <a:off x="6446520" y="3474720"/>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4"/>
          <p:cNvSpPr txBox="1"/>
          <p:nvPr/>
        </p:nvSpPr>
        <p:spPr>
          <a:xfrm>
            <a:off x="6446520" y="347472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3</a:t>
            </a:r>
            <a:endParaRPr sz="1100" b="0" i="0" u="none" strike="noStrike" cap="none">
              <a:solidFill>
                <a:schemeClr val="dk1"/>
              </a:solidFill>
              <a:latin typeface="Calibri"/>
              <a:ea typeface="Calibri"/>
              <a:cs typeface="Calibri"/>
              <a:sym typeface="Calibri"/>
            </a:endParaRPr>
          </a:p>
        </p:txBody>
      </p:sp>
      <p:sp>
        <p:nvSpPr>
          <p:cNvPr id="335" name="Google Shape;335;p14"/>
          <p:cNvSpPr txBox="1"/>
          <p:nvPr/>
        </p:nvSpPr>
        <p:spPr>
          <a:xfrm>
            <a:off x="6446520" y="3931920"/>
            <a:ext cx="2194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Apiñamiento</a:t>
            </a:r>
            <a:endParaRPr sz="1400" b="0" i="0" u="none" strike="noStrike" cap="none">
              <a:solidFill>
                <a:schemeClr val="dk1"/>
              </a:solidFill>
              <a:latin typeface="Calibri"/>
              <a:ea typeface="Calibri"/>
              <a:cs typeface="Calibri"/>
              <a:sym typeface="Calibri"/>
            </a:endParaRPr>
          </a:p>
        </p:txBody>
      </p:sp>
      <p:sp>
        <p:nvSpPr>
          <p:cNvPr id="336" name="Google Shape;336;p14"/>
          <p:cNvSpPr txBox="1"/>
          <p:nvPr/>
        </p:nvSpPr>
        <p:spPr>
          <a:xfrm>
            <a:off x="6446520" y="4224528"/>
            <a:ext cx="2194560" cy="82296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Dentro de un frente se prefiere al más aislado, para repartir la frontera.</a:t>
            </a:r>
            <a:endParaRPr sz="1150" b="0" i="0" u="none" strike="noStrike" cap="none">
              <a:solidFill>
                <a:schemeClr val="dk1"/>
              </a:solidFill>
              <a:latin typeface="Calibri"/>
              <a:ea typeface="Calibri"/>
              <a:cs typeface="Calibri"/>
              <a:sym typeface="Calibri"/>
            </a:endParaRPr>
          </a:p>
        </p:txBody>
      </p:sp>
      <p:sp>
        <p:nvSpPr>
          <p:cNvPr id="337" name="Google Shape;337;p14"/>
          <p:cNvSpPr/>
          <p:nvPr/>
        </p:nvSpPr>
        <p:spPr>
          <a:xfrm>
            <a:off x="9052560" y="3291840"/>
            <a:ext cx="2606040" cy="1828800"/>
          </a:xfrm>
          <a:prstGeom prst="roundRect">
            <a:avLst>
              <a:gd name="adj" fmla="val 4000"/>
            </a:avLst>
          </a:prstGeom>
          <a:solidFill>
            <a:srgbClr val="17395B"/>
          </a:solidFill>
          <a:ln w="12700" cap="flat" cmpd="sng">
            <a:solidFill>
              <a:srgbClr val="17395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14"/>
          <p:cNvSpPr/>
          <p:nvPr/>
        </p:nvSpPr>
        <p:spPr>
          <a:xfrm>
            <a:off x="9281160" y="3474720"/>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14"/>
          <p:cNvSpPr txBox="1"/>
          <p:nvPr/>
        </p:nvSpPr>
        <p:spPr>
          <a:xfrm>
            <a:off x="9281160" y="347472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4</a:t>
            </a:r>
            <a:endParaRPr sz="1100" b="0" i="0" u="none" strike="noStrike" cap="none">
              <a:solidFill>
                <a:schemeClr val="dk1"/>
              </a:solidFill>
              <a:latin typeface="Calibri"/>
              <a:ea typeface="Calibri"/>
              <a:cs typeface="Calibri"/>
              <a:sym typeface="Calibri"/>
            </a:endParaRPr>
          </a:p>
        </p:txBody>
      </p:sp>
      <p:sp>
        <p:nvSpPr>
          <p:cNvPr id="340" name="Google Shape;340;p14"/>
          <p:cNvSpPr txBox="1"/>
          <p:nvPr/>
        </p:nvSpPr>
        <p:spPr>
          <a:xfrm>
            <a:off x="9281160" y="3931920"/>
            <a:ext cx="2194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libri"/>
              <a:buNone/>
            </a:pPr>
            <a:r>
              <a:rPr lang="en-US" sz="1400" b="1" i="0" u="none" strike="noStrike" cap="none">
                <a:solidFill>
                  <a:srgbClr val="FFFFFF"/>
                </a:solidFill>
                <a:latin typeface="Calibri"/>
                <a:ea typeface="Calibri"/>
                <a:cs typeface="Calibri"/>
                <a:sym typeface="Calibri"/>
              </a:rPr>
              <a:t>Elitismo</a:t>
            </a:r>
            <a:endParaRPr sz="1400" b="0" i="0" u="none" strike="noStrike" cap="none">
              <a:solidFill>
                <a:schemeClr val="dk1"/>
              </a:solidFill>
              <a:latin typeface="Calibri"/>
              <a:ea typeface="Calibri"/>
              <a:cs typeface="Calibri"/>
              <a:sym typeface="Calibri"/>
            </a:endParaRPr>
          </a:p>
        </p:txBody>
      </p:sp>
      <p:sp>
        <p:nvSpPr>
          <p:cNvPr id="341" name="Google Shape;341;p14"/>
          <p:cNvSpPr txBox="1"/>
          <p:nvPr/>
        </p:nvSpPr>
        <p:spPr>
          <a:xfrm>
            <a:off x="9281160" y="4224528"/>
            <a:ext cx="2194560" cy="82296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150"/>
              <a:buFont typeface="Calibri"/>
              <a:buNone/>
            </a:pPr>
            <a:r>
              <a:rPr lang="en-US" sz="1150" b="0" i="0" u="none" strike="noStrike" cap="none">
                <a:solidFill>
                  <a:srgbClr val="CADCFC"/>
                </a:solidFill>
                <a:latin typeface="Calibri"/>
                <a:ea typeface="Calibri"/>
                <a:cs typeface="Calibri"/>
                <a:sym typeface="Calibri"/>
              </a:rPr>
              <a:t>Padres e hijos compiten juntos; se llena frente por frente.</a:t>
            </a:r>
            <a:endParaRPr sz="1150" b="0" i="0" u="none" strike="noStrike" cap="none">
              <a:solidFill>
                <a:schemeClr val="dk1"/>
              </a:solidFill>
              <a:latin typeface="Calibri"/>
              <a:ea typeface="Calibri"/>
              <a:cs typeface="Calibri"/>
              <a:sym typeface="Calibri"/>
            </a:endParaRPr>
          </a:p>
        </p:txBody>
      </p:sp>
      <p:sp>
        <p:nvSpPr>
          <p:cNvPr id="342" name="Google Shape;342;p14"/>
          <p:cNvSpPr txBox="1"/>
          <p:nvPr/>
        </p:nvSpPr>
        <p:spPr>
          <a:xfrm>
            <a:off x="548640" y="5349240"/>
            <a:ext cx="1110996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ADCFC"/>
              </a:buClr>
              <a:buSzPts val="1250"/>
              <a:buFont typeface="Calibri"/>
              <a:buNone/>
            </a:pPr>
            <a:r>
              <a:rPr lang="en-US" sz="1250" b="0" i="1" u="none" strike="noStrike" cap="none">
                <a:solidFill>
                  <a:srgbClr val="CADCFC"/>
                </a:solidFill>
                <a:latin typeface="Calibri"/>
                <a:ea typeface="Calibri"/>
                <a:cs typeface="Calibri"/>
                <a:sym typeface="Calibri"/>
              </a:rPr>
              <a:t>Mismo cromosoma y mismos operadores del mono-objetivo: IndividualNSGA hereda de IndividualGA, con uniform_assignment y flight_or_gate a pm = 0,7. Todo en Python puro, sin librerías de computación evolutiva.</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7"/>
        <p:cNvGrpSpPr/>
        <p:nvPr/>
      </p:nvGrpSpPr>
      <p:grpSpPr>
        <a:xfrm>
          <a:off x="0" y="0"/>
          <a:ext cx="0" cy="0"/>
          <a:chOff x="0" y="0"/>
          <a:chExt cx="0" cy="0"/>
        </a:xfrm>
      </p:grpSpPr>
      <p:sp>
        <p:nvSpPr>
          <p:cNvPr id="348" name="Google Shape;348;p15"/>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RESULTADO 4</a:t>
            </a:r>
            <a:endParaRPr sz="1100" b="0" i="0" u="none" strike="noStrike" cap="none">
              <a:solidFill>
                <a:schemeClr val="dk1"/>
              </a:solidFill>
              <a:latin typeface="Calibri"/>
              <a:ea typeface="Calibri"/>
              <a:cs typeface="Calibri"/>
              <a:sym typeface="Calibri"/>
            </a:endParaRPr>
          </a:p>
        </p:txBody>
      </p:sp>
      <p:sp>
        <p:nvSpPr>
          <p:cNvPr id="349" name="Google Shape;349;p15"/>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Las fronteras de Pareto</a:t>
            </a:r>
            <a:endParaRPr sz="3000" b="0" i="0" u="none" strike="noStrike" cap="none">
              <a:solidFill>
                <a:schemeClr val="dk1"/>
              </a:solidFill>
              <a:latin typeface="Calibri"/>
              <a:ea typeface="Calibri"/>
              <a:cs typeface="Calibri"/>
              <a:sym typeface="Calibri"/>
            </a:endParaRPr>
          </a:p>
        </p:txBody>
      </p:sp>
      <p:pic>
        <p:nvPicPr>
          <p:cNvPr id="350" name="Google Shape;350;p15" descr="C:/Users/Ampue/Documents/PUCP/Diplomado IA/computacion_evolutiva/trabajo_final/figuras/pareto_fronteras.png"/>
          <p:cNvPicPr preferRelativeResize="0"/>
          <p:nvPr/>
        </p:nvPicPr>
        <p:blipFill rotWithShape="1">
          <a:blip r:embed="rId3">
            <a:alphaModFix/>
          </a:blip>
          <a:srcRect/>
          <a:stretch/>
        </p:blipFill>
        <p:spPr>
          <a:xfrm>
            <a:off x="548640" y="1188720"/>
            <a:ext cx="6897173" cy="4370832"/>
          </a:xfrm>
          <a:prstGeom prst="rect">
            <a:avLst/>
          </a:prstGeom>
          <a:noFill/>
          <a:ln>
            <a:noFill/>
          </a:ln>
        </p:spPr>
      </p:pic>
      <p:sp>
        <p:nvSpPr>
          <p:cNvPr id="351" name="Google Shape;351;p15"/>
          <p:cNvSpPr/>
          <p:nvPr/>
        </p:nvSpPr>
        <p:spPr>
          <a:xfrm>
            <a:off x="7772400" y="1188720"/>
            <a:ext cx="3886200" cy="4370832"/>
          </a:xfrm>
          <a:prstGeom prst="roundRect">
            <a:avLst>
              <a:gd name="adj" fmla="val 1882"/>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15"/>
          <p:cNvSpPr txBox="1"/>
          <p:nvPr/>
        </p:nvSpPr>
        <p:spPr>
          <a:xfrm>
            <a:off x="8046720" y="1371600"/>
            <a:ext cx="3337560" cy="3200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500"/>
              <a:buFont typeface="Cambria"/>
              <a:buNone/>
            </a:pPr>
            <a:r>
              <a:rPr lang="en-US" sz="1500" b="1" i="0" u="none" strike="noStrike" cap="none">
                <a:solidFill>
                  <a:srgbClr val="1C7293"/>
                </a:solidFill>
                <a:latin typeface="Cambria"/>
                <a:ea typeface="Cambria"/>
                <a:cs typeface="Cambria"/>
                <a:sym typeface="Cambria"/>
              </a:rPr>
              <a:t>Qué muestran</a:t>
            </a:r>
            <a:endParaRPr sz="1500" b="0" i="0" u="none" strike="noStrike" cap="none">
              <a:solidFill>
                <a:schemeClr val="dk1"/>
              </a:solidFill>
              <a:latin typeface="Calibri"/>
              <a:ea typeface="Calibri"/>
              <a:cs typeface="Calibri"/>
              <a:sym typeface="Calibri"/>
            </a:endParaRPr>
          </a:p>
        </p:txBody>
      </p:sp>
      <p:sp>
        <p:nvSpPr>
          <p:cNvPr id="353" name="Google Shape;353;p15"/>
          <p:cNvSpPr txBox="1"/>
          <p:nvPr/>
        </p:nvSpPr>
        <p:spPr>
          <a:xfrm>
            <a:off x="8046720" y="1783080"/>
            <a:ext cx="3337560" cy="2286000"/>
          </a:xfrm>
          <a:prstGeom prst="rect">
            <a:avLst/>
          </a:prstGeom>
          <a:noFill/>
          <a:ln>
            <a:noFill/>
          </a:ln>
        </p:spPr>
        <p:txBody>
          <a:bodyPr spcFirstLastPara="1" wrap="square" lIns="0" tIns="0" rIns="0" bIns="0" anchor="t" anchorCtr="0">
            <a:noAutofit/>
          </a:bodyPr>
          <a:lstStyle/>
          <a:p>
            <a:pPr marL="177800" marR="0" lvl="0" indent="-177800" algn="l" rtl="0">
              <a:lnSpc>
                <a:spcPct val="105000"/>
              </a:lnSpc>
              <a:spcBef>
                <a:spcPts val="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Alcanza el óptimo teórico de pasajeros (653) en 4 de 5 corridas.</a:t>
            </a:r>
            <a:endParaRPr sz="125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37 a 42 soluciones distintas por corrida, todas no dominadas.</a:t>
            </a:r>
            <a:endParaRPr sz="125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Fronteras casi idénticas entre corridas: hipervolumen con 0,77 % de variación.</a:t>
            </a:r>
            <a:endParaRPr sz="1250" b="0" i="0" u="none" strike="noStrike" cap="none">
              <a:solidFill>
                <a:schemeClr val="dk1"/>
              </a:solidFill>
              <a:latin typeface="Calibri"/>
              <a:ea typeface="Calibri"/>
              <a:cs typeface="Calibri"/>
              <a:sym typeface="Calibri"/>
            </a:endParaRPr>
          </a:p>
          <a:p>
            <a:pPr marL="177800" marR="0" lvl="0" indent="-177800" algn="l" rtl="0">
              <a:lnSpc>
                <a:spcPct val="105000"/>
              </a:lnSpc>
              <a:spcBef>
                <a:spcPts val="800"/>
              </a:spcBef>
              <a:spcAft>
                <a:spcPts val="0"/>
              </a:spcAft>
              <a:buClr>
                <a:srgbClr val="1B2733"/>
              </a:buClr>
              <a:buSzPts val="1250"/>
              <a:buFont typeface="Calibri"/>
              <a:buChar char="•"/>
            </a:pPr>
            <a:r>
              <a:rPr lang="en-US" sz="1250" b="0" i="0" u="none" strike="noStrike" cap="none">
                <a:solidFill>
                  <a:srgbClr val="1B2733"/>
                </a:solidFill>
                <a:latin typeface="Calibri"/>
                <a:ea typeface="Calibri"/>
                <a:cs typeface="Calibri"/>
                <a:sym typeface="Calibri"/>
              </a:rPr>
              <a:t>La frontera combinada suma 64 puntos: de 289 a 653 pasajeros y de 699 a 2202 de tiempo.</a:t>
            </a:r>
            <a:endParaRPr sz="1250" b="0" i="0" u="none" strike="noStrike" cap="none">
              <a:solidFill>
                <a:schemeClr val="dk1"/>
              </a:solidFill>
              <a:latin typeface="Calibri"/>
              <a:ea typeface="Calibri"/>
              <a:cs typeface="Calibri"/>
              <a:sym typeface="Calibri"/>
            </a:endParaRPr>
          </a:p>
        </p:txBody>
      </p:sp>
      <p:sp>
        <p:nvSpPr>
          <p:cNvPr id="354" name="Google Shape;354;p15"/>
          <p:cNvSpPr/>
          <p:nvPr/>
        </p:nvSpPr>
        <p:spPr>
          <a:xfrm>
            <a:off x="8046720" y="4206240"/>
            <a:ext cx="3337560" cy="1143000"/>
          </a:xfrm>
          <a:prstGeom prst="roundRect">
            <a:avLst>
              <a:gd name="adj" fmla="val 6400"/>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5"/>
          <p:cNvSpPr txBox="1"/>
          <p:nvPr/>
        </p:nvSpPr>
        <p:spPr>
          <a:xfrm>
            <a:off x="8229600" y="4206240"/>
            <a:ext cx="2971800" cy="11430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FFFFFF"/>
              </a:buClr>
              <a:buSzPts val="1200"/>
              <a:buFont typeface="Calibri"/>
              <a:buNone/>
            </a:pPr>
            <a:r>
              <a:rPr lang="en-US" sz="1200" b="0" i="0" u="none" strike="noStrike" cap="none">
                <a:solidFill>
                  <a:srgbClr val="FFFFFF"/>
                </a:solidFill>
                <a:latin typeface="Calibri"/>
                <a:ea typeface="Calibri"/>
                <a:cs typeface="Calibri"/>
                <a:sym typeface="Calibri"/>
              </a:rPr>
              <a:t>Los últimos pasajeros son los más caros: pasar de 512 a 653 (+28 %) cuesta +94 % de tiempo.</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0"/>
        <p:cNvGrpSpPr/>
        <p:nvPr/>
      </p:nvGrpSpPr>
      <p:grpSpPr>
        <a:xfrm>
          <a:off x="0" y="0"/>
          <a:ext cx="0" cy="0"/>
          <a:chOff x="0" y="0"/>
          <a:chExt cx="0" cy="0"/>
        </a:xfrm>
      </p:grpSpPr>
      <p:sp>
        <p:nvSpPr>
          <p:cNvPr id="361" name="Google Shape;361;p16"/>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100"/>
              <a:buFont typeface="Calibri"/>
              <a:buNone/>
            </a:pPr>
            <a:r>
              <a:rPr lang="en-US" sz="1100" b="1" i="0" u="none" strike="noStrike" cap="none">
                <a:solidFill>
                  <a:srgbClr val="F2A65A"/>
                </a:solidFill>
                <a:latin typeface="Calibri"/>
                <a:ea typeface="Calibri"/>
                <a:cs typeface="Calibri"/>
                <a:sym typeface="Calibri"/>
              </a:rPr>
              <a:t>EL HALLAZGO</a:t>
            </a:r>
            <a:endParaRPr sz="1100" b="0" i="0" u="none" strike="noStrike" cap="none">
              <a:solidFill>
                <a:schemeClr val="dk1"/>
              </a:solidFill>
              <a:latin typeface="Calibri"/>
              <a:ea typeface="Calibri"/>
              <a:cs typeface="Calibri"/>
              <a:sym typeface="Calibri"/>
            </a:endParaRPr>
          </a:p>
        </p:txBody>
      </p:sp>
      <p:sp>
        <p:nvSpPr>
          <p:cNvPr id="362" name="Google Shape;362;p16"/>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El óptimo mono-objetivo está dominado</a:t>
            </a:r>
            <a:endParaRPr sz="3000" b="0" i="0" u="none" strike="noStrike" cap="none">
              <a:solidFill>
                <a:schemeClr val="dk1"/>
              </a:solidFill>
              <a:latin typeface="Calibri"/>
              <a:ea typeface="Calibri"/>
              <a:cs typeface="Calibri"/>
              <a:sym typeface="Calibri"/>
            </a:endParaRPr>
          </a:p>
        </p:txBody>
      </p:sp>
      <p:pic>
        <p:nvPicPr>
          <p:cNvPr id="363" name="Google Shape;363;p16" descr="C:/Users/Ampue/Documents/PUCP/Diplomado IA/computacion_evolutiva/trabajo_final/figuras/pareto_combinada.png"/>
          <p:cNvPicPr preferRelativeResize="0"/>
          <p:nvPr/>
        </p:nvPicPr>
        <p:blipFill rotWithShape="1">
          <a:blip r:embed="rId3">
            <a:alphaModFix/>
          </a:blip>
          <a:srcRect/>
          <a:stretch/>
        </p:blipFill>
        <p:spPr>
          <a:xfrm>
            <a:off x="548640" y="1188720"/>
            <a:ext cx="5888855" cy="4014216"/>
          </a:xfrm>
          <a:prstGeom prst="rect">
            <a:avLst/>
          </a:prstGeom>
          <a:noFill/>
          <a:ln>
            <a:noFill/>
          </a:ln>
        </p:spPr>
      </p:pic>
      <p:sp>
        <p:nvSpPr>
          <p:cNvPr id="364" name="Google Shape;364;p16"/>
          <p:cNvSpPr/>
          <p:nvPr/>
        </p:nvSpPr>
        <p:spPr>
          <a:xfrm>
            <a:off x="6766560" y="1188720"/>
            <a:ext cx="4892040" cy="1965960"/>
          </a:xfrm>
          <a:prstGeom prst="roundRect">
            <a:avLst>
              <a:gd name="adj" fmla="val 3721"/>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16"/>
          <p:cNvSpPr txBox="1"/>
          <p:nvPr/>
        </p:nvSpPr>
        <p:spPr>
          <a:xfrm>
            <a:off x="7040880" y="1371600"/>
            <a:ext cx="434340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3000"/>
              <a:buFont typeface="Cambria"/>
              <a:buNone/>
            </a:pPr>
            <a:r>
              <a:rPr lang="en-US" sz="3000" b="1" i="0" u="none" strike="noStrike" cap="none">
                <a:solidFill>
                  <a:srgbClr val="F2A65A"/>
                </a:solidFill>
                <a:latin typeface="Cambria"/>
                <a:ea typeface="Cambria"/>
                <a:cs typeface="Cambria"/>
                <a:sym typeface="Cambria"/>
              </a:rPr>
              <a:t>10 soluciones</a:t>
            </a:r>
            <a:endParaRPr sz="3000" b="0" i="0" u="none" strike="noStrike" cap="none">
              <a:solidFill>
                <a:schemeClr val="dk1"/>
              </a:solidFill>
              <a:latin typeface="Calibri"/>
              <a:ea typeface="Calibri"/>
              <a:cs typeface="Calibri"/>
              <a:sym typeface="Calibri"/>
            </a:endParaRPr>
          </a:p>
        </p:txBody>
      </p:sp>
      <p:sp>
        <p:nvSpPr>
          <p:cNvPr id="366" name="Google Shape;366;p16"/>
          <p:cNvSpPr txBox="1"/>
          <p:nvPr/>
        </p:nvSpPr>
        <p:spPr>
          <a:xfrm>
            <a:off x="7040880" y="1965960"/>
            <a:ext cx="4343400" cy="100584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CADCFC"/>
              </a:buClr>
              <a:buSzPts val="1300"/>
              <a:buFont typeface="Calibri"/>
              <a:buNone/>
            </a:pPr>
            <a:r>
              <a:rPr lang="en-US" sz="1300" b="0" i="0" u="none" strike="noStrike" cap="none">
                <a:solidFill>
                  <a:srgbClr val="CADCFC"/>
                </a:solidFill>
                <a:latin typeface="Calibri"/>
                <a:ea typeface="Calibri"/>
                <a:cs typeface="Calibri"/>
                <a:sym typeface="Calibri"/>
              </a:rPr>
              <a:t>de la frontera atienden igual o más pasajeros en igual o menos tiempo que el mejor individuo mono-objetivo (466 pasajeros, 1154 de tiempo). La más extrema sirve 512 pasajeros en 1132 de tiempo.</a:t>
            </a:r>
            <a:endParaRPr sz="1300" b="0" i="0" u="none" strike="noStrike" cap="none">
              <a:solidFill>
                <a:schemeClr val="dk1"/>
              </a:solidFill>
              <a:latin typeface="Calibri"/>
              <a:ea typeface="Calibri"/>
              <a:cs typeface="Calibri"/>
              <a:sym typeface="Calibri"/>
            </a:endParaRPr>
          </a:p>
        </p:txBody>
      </p:sp>
      <p:sp>
        <p:nvSpPr>
          <p:cNvPr id="367" name="Google Shape;367;p16"/>
          <p:cNvSpPr txBox="1"/>
          <p:nvPr/>
        </p:nvSpPr>
        <p:spPr>
          <a:xfrm>
            <a:off x="6766560" y="3337560"/>
            <a:ext cx="489204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600"/>
              <a:buFont typeface="Cambria"/>
              <a:buNone/>
            </a:pPr>
            <a:r>
              <a:rPr lang="en-US" sz="1600" b="1" i="0" u="none" strike="noStrike" cap="none">
                <a:solidFill>
                  <a:srgbClr val="1B2733"/>
                </a:solidFill>
                <a:latin typeface="Cambria"/>
                <a:ea typeface="Cambria"/>
                <a:cs typeface="Cambria"/>
                <a:sym typeface="Cambria"/>
              </a:rPr>
              <a:t>¿Por qué? No es un error del algoritmo</a:t>
            </a:r>
            <a:endParaRPr sz="1600" b="0" i="0" u="none" strike="noStrike" cap="none">
              <a:solidFill>
                <a:schemeClr val="dk1"/>
              </a:solidFill>
              <a:latin typeface="Calibri"/>
              <a:ea typeface="Calibri"/>
              <a:cs typeface="Calibri"/>
              <a:sym typeface="Calibri"/>
            </a:endParaRPr>
          </a:p>
        </p:txBody>
      </p:sp>
      <p:sp>
        <p:nvSpPr>
          <p:cNvPr id="368" name="Google Shape;368;p16"/>
          <p:cNvSpPr txBox="1"/>
          <p:nvPr/>
        </p:nvSpPr>
        <p:spPr>
          <a:xfrm>
            <a:off x="6766560" y="3749040"/>
            <a:ext cx="4892040" cy="146304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1B2733"/>
              </a:buClr>
              <a:buSzPts val="1250"/>
              <a:buFont typeface="Calibri"/>
              <a:buNone/>
            </a:pPr>
            <a:r>
              <a:rPr lang="en-US" sz="1250" b="1" i="0" u="none" strike="noStrike" cap="none">
                <a:solidFill>
                  <a:srgbClr val="1B2733"/>
                </a:solidFill>
                <a:latin typeface="Calibri"/>
                <a:ea typeface="Calibri"/>
                <a:cs typeface="Calibri"/>
                <a:sym typeface="Calibri"/>
              </a:rPr>
              <a:t>El fitness es una suma de cocientes</a:t>
            </a:r>
            <a:r>
              <a:rPr lang="en-US" sz="1250" b="0" i="0" u="none" strike="noStrike" cap="none">
                <a:solidFill>
                  <a:srgbClr val="1B2733"/>
                </a:solidFill>
                <a:latin typeface="Calibri"/>
                <a:ea typeface="Calibri"/>
                <a:cs typeface="Calibri"/>
                <a:sym typeface="Calibri"/>
              </a:rPr>
              <a:t>, no el cociente de las sumas. La primera forma premia tener asignaciones individuales excelentes aunque el resto sea mediocre; la segunda premia el rendimiento agregado del aeropuerto. Son objetivos distintos, y el óptimo de uno no pertenece a la frontera del otro.</a:t>
            </a:r>
            <a:endParaRPr sz="1250" b="0" i="0" u="none" strike="noStrike" cap="none">
              <a:solidFill>
                <a:schemeClr val="dk1"/>
              </a:solidFill>
              <a:latin typeface="Calibri"/>
              <a:ea typeface="Calibri"/>
              <a:cs typeface="Calibri"/>
              <a:sym typeface="Calibri"/>
            </a:endParaRPr>
          </a:p>
        </p:txBody>
      </p:sp>
      <p:sp>
        <p:nvSpPr>
          <p:cNvPr id="369" name="Google Shape;369;p16"/>
          <p:cNvSpPr/>
          <p:nvPr/>
        </p:nvSpPr>
        <p:spPr>
          <a:xfrm>
            <a:off x="6766560" y="5257800"/>
            <a:ext cx="4892040" cy="594360"/>
          </a:xfrm>
          <a:prstGeom prst="roundRect">
            <a:avLst>
              <a:gd name="adj" fmla="val 12308"/>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6"/>
          <p:cNvSpPr txBox="1"/>
          <p:nvPr/>
        </p:nvSpPr>
        <p:spPr>
          <a:xfrm>
            <a:off x="6995160" y="5257800"/>
            <a:ext cx="4434840"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200"/>
              <a:buFont typeface="Calibri"/>
              <a:buNone/>
            </a:pPr>
            <a:r>
              <a:rPr lang="en-US" sz="1200" b="1" i="0" u="none" strike="noStrike" cap="none">
                <a:solidFill>
                  <a:srgbClr val="1C7293"/>
                </a:solidFill>
                <a:latin typeface="Calibri"/>
                <a:ea typeface="Calibri"/>
                <a:cs typeface="Calibri"/>
                <a:sym typeface="Calibri"/>
              </a:rPr>
              <a:t>Si al aeropuerto le importa el caudal agregado, la formulación correcta es la multiobjetivo.</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2B46"/>
        </a:solidFill>
        <a:effectLst/>
      </p:bgPr>
    </p:bg>
    <p:spTree>
      <p:nvGrpSpPr>
        <p:cNvPr id="1" name="Shape 375"/>
        <p:cNvGrpSpPr/>
        <p:nvPr/>
      </p:nvGrpSpPr>
      <p:grpSpPr>
        <a:xfrm>
          <a:off x="0" y="0"/>
          <a:ext cx="0" cy="0"/>
          <a:chOff x="0" y="0"/>
          <a:chExt cx="0" cy="0"/>
        </a:xfrm>
      </p:grpSpPr>
      <p:sp>
        <p:nvSpPr>
          <p:cNvPr id="376" name="Google Shape;376;p17"/>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100"/>
              <a:buFont typeface="Calibri"/>
              <a:buNone/>
            </a:pPr>
            <a:r>
              <a:rPr lang="en-US" sz="1100" b="1" i="0" u="none" strike="noStrike" cap="none">
                <a:solidFill>
                  <a:srgbClr val="F2A65A"/>
                </a:solidFill>
                <a:latin typeface="Calibri"/>
                <a:ea typeface="Calibri"/>
                <a:cs typeface="Calibri"/>
                <a:sym typeface="Calibri"/>
              </a:rPr>
              <a:t>CONCLUSIONES</a:t>
            </a:r>
            <a:endParaRPr sz="1100" b="0" i="0" u="none" strike="noStrike" cap="none">
              <a:solidFill>
                <a:schemeClr val="dk1"/>
              </a:solidFill>
              <a:latin typeface="Calibri"/>
              <a:ea typeface="Calibri"/>
              <a:cs typeface="Calibri"/>
              <a:sym typeface="Calibri"/>
            </a:endParaRPr>
          </a:p>
        </p:txBody>
      </p:sp>
      <p:sp>
        <p:nvSpPr>
          <p:cNvPr id="377" name="Google Shape;377;p17"/>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000"/>
              <a:buFont typeface="Cambria"/>
              <a:buNone/>
            </a:pPr>
            <a:r>
              <a:rPr lang="en-US" sz="3000" b="1" i="0" u="none" strike="noStrike" cap="none">
                <a:solidFill>
                  <a:srgbClr val="FFFFFF"/>
                </a:solidFill>
                <a:latin typeface="Cambria"/>
                <a:ea typeface="Cambria"/>
                <a:cs typeface="Cambria"/>
                <a:sym typeface="Cambria"/>
              </a:rPr>
              <a:t>Qué quedó demostrado</a:t>
            </a:r>
            <a:endParaRPr sz="3000" b="0" i="0" u="none" strike="noStrike" cap="none">
              <a:solidFill>
                <a:schemeClr val="dk1"/>
              </a:solidFill>
              <a:latin typeface="Calibri"/>
              <a:ea typeface="Calibri"/>
              <a:cs typeface="Calibri"/>
              <a:sym typeface="Calibri"/>
            </a:endParaRPr>
          </a:p>
        </p:txBody>
      </p:sp>
      <p:sp>
        <p:nvSpPr>
          <p:cNvPr id="378" name="Google Shape;378;p17"/>
          <p:cNvSpPr/>
          <p:nvPr/>
        </p:nvSpPr>
        <p:spPr>
          <a:xfrm>
            <a:off x="548640" y="1399032"/>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7"/>
          <p:cNvSpPr txBox="1"/>
          <p:nvPr/>
        </p:nvSpPr>
        <p:spPr>
          <a:xfrm>
            <a:off x="548640" y="1399032"/>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1</a:t>
            </a:r>
            <a:endParaRPr sz="1100" b="0" i="0" u="none" strike="noStrike" cap="none">
              <a:solidFill>
                <a:schemeClr val="dk1"/>
              </a:solidFill>
              <a:latin typeface="Calibri"/>
              <a:ea typeface="Calibri"/>
              <a:cs typeface="Calibri"/>
              <a:sym typeface="Calibri"/>
            </a:endParaRPr>
          </a:p>
        </p:txBody>
      </p:sp>
      <p:sp>
        <p:nvSpPr>
          <p:cNvPr id="380" name="Google Shape;380;p17"/>
          <p:cNvSpPr txBox="1"/>
          <p:nvPr/>
        </p:nvSpPr>
        <p:spPr>
          <a:xfrm>
            <a:off x="1097280" y="1325880"/>
            <a:ext cx="105156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50"/>
              <a:buFont typeface="Calibri"/>
              <a:buNone/>
            </a:pPr>
            <a:r>
              <a:rPr lang="en-US" sz="1450" b="1" i="0" u="none" strike="noStrike" cap="none">
                <a:solidFill>
                  <a:srgbClr val="FFFFFF"/>
                </a:solidFill>
                <a:latin typeface="Calibri"/>
                <a:ea typeface="Calibri"/>
                <a:cs typeface="Calibri"/>
                <a:sym typeface="Calibri"/>
              </a:rPr>
              <a:t>La factibilidad no es un detalle, es el resultado</a:t>
            </a:r>
            <a:endParaRPr sz="1450" b="0" i="0" u="none" strike="noStrike" cap="none">
              <a:solidFill>
                <a:schemeClr val="dk1"/>
              </a:solidFill>
              <a:latin typeface="Calibri"/>
              <a:ea typeface="Calibri"/>
              <a:cs typeface="Calibri"/>
              <a:sym typeface="Calibri"/>
            </a:endParaRPr>
          </a:p>
        </p:txBody>
      </p:sp>
      <p:sp>
        <p:nvSpPr>
          <p:cNvPr id="381" name="Google Shape;381;p17"/>
          <p:cNvSpPr txBox="1"/>
          <p:nvPr/>
        </p:nvSpPr>
        <p:spPr>
          <a:xfrm>
            <a:off x="1097280" y="1627632"/>
            <a:ext cx="10515600" cy="50292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250"/>
              <a:buFont typeface="Calibri"/>
              <a:buNone/>
            </a:pPr>
            <a:r>
              <a:rPr lang="en-US" sz="1250" b="0" i="0" u="none" strike="noStrike" cap="none">
                <a:solidFill>
                  <a:srgbClr val="CADCFC"/>
                </a:solidFill>
                <a:latin typeface="Calibri"/>
                <a:ea typeface="Calibri"/>
                <a:cs typeface="Calibri"/>
                <a:sym typeface="Calibri"/>
              </a:rPr>
              <a:t>0 % de programaciones ejecutables en el código base. Su fitness superior era enteramente atribuible a la violación de la restricción.</a:t>
            </a:r>
            <a:endParaRPr sz="1250" b="0" i="0" u="none" strike="noStrike" cap="none">
              <a:solidFill>
                <a:schemeClr val="dk1"/>
              </a:solidFill>
              <a:latin typeface="Calibri"/>
              <a:ea typeface="Calibri"/>
              <a:cs typeface="Calibri"/>
              <a:sym typeface="Calibri"/>
            </a:endParaRPr>
          </a:p>
        </p:txBody>
      </p:sp>
      <p:sp>
        <p:nvSpPr>
          <p:cNvPr id="382" name="Google Shape;382;p17"/>
          <p:cNvSpPr/>
          <p:nvPr/>
        </p:nvSpPr>
        <p:spPr>
          <a:xfrm>
            <a:off x="548640" y="2313432"/>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7"/>
          <p:cNvSpPr txBox="1"/>
          <p:nvPr/>
        </p:nvSpPr>
        <p:spPr>
          <a:xfrm>
            <a:off x="548640" y="2313432"/>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2</a:t>
            </a:r>
            <a:endParaRPr sz="1100" b="0" i="0" u="none" strike="noStrike" cap="none">
              <a:solidFill>
                <a:schemeClr val="dk1"/>
              </a:solidFill>
              <a:latin typeface="Calibri"/>
              <a:ea typeface="Calibri"/>
              <a:cs typeface="Calibri"/>
              <a:sym typeface="Calibri"/>
            </a:endParaRPr>
          </a:p>
        </p:txBody>
      </p:sp>
      <p:sp>
        <p:nvSpPr>
          <p:cNvPr id="384" name="Google Shape;384;p17"/>
          <p:cNvSpPr txBox="1"/>
          <p:nvPr/>
        </p:nvSpPr>
        <p:spPr>
          <a:xfrm>
            <a:off x="1097280" y="2240280"/>
            <a:ext cx="105156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50"/>
              <a:buFont typeface="Calibri"/>
              <a:buNone/>
            </a:pPr>
            <a:r>
              <a:rPr lang="en-US" sz="1450" b="1" i="0" u="none" strike="noStrike" cap="none">
                <a:solidFill>
                  <a:srgbClr val="FFFFFF"/>
                </a:solidFill>
                <a:latin typeface="Calibri"/>
                <a:ea typeface="Calibri"/>
                <a:cs typeface="Calibri"/>
                <a:sym typeface="Calibri"/>
              </a:rPr>
              <a:t>La reparación resuelve el problema sin costo relevante</a:t>
            </a:r>
            <a:endParaRPr sz="1450" b="0" i="0" u="none" strike="noStrike" cap="none">
              <a:solidFill>
                <a:schemeClr val="dk1"/>
              </a:solidFill>
              <a:latin typeface="Calibri"/>
              <a:ea typeface="Calibri"/>
              <a:cs typeface="Calibri"/>
              <a:sym typeface="Calibri"/>
            </a:endParaRPr>
          </a:p>
        </p:txBody>
      </p:sp>
      <p:sp>
        <p:nvSpPr>
          <p:cNvPr id="385" name="Google Shape;385;p17"/>
          <p:cNvSpPr txBox="1"/>
          <p:nvPr/>
        </p:nvSpPr>
        <p:spPr>
          <a:xfrm>
            <a:off x="1097280" y="2542032"/>
            <a:ext cx="10515600" cy="50292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250"/>
              <a:buFont typeface="Calibri"/>
              <a:buNone/>
            </a:pPr>
            <a:r>
              <a:rPr lang="en-US" sz="1250" b="0" i="0" u="none" strike="noStrike" cap="none">
                <a:solidFill>
                  <a:srgbClr val="CADCFC"/>
                </a:solidFill>
                <a:latin typeface="Calibri"/>
                <a:ea typeface="Calibri"/>
                <a:cs typeface="Calibri"/>
                <a:sym typeface="Calibri"/>
              </a:rPr>
              <a:t>100 % de individuos válidos con +16 % de tiempo y sin pérdida de capacidad de búsqueda.</a:t>
            </a:r>
            <a:endParaRPr sz="1250" b="0" i="0" u="none" strike="noStrike" cap="none">
              <a:solidFill>
                <a:schemeClr val="dk1"/>
              </a:solidFill>
              <a:latin typeface="Calibri"/>
              <a:ea typeface="Calibri"/>
              <a:cs typeface="Calibri"/>
              <a:sym typeface="Calibri"/>
            </a:endParaRPr>
          </a:p>
        </p:txBody>
      </p:sp>
      <p:sp>
        <p:nvSpPr>
          <p:cNvPr id="386" name="Google Shape;386;p17"/>
          <p:cNvSpPr/>
          <p:nvPr/>
        </p:nvSpPr>
        <p:spPr>
          <a:xfrm>
            <a:off x="548640" y="3227832"/>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17"/>
          <p:cNvSpPr txBox="1"/>
          <p:nvPr/>
        </p:nvSpPr>
        <p:spPr>
          <a:xfrm>
            <a:off x="548640" y="3227832"/>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3</a:t>
            </a:r>
            <a:endParaRPr sz="1100" b="0" i="0" u="none" strike="noStrike" cap="none">
              <a:solidFill>
                <a:schemeClr val="dk1"/>
              </a:solidFill>
              <a:latin typeface="Calibri"/>
              <a:ea typeface="Calibri"/>
              <a:cs typeface="Calibri"/>
              <a:sym typeface="Calibri"/>
            </a:endParaRPr>
          </a:p>
        </p:txBody>
      </p:sp>
      <p:sp>
        <p:nvSpPr>
          <p:cNvPr id="388" name="Google Shape;388;p17"/>
          <p:cNvSpPr txBox="1"/>
          <p:nvPr/>
        </p:nvSpPr>
        <p:spPr>
          <a:xfrm>
            <a:off x="1097280" y="3154680"/>
            <a:ext cx="105156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50"/>
              <a:buFont typeface="Calibri"/>
              <a:buNone/>
            </a:pPr>
            <a:r>
              <a:rPr lang="en-US" sz="1450" b="1" i="0" u="none" strike="noStrike" cap="none">
                <a:solidFill>
                  <a:srgbClr val="FFFFFF"/>
                </a:solidFill>
                <a:latin typeface="Calibri"/>
                <a:ea typeface="Calibri"/>
                <a:cs typeface="Calibri"/>
                <a:sym typeface="Calibri"/>
              </a:rPr>
              <a:t>El cruzamiento uniforme por asignaciones gana</a:t>
            </a:r>
            <a:endParaRPr sz="1450" b="0" i="0" u="none" strike="noStrike" cap="none">
              <a:solidFill>
                <a:schemeClr val="dk1"/>
              </a:solidFill>
              <a:latin typeface="Calibri"/>
              <a:ea typeface="Calibri"/>
              <a:cs typeface="Calibri"/>
              <a:sym typeface="Calibri"/>
            </a:endParaRPr>
          </a:p>
        </p:txBody>
      </p:sp>
      <p:sp>
        <p:nvSpPr>
          <p:cNvPr id="389" name="Google Shape;389;p17"/>
          <p:cNvSpPr txBox="1"/>
          <p:nvPr/>
        </p:nvSpPr>
        <p:spPr>
          <a:xfrm>
            <a:off x="1097280" y="3456432"/>
            <a:ext cx="10515600" cy="50292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250"/>
              <a:buFont typeface="Calibri"/>
              <a:buNone/>
            </a:pPr>
            <a:r>
              <a:rPr lang="en-US" sz="1250" b="0" i="0" u="none" strike="noStrike" cap="none">
                <a:solidFill>
                  <a:srgbClr val="CADCFC"/>
                </a:solidFill>
                <a:latin typeface="Calibri"/>
                <a:ea typeface="Calibri"/>
                <a:cs typeface="Calibri"/>
                <a:sym typeface="Calibri"/>
              </a:rPr>
              <a:t>4,9546 vs 4,7529 (p = 0,00195): la posición en el cromosoma no codifica vecindad.</a:t>
            </a:r>
            <a:endParaRPr sz="1250" b="0" i="0" u="none" strike="noStrike" cap="none">
              <a:solidFill>
                <a:schemeClr val="dk1"/>
              </a:solidFill>
              <a:latin typeface="Calibri"/>
              <a:ea typeface="Calibri"/>
              <a:cs typeface="Calibri"/>
              <a:sym typeface="Calibri"/>
            </a:endParaRPr>
          </a:p>
        </p:txBody>
      </p:sp>
      <p:sp>
        <p:nvSpPr>
          <p:cNvPr id="390" name="Google Shape;390;p17"/>
          <p:cNvSpPr/>
          <p:nvPr/>
        </p:nvSpPr>
        <p:spPr>
          <a:xfrm>
            <a:off x="548640" y="4142232"/>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17"/>
          <p:cNvSpPr txBox="1"/>
          <p:nvPr/>
        </p:nvSpPr>
        <p:spPr>
          <a:xfrm>
            <a:off x="548640" y="4142232"/>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4</a:t>
            </a:r>
            <a:endParaRPr sz="1100" b="0" i="0" u="none" strike="noStrike" cap="none">
              <a:solidFill>
                <a:schemeClr val="dk1"/>
              </a:solidFill>
              <a:latin typeface="Calibri"/>
              <a:ea typeface="Calibri"/>
              <a:cs typeface="Calibri"/>
              <a:sym typeface="Calibri"/>
            </a:endParaRPr>
          </a:p>
        </p:txBody>
      </p:sp>
      <p:sp>
        <p:nvSpPr>
          <p:cNvPr id="392" name="Google Shape;392;p17"/>
          <p:cNvSpPr txBox="1"/>
          <p:nvPr/>
        </p:nvSpPr>
        <p:spPr>
          <a:xfrm>
            <a:off x="1097280" y="4069080"/>
            <a:ext cx="105156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50"/>
              <a:buFont typeface="Calibri"/>
              <a:buNone/>
            </a:pPr>
            <a:r>
              <a:rPr lang="en-US" sz="1450" b="1" i="0" u="none" strike="noStrike" cap="none">
                <a:solidFill>
                  <a:srgbClr val="FFFFFF"/>
                </a:solidFill>
                <a:latin typeface="Calibri"/>
                <a:ea typeface="Calibri"/>
                <a:cs typeface="Calibri"/>
                <a:sym typeface="Calibri"/>
              </a:rPr>
              <a:t>La mutación localizada alcanza el óptimo exacto siempre</a:t>
            </a:r>
            <a:endParaRPr sz="1450" b="0" i="0" u="none" strike="noStrike" cap="none">
              <a:solidFill>
                <a:schemeClr val="dk1"/>
              </a:solidFill>
              <a:latin typeface="Calibri"/>
              <a:ea typeface="Calibri"/>
              <a:cs typeface="Calibri"/>
              <a:sym typeface="Calibri"/>
            </a:endParaRPr>
          </a:p>
        </p:txBody>
      </p:sp>
      <p:sp>
        <p:nvSpPr>
          <p:cNvPr id="393" name="Google Shape;393;p17"/>
          <p:cNvSpPr txBox="1"/>
          <p:nvPr/>
        </p:nvSpPr>
        <p:spPr>
          <a:xfrm>
            <a:off x="1097280" y="4370832"/>
            <a:ext cx="10515600" cy="50292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250"/>
              <a:buFont typeface="Calibri"/>
              <a:buNone/>
            </a:pPr>
            <a:r>
              <a:rPr lang="en-US" sz="1250" b="0" i="0" u="none" strike="noStrike" cap="none">
                <a:solidFill>
                  <a:srgbClr val="CADCFC"/>
                </a:solidFill>
                <a:latin typeface="Calibri"/>
                <a:ea typeface="Calibri"/>
                <a:cs typeface="Calibri"/>
                <a:sym typeface="Calibri"/>
              </a:rPr>
              <a:t>flight_or_gate a pm = 0,7: 10 de 10 corridas en el óptimo, gap 0 % y desviación 0. H2 confirmada.</a:t>
            </a:r>
            <a:endParaRPr sz="1250" b="0" i="0" u="none" strike="noStrike" cap="none">
              <a:solidFill>
                <a:schemeClr val="dk1"/>
              </a:solidFill>
              <a:latin typeface="Calibri"/>
              <a:ea typeface="Calibri"/>
              <a:cs typeface="Calibri"/>
              <a:sym typeface="Calibri"/>
            </a:endParaRPr>
          </a:p>
        </p:txBody>
      </p:sp>
      <p:sp>
        <p:nvSpPr>
          <p:cNvPr id="394" name="Google Shape;394;p17"/>
          <p:cNvSpPr/>
          <p:nvPr/>
        </p:nvSpPr>
        <p:spPr>
          <a:xfrm>
            <a:off x="548640" y="5056632"/>
            <a:ext cx="384048" cy="384048"/>
          </a:xfrm>
          <a:prstGeom prst="ellipse">
            <a:avLst/>
          </a:prstGeom>
          <a:solidFill>
            <a:srgbClr val="F2A65A"/>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17"/>
          <p:cNvSpPr txBox="1"/>
          <p:nvPr/>
        </p:nvSpPr>
        <p:spPr>
          <a:xfrm>
            <a:off x="548640" y="5056632"/>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F2B46"/>
              </a:buClr>
              <a:buSzPts val="1100"/>
              <a:buFont typeface="Calibri"/>
              <a:buNone/>
            </a:pPr>
            <a:r>
              <a:rPr lang="en-US" sz="1100" b="1" i="0" u="none" strike="noStrike" cap="none">
                <a:solidFill>
                  <a:srgbClr val="0F2B46"/>
                </a:solidFill>
                <a:latin typeface="Calibri"/>
                <a:ea typeface="Calibri"/>
                <a:cs typeface="Calibri"/>
                <a:sym typeface="Calibri"/>
              </a:rPr>
              <a:t>5</a:t>
            </a:r>
            <a:endParaRPr sz="1100" b="0" i="0" u="none" strike="noStrike" cap="none">
              <a:solidFill>
                <a:schemeClr val="dk1"/>
              </a:solidFill>
              <a:latin typeface="Calibri"/>
              <a:ea typeface="Calibri"/>
              <a:cs typeface="Calibri"/>
              <a:sym typeface="Calibri"/>
            </a:endParaRPr>
          </a:p>
        </p:txBody>
      </p:sp>
      <p:sp>
        <p:nvSpPr>
          <p:cNvPr id="396" name="Google Shape;396;p17"/>
          <p:cNvSpPr txBox="1"/>
          <p:nvPr/>
        </p:nvSpPr>
        <p:spPr>
          <a:xfrm>
            <a:off x="1097280" y="4983480"/>
            <a:ext cx="105156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50"/>
              <a:buFont typeface="Calibri"/>
              <a:buNone/>
            </a:pPr>
            <a:r>
              <a:rPr lang="en-US" sz="1450" b="1" i="0" u="none" strike="noStrike" cap="none">
                <a:solidFill>
                  <a:srgbClr val="FFFFFF"/>
                </a:solidFill>
                <a:latin typeface="Calibri"/>
                <a:ea typeface="Calibri"/>
                <a:cs typeface="Calibri"/>
                <a:sym typeface="Calibri"/>
              </a:rPr>
              <a:t>NSGA-II entrega información que el enfoque agregado oculta</a:t>
            </a:r>
            <a:endParaRPr sz="1450" b="0" i="0" u="none" strike="noStrike" cap="none">
              <a:solidFill>
                <a:schemeClr val="dk1"/>
              </a:solidFill>
              <a:latin typeface="Calibri"/>
              <a:ea typeface="Calibri"/>
              <a:cs typeface="Calibri"/>
              <a:sym typeface="Calibri"/>
            </a:endParaRPr>
          </a:p>
        </p:txBody>
      </p:sp>
      <p:sp>
        <p:nvSpPr>
          <p:cNvPr id="397" name="Google Shape;397;p17"/>
          <p:cNvSpPr txBox="1"/>
          <p:nvPr/>
        </p:nvSpPr>
        <p:spPr>
          <a:xfrm>
            <a:off x="1097280" y="5285232"/>
            <a:ext cx="10515600" cy="502920"/>
          </a:xfrm>
          <a:prstGeom prst="rect">
            <a:avLst/>
          </a:prstGeom>
          <a:noFill/>
          <a:ln>
            <a:noFill/>
          </a:ln>
        </p:spPr>
        <p:txBody>
          <a:bodyPr spcFirstLastPara="1" wrap="square" lIns="0" tIns="0" rIns="0" bIns="0" anchor="ctr" anchorCtr="0">
            <a:noAutofit/>
          </a:bodyPr>
          <a:lstStyle/>
          <a:p>
            <a:pPr marL="0" marR="0" lvl="0" indent="0" algn="l" rtl="0">
              <a:lnSpc>
                <a:spcPct val="105000"/>
              </a:lnSpc>
              <a:spcBef>
                <a:spcPts val="0"/>
              </a:spcBef>
              <a:spcAft>
                <a:spcPts val="0"/>
              </a:spcAft>
              <a:buClr>
                <a:srgbClr val="CADCFC"/>
              </a:buClr>
              <a:buSzPts val="1250"/>
              <a:buFont typeface="Calibri"/>
              <a:buNone/>
            </a:pPr>
            <a:r>
              <a:rPr lang="en-US" sz="1250" b="0" i="0" u="none" strike="noStrike" cap="none">
                <a:solidFill>
                  <a:srgbClr val="CADCFC"/>
                </a:solidFill>
                <a:latin typeface="Calibri"/>
                <a:ea typeface="Calibri"/>
                <a:cs typeface="Calibri"/>
                <a:sym typeface="Calibri"/>
              </a:rPr>
              <a:t>653 pasajeros en 4 de 5 corridas y 10 soluciones que dominan al óptimo mono. H3 confirmada.</a:t>
            </a:r>
            <a:endParaRPr sz="125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2"/>
        <p:cNvGrpSpPr/>
        <p:nvPr/>
      </p:nvGrpSpPr>
      <p:grpSpPr>
        <a:xfrm>
          <a:off x="0" y="0"/>
          <a:ext cx="0" cy="0"/>
          <a:chOff x="0" y="0"/>
          <a:chExt cx="0" cy="0"/>
        </a:xfrm>
      </p:grpSpPr>
      <p:sp>
        <p:nvSpPr>
          <p:cNvPr id="403" name="Google Shape;403;p18"/>
          <p:cNvSpPr txBox="1"/>
          <p:nvPr/>
        </p:nvSpPr>
        <p:spPr>
          <a:xfrm>
            <a:off x="548640" y="137160"/>
            <a:ext cx="11094415"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7293"/>
              </a:buClr>
              <a:buSzPts val="1100"/>
              <a:buFont typeface="Calibri"/>
              <a:buNone/>
            </a:pPr>
            <a:r>
              <a:rPr lang="en-US" sz="1100" b="1" i="0" u="none" strike="noStrike" cap="none">
                <a:solidFill>
                  <a:srgbClr val="1C7293"/>
                </a:solidFill>
                <a:latin typeface="Calibri"/>
                <a:ea typeface="Calibri"/>
                <a:cs typeface="Calibri"/>
                <a:sym typeface="Calibri"/>
              </a:rPr>
              <a:t>CIERRE</a:t>
            </a:r>
            <a:endParaRPr sz="1100" b="0" i="0" u="none" strike="noStrike" cap="none">
              <a:solidFill>
                <a:schemeClr val="dk1"/>
              </a:solidFill>
              <a:latin typeface="Calibri"/>
              <a:ea typeface="Calibri"/>
              <a:cs typeface="Calibri"/>
              <a:sym typeface="Calibri"/>
            </a:endParaRPr>
          </a:p>
        </p:txBody>
      </p:sp>
      <p:sp>
        <p:nvSpPr>
          <p:cNvPr id="404" name="Google Shape;404;p18"/>
          <p:cNvSpPr txBox="1"/>
          <p:nvPr/>
        </p:nvSpPr>
        <p:spPr>
          <a:xfrm>
            <a:off x="548640" y="384048"/>
            <a:ext cx="11094415"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3000"/>
              <a:buFont typeface="Cambria"/>
              <a:buNone/>
            </a:pPr>
            <a:r>
              <a:rPr lang="en-US" sz="3000" b="1" i="0" u="none" strike="noStrike" cap="none">
                <a:solidFill>
                  <a:srgbClr val="1B2733"/>
                </a:solidFill>
                <a:latin typeface="Cambria"/>
                <a:ea typeface="Cambria"/>
                <a:cs typeface="Cambria"/>
                <a:sym typeface="Cambria"/>
              </a:rPr>
              <a:t>Recomendación y trabajos futuros</a:t>
            </a:r>
            <a:endParaRPr sz="3000" b="0" i="0" u="none" strike="noStrike" cap="none">
              <a:solidFill>
                <a:schemeClr val="dk1"/>
              </a:solidFill>
              <a:latin typeface="Calibri"/>
              <a:ea typeface="Calibri"/>
              <a:cs typeface="Calibri"/>
              <a:sym typeface="Calibri"/>
            </a:endParaRPr>
          </a:p>
        </p:txBody>
      </p:sp>
      <p:sp>
        <p:nvSpPr>
          <p:cNvPr id="405" name="Google Shape;405;p18"/>
          <p:cNvSpPr/>
          <p:nvPr/>
        </p:nvSpPr>
        <p:spPr>
          <a:xfrm>
            <a:off x="548640" y="1280160"/>
            <a:ext cx="5394960" cy="4480560"/>
          </a:xfrm>
          <a:prstGeom prst="roundRect">
            <a:avLst>
              <a:gd name="adj" fmla="val 1633"/>
            </a:avLst>
          </a:prstGeom>
          <a:solidFill>
            <a:srgbClr val="0F2B46"/>
          </a:solidFill>
          <a:ln w="12700" cap="flat" cmpd="sng">
            <a:solidFill>
              <a:srgbClr val="0F2B4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18"/>
          <p:cNvSpPr txBox="1"/>
          <p:nvPr/>
        </p:nvSpPr>
        <p:spPr>
          <a:xfrm>
            <a:off x="868680" y="1508760"/>
            <a:ext cx="475488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1700"/>
              <a:buFont typeface="Cambria"/>
              <a:buNone/>
            </a:pPr>
            <a:r>
              <a:rPr lang="en-US" sz="1700" b="1" i="0" u="none" strike="noStrike" cap="none">
                <a:solidFill>
                  <a:srgbClr val="F2A65A"/>
                </a:solidFill>
                <a:latin typeface="Cambria"/>
                <a:ea typeface="Cambria"/>
                <a:cs typeface="Cambria"/>
                <a:sym typeface="Cambria"/>
              </a:rPr>
              <a:t>Qué implementación sugerir</a:t>
            </a:r>
            <a:endParaRPr sz="1700" b="0" i="0" u="none" strike="noStrike" cap="none">
              <a:solidFill>
                <a:schemeClr val="dk1"/>
              </a:solidFill>
              <a:latin typeface="Calibri"/>
              <a:ea typeface="Calibri"/>
              <a:cs typeface="Calibri"/>
              <a:sym typeface="Calibri"/>
            </a:endParaRPr>
          </a:p>
        </p:txBody>
      </p:sp>
      <p:sp>
        <p:nvSpPr>
          <p:cNvPr id="407" name="Google Shape;407;p18"/>
          <p:cNvSpPr txBox="1"/>
          <p:nvPr/>
        </p:nvSpPr>
        <p:spPr>
          <a:xfrm>
            <a:off x="868680" y="1965960"/>
            <a:ext cx="47548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200"/>
              <a:buFont typeface="Cambria"/>
              <a:buNone/>
            </a:pPr>
            <a:r>
              <a:rPr lang="en-US" sz="3200" b="1" i="0" u="none" strike="noStrike" cap="none">
                <a:solidFill>
                  <a:srgbClr val="FFFFFF"/>
                </a:solidFill>
                <a:latin typeface="Cambria"/>
                <a:ea typeface="Cambria"/>
                <a:cs typeface="Cambria"/>
                <a:sym typeface="Cambria"/>
              </a:rPr>
              <a:t>NSGA-II</a:t>
            </a:r>
            <a:endParaRPr sz="3200" b="0" i="0" u="none" strike="noStrike" cap="none">
              <a:solidFill>
                <a:schemeClr val="dk1"/>
              </a:solidFill>
              <a:latin typeface="Calibri"/>
              <a:ea typeface="Calibri"/>
              <a:cs typeface="Calibri"/>
              <a:sym typeface="Calibri"/>
            </a:endParaRPr>
          </a:p>
        </p:txBody>
      </p:sp>
      <p:sp>
        <p:nvSpPr>
          <p:cNvPr id="408" name="Google Shape;408;p18"/>
          <p:cNvSpPr txBox="1"/>
          <p:nvPr/>
        </p:nvSpPr>
        <p:spPr>
          <a:xfrm>
            <a:off x="868680" y="2606040"/>
            <a:ext cx="4754880" cy="118872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CADCFC"/>
              </a:buClr>
              <a:buSzPts val="1300"/>
              <a:buFont typeface="Calibri"/>
              <a:buNone/>
            </a:pPr>
            <a:r>
              <a:rPr lang="en-US" sz="1300" b="0" i="0" u="none" strike="noStrike" cap="none">
                <a:solidFill>
                  <a:srgbClr val="CADCFC"/>
                </a:solidFill>
                <a:latin typeface="Calibri"/>
                <a:ea typeface="Calibri"/>
                <a:cs typeface="Calibri"/>
                <a:sym typeface="Calibri"/>
              </a:rPr>
              <a:t>con cruzamiento uniform_assignment y mutación flight_or_gate a pm = 0,7, presentando al planificador la frontera de Pareto en lugar de una única programación.</a:t>
            </a:r>
            <a:endParaRPr sz="1300" b="0" i="0" u="none" strike="noStrike" cap="none">
              <a:solidFill>
                <a:schemeClr val="dk1"/>
              </a:solidFill>
              <a:latin typeface="Calibri"/>
              <a:ea typeface="Calibri"/>
              <a:cs typeface="Calibri"/>
              <a:sym typeface="Calibri"/>
            </a:endParaRPr>
          </a:p>
        </p:txBody>
      </p:sp>
      <p:sp>
        <p:nvSpPr>
          <p:cNvPr id="409" name="Google Shape;409;p18"/>
          <p:cNvSpPr txBox="1"/>
          <p:nvPr/>
        </p:nvSpPr>
        <p:spPr>
          <a:xfrm>
            <a:off x="868680" y="3931920"/>
            <a:ext cx="4754880" cy="155448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FFFFFF"/>
              </a:buClr>
              <a:buSzPts val="1300"/>
              <a:buFont typeface="Calibri"/>
              <a:buNone/>
            </a:pPr>
            <a:r>
              <a:rPr lang="en-US" sz="1300" b="0" i="0" u="none" strike="noStrike" cap="none">
                <a:solidFill>
                  <a:srgbClr val="FFFFFF"/>
                </a:solidFill>
                <a:latin typeface="Calibri"/>
                <a:ea typeface="Calibri"/>
                <a:cs typeface="Calibri"/>
                <a:sym typeface="Calibri"/>
              </a:rPr>
              <a:t>Si se necesita un solo número, usar el mono-objetivo con esos mismos operadores, pero redefiniendo el fitness como cociente de sumas: es el indicador consistente con el rendimiento agregado del aeropuerto.</a:t>
            </a:r>
            <a:endParaRPr sz="1300" b="0" i="0" u="none" strike="noStrike" cap="none">
              <a:solidFill>
                <a:schemeClr val="dk1"/>
              </a:solidFill>
              <a:latin typeface="Calibri"/>
              <a:ea typeface="Calibri"/>
              <a:cs typeface="Calibri"/>
              <a:sym typeface="Calibri"/>
            </a:endParaRPr>
          </a:p>
        </p:txBody>
      </p:sp>
      <p:sp>
        <p:nvSpPr>
          <p:cNvPr id="410" name="Google Shape;410;p18"/>
          <p:cNvSpPr/>
          <p:nvPr/>
        </p:nvSpPr>
        <p:spPr>
          <a:xfrm>
            <a:off x="6263640" y="1280160"/>
            <a:ext cx="5394960" cy="1005840"/>
          </a:xfrm>
          <a:prstGeom prst="roundRect">
            <a:avLst>
              <a:gd name="adj" fmla="val 7273"/>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8"/>
          <p:cNvSpPr/>
          <p:nvPr/>
        </p:nvSpPr>
        <p:spPr>
          <a:xfrm>
            <a:off x="6492240" y="1417320"/>
            <a:ext cx="365760" cy="365760"/>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8"/>
          <p:cNvSpPr txBox="1"/>
          <p:nvPr/>
        </p:nvSpPr>
        <p:spPr>
          <a:xfrm>
            <a:off x="6492240" y="1417320"/>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1</a:t>
            </a:r>
            <a:endParaRPr sz="1100" b="0" i="0" u="none" strike="noStrike" cap="none">
              <a:solidFill>
                <a:schemeClr val="dk1"/>
              </a:solidFill>
              <a:latin typeface="Calibri"/>
              <a:ea typeface="Calibri"/>
              <a:cs typeface="Calibri"/>
              <a:sym typeface="Calibri"/>
            </a:endParaRPr>
          </a:p>
        </p:txBody>
      </p:sp>
      <p:sp>
        <p:nvSpPr>
          <p:cNvPr id="413" name="Google Shape;413;p18"/>
          <p:cNvSpPr txBox="1"/>
          <p:nvPr/>
        </p:nvSpPr>
        <p:spPr>
          <a:xfrm>
            <a:off x="6995160" y="1399032"/>
            <a:ext cx="4480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350"/>
              <a:buFont typeface="Calibri"/>
              <a:buNone/>
            </a:pPr>
            <a:r>
              <a:rPr lang="en-US" sz="1350" b="1" i="0" u="none" strike="noStrike" cap="none">
                <a:solidFill>
                  <a:srgbClr val="1B2733"/>
                </a:solidFill>
                <a:latin typeface="Calibri"/>
                <a:ea typeface="Calibri"/>
                <a:cs typeface="Calibri"/>
                <a:sym typeface="Calibri"/>
              </a:rPr>
              <a:t>Ventanas de tiempo</a:t>
            </a:r>
            <a:endParaRPr sz="1350" b="0" i="0" u="none" strike="noStrike" cap="none">
              <a:solidFill>
                <a:schemeClr val="dk1"/>
              </a:solidFill>
              <a:latin typeface="Calibri"/>
              <a:ea typeface="Calibri"/>
              <a:cs typeface="Calibri"/>
              <a:sym typeface="Calibri"/>
            </a:endParaRPr>
          </a:p>
        </p:txBody>
      </p:sp>
      <p:sp>
        <p:nvSpPr>
          <p:cNvPr id="414" name="Google Shape;414;p18"/>
          <p:cNvSpPr txBox="1"/>
          <p:nvPr/>
        </p:nvSpPr>
        <p:spPr>
          <a:xfrm>
            <a:off x="6995160" y="1673352"/>
            <a:ext cx="4480560" cy="548640"/>
          </a:xfrm>
          <a:prstGeom prst="rect">
            <a:avLst/>
          </a:prstGeom>
          <a:noFill/>
          <a:ln>
            <a:noFill/>
          </a:ln>
        </p:spPr>
        <p:txBody>
          <a:bodyPr spcFirstLastPara="1" wrap="square" lIns="0" tIns="0" rIns="0" bIns="0" anchor="ctr" anchorCtr="0">
            <a:noAutofit/>
          </a:bodyPr>
          <a:lstStyle/>
          <a:p>
            <a:pPr marL="0" marR="0" lvl="0" indent="0" algn="l" rtl="0">
              <a:lnSpc>
                <a:spcPct val="102000"/>
              </a:lnSpc>
              <a:spcBef>
                <a:spcPts val="0"/>
              </a:spcBef>
              <a:spcAft>
                <a:spcPts val="0"/>
              </a:spcAft>
              <a:buClr>
                <a:srgbClr val="5A6B7B"/>
              </a:buClr>
              <a:buSzPts val="1150"/>
              <a:buFont typeface="Calibri"/>
              <a:buNone/>
            </a:pPr>
            <a:r>
              <a:rPr lang="en-US" sz="1150" b="0" i="0" u="none" strike="noStrike" cap="none">
                <a:solidFill>
                  <a:srgbClr val="5A6B7B"/>
                </a:solidFill>
                <a:latin typeface="Calibri"/>
                <a:ea typeface="Calibri"/>
                <a:cs typeface="Calibri"/>
                <a:sym typeface="Calibri"/>
              </a:rPr>
              <a:t>Usar arriving_time y leaving_time: una puerta podría atender varios vuelos en horarios disjuntos.</a:t>
            </a:r>
            <a:endParaRPr sz="1150" b="0" i="0" u="none" strike="noStrike" cap="none">
              <a:solidFill>
                <a:schemeClr val="dk1"/>
              </a:solidFill>
              <a:latin typeface="Calibri"/>
              <a:ea typeface="Calibri"/>
              <a:cs typeface="Calibri"/>
              <a:sym typeface="Calibri"/>
            </a:endParaRPr>
          </a:p>
        </p:txBody>
      </p:sp>
      <p:sp>
        <p:nvSpPr>
          <p:cNvPr id="415" name="Google Shape;415;p18"/>
          <p:cNvSpPr/>
          <p:nvPr/>
        </p:nvSpPr>
        <p:spPr>
          <a:xfrm>
            <a:off x="6263640" y="2423160"/>
            <a:ext cx="5394960" cy="1005840"/>
          </a:xfrm>
          <a:prstGeom prst="roundRect">
            <a:avLst>
              <a:gd name="adj" fmla="val 7273"/>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8"/>
          <p:cNvSpPr/>
          <p:nvPr/>
        </p:nvSpPr>
        <p:spPr>
          <a:xfrm>
            <a:off x="6492240" y="2560320"/>
            <a:ext cx="365760" cy="365760"/>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18"/>
          <p:cNvSpPr txBox="1"/>
          <p:nvPr/>
        </p:nvSpPr>
        <p:spPr>
          <a:xfrm>
            <a:off x="6492240" y="2560320"/>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2</a:t>
            </a:r>
            <a:endParaRPr sz="1100" b="0" i="0" u="none" strike="noStrike" cap="none">
              <a:solidFill>
                <a:schemeClr val="dk1"/>
              </a:solidFill>
              <a:latin typeface="Calibri"/>
              <a:ea typeface="Calibri"/>
              <a:cs typeface="Calibri"/>
              <a:sym typeface="Calibri"/>
            </a:endParaRPr>
          </a:p>
        </p:txBody>
      </p:sp>
      <p:sp>
        <p:nvSpPr>
          <p:cNvPr id="418" name="Google Shape;418;p18"/>
          <p:cNvSpPr txBox="1"/>
          <p:nvPr/>
        </p:nvSpPr>
        <p:spPr>
          <a:xfrm>
            <a:off x="6995160" y="2542032"/>
            <a:ext cx="4480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350"/>
              <a:buFont typeface="Calibri"/>
              <a:buNone/>
            </a:pPr>
            <a:r>
              <a:rPr lang="en-US" sz="1350" b="1" i="0" u="none" strike="noStrike" cap="none">
                <a:solidFill>
                  <a:srgbClr val="1B2733"/>
                </a:solidFill>
                <a:latin typeface="Calibri"/>
                <a:ea typeface="Calibri"/>
                <a:cs typeface="Calibri"/>
                <a:sym typeface="Calibri"/>
              </a:rPr>
              <a:t>Compatibilidad física</a:t>
            </a:r>
            <a:endParaRPr sz="1350" b="0" i="0" u="none" strike="noStrike" cap="none">
              <a:solidFill>
                <a:schemeClr val="dk1"/>
              </a:solidFill>
              <a:latin typeface="Calibri"/>
              <a:ea typeface="Calibri"/>
              <a:cs typeface="Calibri"/>
              <a:sym typeface="Calibri"/>
            </a:endParaRPr>
          </a:p>
        </p:txBody>
      </p:sp>
      <p:sp>
        <p:nvSpPr>
          <p:cNvPr id="419" name="Google Shape;419;p18"/>
          <p:cNvSpPr txBox="1"/>
          <p:nvPr/>
        </p:nvSpPr>
        <p:spPr>
          <a:xfrm>
            <a:off x="6995160" y="2816352"/>
            <a:ext cx="4480560" cy="548640"/>
          </a:xfrm>
          <a:prstGeom prst="rect">
            <a:avLst/>
          </a:prstGeom>
          <a:noFill/>
          <a:ln>
            <a:noFill/>
          </a:ln>
        </p:spPr>
        <p:txBody>
          <a:bodyPr spcFirstLastPara="1" wrap="square" lIns="0" tIns="0" rIns="0" bIns="0" anchor="ctr" anchorCtr="0">
            <a:noAutofit/>
          </a:bodyPr>
          <a:lstStyle/>
          <a:p>
            <a:pPr marL="0" marR="0" lvl="0" indent="0" algn="l" rtl="0">
              <a:lnSpc>
                <a:spcPct val="102000"/>
              </a:lnSpc>
              <a:spcBef>
                <a:spcPts val="0"/>
              </a:spcBef>
              <a:spcAft>
                <a:spcPts val="0"/>
              </a:spcAft>
              <a:buClr>
                <a:srgbClr val="5A6B7B"/>
              </a:buClr>
              <a:buSzPts val="1150"/>
              <a:buFont typeface="Calibri"/>
              <a:buNone/>
            </a:pPr>
            <a:r>
              <a:rPr lang="en-US" sz="1150" b="0" i="0" u="none" strike="noStrike" cap="none">
                <a:solidFill>
                  <a:srgbClr val="5A6B7B"/>
                </a:solidFill>
                <a:latin typeface="Calibri"/>
                <a:ea typeface="Calibri"/>
                <a:cs typeface="Calibri"/>
                <a:sym typeface="Calibri"/>
              </a:rPr>
              <a:t>Matriz vuelo-puerta según la envergadura del avión, resuelta en la fase 3 de la reparación.</a:t>
            </a:r>
            <a:endParaRPr sz="1150" b="0" i="0" u="none" strike="noStrike" cap="none">
              <a:solidFill>
                <a:schemeClr val="dk1"/>
              </a:solidFill>
              <a:latin typeface="Calibri"/>
              <a:ea typeface="Calibri"/>
              <a:cs typeface="Calibri"/>
              <a:sym typeface="Calibri"/>
            </a:endParaRPr>
          </a:p>
        </p:txBody>
      </p:sp>
      <p:sp>
        <p:nvSpPr>
          <p:cNvPr id="420" name="Google Shape;420;p18"/>
          <p:cNvSpPr/>
          <p:nvPr/>
        </p:nvSpPr>
        <p:spPr>
          <a:xfrm>
            <a:off x="6263640" y="3566160"/>
            <a:ext cx="5394960" cy="1005840"/>
          </a:xfrm>
          <a:prstGeom prst="roundRect">
            <a:avLst>
              <a:gd name="adj" fmla="val 7273"/>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8"/>
          <p:cNvSpPr/>
          <p:nvPr/>
        </p:nvSpPr>
        <p:spPr>
          <a:xfrm>
            <a:off x="6492240" y="3703320"/>
            <a:ext cx="365760" cy="365760"/>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18"/>
          <p:cNvSpPr txBox="1"/>
          <p:nvPr/>
        </p:nvSpPr>
        <p:spPr>
          <a:xfrm>
            <a:off x="6492240" y="3703320"/>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3</a:t>
            </a:r>
            <a:endParaRPr sz="1100" b="0" i="0" u="none" strike="noStrike" cap="none">
              <a:solidFill>
                <a:schemeClr val="dk1"/>
              </a:solidFill>
              <a:latin typeface="Calibri"/>
              <a:ea typeface="Calibri"/>
              <a:cs typeface="Calibri"/>
              <a:sym typeface="Calibri"/>
            </a:endParaRPr>
          </a:p>
        </p:txBody>
      </p:sp>
      <p:sp>
        <p:nvSpPr>
          <p:cNvPr id="423" name="Google Shape;423;p18"/>
          <p:cNvSpPr txBox="1"/>
          <p:nvPr/>
        </p:nvSpPr>
        <p:spPr>
          <a:xfrm>
            <a:off x="6995160" y="3685032"/>
            <a:ext cx="4480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350"/>
              <a:buFont typeface="Calibri"/>
              <a:buNone/>
            </a:pPr>
            <a:r>
              <a:rPr lang="en-US" sz="1350" b="1" i="0" u="none" strike="noStrike" cap="none">
                <a:solidFill>
                  <a:srgbClr val="1B2733"/>
                </a:solidFill>
                <a:latin typeface="Calibri"/>
                <a:ea typeface="Calibri"/>
                <a:cs typeface="Calibri"/>
                <a:sym typeface="Calibri"/>
              </a:rPr>
              <a:t>Algoritmo memético</a:t>
            </a:r>
            <a:endParaRPr sz="1350" b="0" i="0" u="none" strike="noStrike" cap="none">
              <a:solidFill>
                <a:schemeClr val="dk1"/>
              </a:solidFill>
              <a:latin typeface="Calibri"/>
              <a:ea typeface="Calibri"/>
              <a:cs typeface="Calibri"/>
              <a:sym typeface="Calibri"/>
            </a:endParaRPr>
          </a:p>
        </p:txBody>
      </p:sp>
      <p:sp>
        <p:nvSpPr>
          <p:cNvPr id="424" name="Google Shape;424;p18"/>
          <p:cNvSpPr txBox="1"/>
          <p:nvPr/>
        </p:nvSpPr>
        <p:spPr>
          <a:xfrm>
            <a:off x="6995160" y="3959352"/>
            <a:ext cx="4480560" cy="548640"/>
          </a:xfrm>
          <a:prstGeom prst="rect">
            <a:avLst/>
          </a:prstGeom>
          <a:noFill/>
          <a:ln>
            <a:noFill/>
          </a:ln>
        </p:spPr>
        <p:txBody>
          <a:bodyPr spcFirstLastPara="1" wrap="square" lIns="0" tIns="0" rIns="0" bIns="0" anchor="ctr" anchorCtr="0">
            <a:noAutofit/>
          </a:bodyPr>
          <a:lstStyle/>
          <a:p>
            <a:pPr marL="0" marR="0" lvl="0" indent="0" algn="l" rtl="0">
              <a:lnSpc>
                <a:spcPct val="102000"/>
              </a:lnSpc>
              <a:spcBef>
                <a:spcPts val="0"/>
              </a:spcBef>
              <a:spcAft>
                <a:spcPts val="0"/>
              </a:spcAft>
              <a:buClr>
                <a:srgbClr val="5A6B7B"/>
              </a:buClr>
              <a:buSzPts val="1150"/>
              <a:buFont typeface="Calibri"/>
              <a:buNone/>
            </a:pPr>
            <a:r>
              <a:rPr lang="en-US" sz="1150" b="0" i="0" u="none" strike="noStrike" cap="none">
                <a:solidFill>
                  <a:srgbClr val="5A6B7B"/>
                </a:solidFill>
                <a:latin typeface="Calibri"/>
                <a:ea typeface="Calibri"/>
                <a:cs typeface="Calibri"/>
                <a:sym typeface="Calibri"/>
              </a:rPr>
              <a:t>Búsqueda local sobre los 45 intercambios de puertas del mejor individuo.</a:t>
            </a:r>
            <a:endParaRPr sz="1150" b="0" i="0" u="none" strike="noStrike" cap="none">
              <a:solidFill>
                <a:schemeClr val="dk1"/>
              </a:solidFill>
              <a:latin typeface="Calibri"/>
              <a:ea typeface="Calibri"/>
              <a:cs typeface="Calibri"/>
              <a:sym typeface="Calibri"/>
            </a:endParaRPr>
          </a:p>
        </p:txBody>
      </p:sp>
      <p:sp>
        <p:nvSpPr>
          <p:cNvPr id="425" name="Google Shape;425;p18"/>
          <p:cNvSpPr/>
          <p:nvPr/>
        </p:nvSpPr>
        <p:spPr>
          <a:xfrm>
            <a:off x="6263640" y="4709160"/>
            <a:ext cx="5394960" cy="1005840"/>
          </a:xfrm>
          <a:prstGeom prst="roundRect">
            <a:avLst>
              <a:gd name="adj" fmla="val 7273"/>
            </a:avLst>
          </a:prstGeom>
          <a:solidFill>
            <a:srgbClr val="F3F6F9"/>
          </a:solidFill>
          <a:ln w="12700" cap="flat" cmpd="sng">
            <a:solidFill>
              <a:srgbClr val="F3F6F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18"/>
          <p:cNvSpPr/>
          <p:nvPr/>
        </p:nvSpPr>
        <p:spPr>
          <a:xfrm>
            <a:off x="6492240" y="4846320"/>
            <a:ext cx="365760" cy="365760"/>
          </a:xfrm>
          <a:prstGeom prst="ellipse">
            <a:avLst/>
          </a:prstGeom>
          <a:solidFill>
            <a:srgbClr val="1C7293"/>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18"/>
          <p:cNvSpPr txBox="1"/>
          <p:nvPr/>
        </p:nvSpPr>
        <p:spPr>
          <a:xfrm>
            <a:off x="6492240" y="4846320"/>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4</a:t>
            </a:r>
            <a:endParaRPr sz="1100" b="0" i="0" u="none" strike="noStrike" cap="none">
              <a:solidFill>
                <a:schemeClr val="dk1"/>
              </a:solidFill>
              <a:latin typeface="Calibri"/>
              <a:ea typeface="Calibri"/>
              <a:cs typeface="Calibri"/>
              <a:sym typeface="Calibri"/>
            </a:endParaRPr>
          </a:p>
        </p:txBody>
      </p:sp>
      <p:sp>
        <p:nvSpPr>
          <p:cNvPr id="428" name="Google Shape;428;p18"/>
          <p:cNvSpPr txBox="1"/>
          <p:nvPr/>
        </p:nvSpPr>
        <p:spPr>
          <a:xfrm>
            <a:off x="6995160" y="4828032"/>
            <a:ext cx="4480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733"/>
              </a:buClr>
              <a:buSzPts val="1350"/>
              <a:buFont typeface="Calibri"/>
              <a:buNone/>
            </a:pPr>
            <a:r>
              <a:rPr lang="en-US" sz="1350" b="1" i="0" u="none" strike="noStrike" cap="none">
                <a:solidFill>
                  <a:srgbClr val="1B2733"/>
                </a:solidFill>
                <a:latin typeface="Calibri"/>
                <a:ea typeface="Calibri"/>
                <a:cs typeface="Calibri"/>
                <a:sym typeface="Calibri"/>
              </a:rPr>
              <a:t>Escenarios dinámicos</a:t>
            </a:r>
            <a:endParaRPr sz="1350" b="0" i="0" u="none" strike="noStrike" cap="none">
              <a:solidFill>
                <a:schemeClr val="dk1"/>
              </a:solidFill>
              <a:latin typeface="Calibri"/>
              <a:ea typeface="Calibri"/>
              <a:cs typeface="Calibri"/>
              <a:sym typeface="Calibri"/>
            </a:endParaRPr>
          </a:p>
        </p:txBody>
      </p:sp>
      <p:sp>
        <p:nvSpPr>
          <p:cNvPr id="429" name="Google Shape;429;p18"/>
          <p:cNvSpPr txBox="1"/>
          <p:nvPr/>
        </p:nvSpPr>
        <p:spPr>
          <a:xfrm>
            <a:off x="6995160" y="5102352"/>
            <a:ext cx="4480560" cy="548640"/>
          </a:xfrm>
          <a:prstGeom prst="rect">
            <a:avLst/>
          </a:prstGeom>
          <a:noFill/>
          <a:ln>
            <a:noFill/>
          </a:ln>
        </p:spPr>
        <p:txBody>
          <a:bodyPr spcFirstLastPara="1" wrap="square" lIns="0" tIns="0" rIns="0" bIns="0" anchor="ctr" anchorCtr="0">
            <a:noAutofit/>
          </a:bodyPr>
          <a:lstStyle/>
          <a:p>
            <a:pPr marL="0" marR="0" lvl="0" indent="0" algn="l" rtl="0">
              <a:lnSpc>
                <a:spcPct val="102000"/>
              </a:lnSpc>
              <a:spcBef>
                <a:spcPts val="0"/>
              </a:spcBef>
              <a:spcAft>
                <a:spcPts val="0"/>
              </a:spcAft>
              <a:buClr>
                <a:srgbClr val="5A6B7B"/>
              </a:buClr>
              <a:buSzPts val="1150"/>
              <a:buFont typeface="Calibri"/>
              <a:buNone/>
            </a:pPr>
            <a:r>
              <a:rPr lang="en-US" sz="1150" b="0" i="0" u="none" strike="noStrike" cap="none">
                <a:solidFill>
                  <a:srgbClr val="5A6B7B"/>
                </a:solidFill>
                <a:latin typeface="Calibri"/>
                <a:ea typeface="Calibri"/>
                <a:cs typeface="Calibri"/>
                <a:sym typeface="Calibri"/>
              </a:rPr>
              <a:t>Vuelos que llegan o cambian durante la operación, obligando a reoptimizar sin rehacer todo.</a:t>
            </a: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2B46"/>
        </a:solidFill>
        <a:effectLst/>
      </p:bgPr>
    </p:bg>
    <p:spTree>
      <p:nvGrpSpPr>
        <p:cNvPr id="1" name="Shape 434"/>
        <p:cNvGrpSpPr/>
        <p:nvPr/>
      </p:nvGrpSpPr>
      <p:grpSpPr>
        <a:xfrm>
          <a:off x="0" y="0"/>
          <a:ext cx="0" cy="0"/>
          <a:chOff x="0" y="0"/>
          <a:chExt cx="0" cy="0"/>
        </a:xfrm>
      </p:grpSpPr>
      <p:sp>
        <p:nvSpPr>
          <p:cNvPr id="435" name="Google Shape;435;p19"/>
          <p:cNvSpPr/>
          <p:nvPr/>
        </p:nvSpPr>
        <p:spPr>
          <a:xfrm>
            <a:off x="-1463040" y="3108960"/>
            <a:ext cx="4937760" cy="4937760"/>
          </a:xfrm>
          <a:prstGeom prst="ellipse">
            <a:avLst/>
          </a:prstGeom>
          <a:solidFill>
            <a:srgbClr val="1C7293">
              <a:alpha val="12157"/>
            </a:srgbClr>
          </a:solidFill>
          <a:ln w="12700" cap="flat" cmpd="sng">
            <a:solidFill>
              <a:srgbClr val="1C72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9"/>
          <p:cNvSpPr/>
          <p:nvPr/>
        </p:nvSpPr>
        <p:spPr>
          <a:xfrm>
            <a:off x="10058400" y="-1280160"/>
            <a:ext cx="3840480" cy="3840480"/>
          </a:xfrm>
          <a:prstGeom prst="ellipse">
            <a:avLst/>
          </a:prstGeom>
          <a:solidFill>
            <a:srgbClr val="F2A65A">
              <a:alpha val="14902"/>
            </a:srgbClr>
          </a:solidFill>
          <a:ln w="12700" cap="flat" cmpd="sng">
            <a:solidFill>
              <a:srgbClr val="F2A65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9"/>
          <p:cNvSpPr txBox="1"/>
          <p:nvPr/>
        </p:nvSpPr>
        <p:spPr>
          <a:xfrm>
            <a:off x="822960" y="2194560"/>
            <a:ext cx="73152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4800"/>
              <a:buFont typeface="Cambria"/>
              <a:buNone/>
            </a:pPr>
            <a:r>
              <a:rPr lang="en-US" sz="4800" b="1" i="0" u="none" strike="noStrike" cap="none">
                <a:solidFill>
                  <a:srgbClr val="FFFFFF"/>
                </a:solidFill>
                <a:latin typeface="Cambria"/>
                <a:ea typeface="Cambria"/>
                <a:cs typeface="Cambria"/>
                <a:sym typeface="Cambria"/>
              </a:rPr>
              <a:t>Gracias</a:t>
            </a:r>
            <a:endParaRPr sz="4800" b="0" i="0" u="none" strike="noStrike" cap="none">
              <a:solidFill>
                <a:schemeClr val="dk1"/>
              </a:solidFill>
              <a:latin typeface="Calibri"/>
              <a:ea typeface="Calibri"/>
              <a:cs typeface="Calibri"/>
              <a:sym typeface="Calibri"/>
            </a:endParaRPr>
          </a:p>
        </p:txBody>
      </p:sp>
      <p:sp>
        <p:nvSpPr>
          <p:cNvPr id="438" name="Google Shape;438;p19"/>
          <p:cNvSpPr txBox="1"/>
          <p:nvPr/>
        </p:nvSpPr>
        <p:spPr>
          <a:xfrm>
            <a:off x="822960" y="3200400"/>
            <a:ext cx="73152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2A65A"/>
              </a:buClr>
              <a:buSzPts val="2000"/>
              <a:buFont typeface="Calibri"/>
              <a:buNone/>
            </a:pPr>
            <a:endParaRPr sz="2000" b="0" i="0" u="none" strike="noStrike" cap="none">
              <a:solidFill>
                <a:schemeClr val="dk1"/>
              </a:solidFill>
              <a:latin typeface="Calibri"/>
              <a:ea typeface="Calibri"/>
              <a:cs typeface="Calibri"/>
              <a:sym typeface="Calibri"/>
            </a:endParaRPr>
          </a:p>
        </p:txBody>
      </p:sp>
      <p:sp>
        <p:nvSpPr>
          <p:cNvPr id="439" name="Google Shape;439;p19"/>
          <p:cNvSpPr txBox="1"/>
          <p:nvPr/>
        </p:nvSpPr>
        <p:spPr>
          <a:xfrm>
            <a:off x="822960" y="4754880"/>
            <a:ext cx="10058400" cy="822960"/>
          </a:xfrm>
          <a:prstGeom prst="rect">
            <a:avLst/>
          </a:prstGeom>
          <a:noFill/>
          <a:ln>
            <a:noFill/>
          </a:ln>
        </p:spPr>
        <p:txBody>
          <a:bodyPr spcFirstLastPara="1" wrap="square" lIns="0" tIns="0" rIns="0" bIns="0" anchor="ctr" anchorCtr="0">
            <a:noAutofit/>
          </a:bodyPr>
          <a:lstStyle/>
          <a:p>
            <a:pPr marL="0" marR="0" lvl="0" indent="0" algn="l" rtl="0">
              <a:lnSpc>
                <a:spcPct val="120000"/>
              </a:lnSpc>
              <a:spcBef>
                <a:spcPts val="0"/>
              </a:spcBef>
              <a:spcAft>
                <a:spcPts val="0"/>
              </a:spcAft>
              <a:buClr>
                <a:srgbClr val="CADCFC"/>
              </a:buClr>
              <a:buSzPts val="1200"/>
              <a:buFont typeface="Calibri"/>
              <a:buNone/>
            </a:pPr>
            <a:r>
              <a:rPr lang="en-US" sz="1200" b="0" i="0" u="none" strike="noStrike" cap="none">
                <a:solidFill>
                  <a:srgbClr val="CADCFC"/>
                </a:solidFill>
                <a:latin typeface="Calibri"/>
                <a:ea typeface="Calibri"/>
                <a:cs typeface="Calibri"/>
                <a:sym typeface="Calibri"/>
              </a:rPr>
              <a:t>Notebook: Asignacion_VuelosGates_Solucion.ipynb</a:t>
            </a:r>
            <a:endParaRPr sz="1200" b="0" i="0" u="none" strike="noStrike" cap="none">
              <a:solidFill>
                <a:schemeClr val="dk1"/>
              </a:solidFill>
              <a:latin typeface="Calibri"/>
              <a:ea typeface="Calibri"/>
              <a:cs typeface="Calibri"/>
              <a:sym typeface="Calibri"/>
            </a:endParaRPr>
          </a:p>
          <a:p>
            <a:pPr marL="0" marR="0" lvl="0" indent="0" algn="l" rtl="0">
              <a:lnSpc>
                <a:spcPct val="120000"/>
              </a:lnSpc>
              <a:spcBef>
                <a:spcPts val="0"/>
              </a:spcBef>
              <a:spcAft>
                <a:spcPts val="0"/>
              </a:spcAft>
              <a:buClr>
                <a:srgbClr val="CADCFC"/>
              </a:buClr>
              <a:buSzPts val="1200"/>
              <a:buFont typeface="Calibri"/>
              <a:buNone/>
            </a:pPr>
            <a:r>
              <a:rPr lang="en-US" sz="1200" b="0" i="0" u="none" strike="noStrike" cap="none">
                <a:solidFill>
                  <a:srgbClr val="CADCFC"/>
                </a:solidFill>
                <a:latin typeface="Calibri"/>
                <a:ea typeface="Calibri"/>
                <a:cs typeface="Calibri"/>
                <a:sym typeface="Calibri"/>
              </a:rPr>
              <a:t>Informe: Informe_Proyecto_Final_Asignacion_Vuelos_Gates.docx</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2327</Words>
  <Application>Microsoft Office PowerPoint</Application>
  <PresentationFormat>Panorámica</PresentationFormat>
  <Paragraphs>301</Paragraphs>
  <Slides>18</Slides>
  <Notes>18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18</vt:i4>
      </vt:variant>
    </vt:vector>
  </HeadingPairs>
  <TitlesOfParts>
    <vt:vector size="22"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Mario Ampuero Rosas</dc:creator>
  <cp:lastModifiedBy>Diego Chiang</cp:lastModifiedBy>
  <cp:revision>1</cp:revision>
  <dcterms:created xsi:type="dcterms:W3CDTF">2026-08-27T05:17:52Z</dcterms:created>
  <dcterms:modified xsi:type="dcterms:W3CDTF">2026-08-29T20:24:43Z</dcterms:modified>
</cp:coreProperties>
</file>