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DkmB5y2AJk7sCUJNJ2gWC+gRD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D8EA12-1187-4A30-BC3E-C45968364C9D}">
  <a:tblStyle styleId="{DBD8EA12-1187-4A30-BC3E-C45968364C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B46"/>
        </a:solidFill>
      </p:bgPr>
    </p:bg>
    <p:spTree>
      <p:nvGrpSpPr>
        <p:cNvPr id="15" name="Shape 15"/>
        <p:cNvGrpSpPr/>
        <p:nvPr/>
      </p:nvGrpSpPr>
      <p:grpSpPr>
        <a:xfrm>
          <a:off x="0" y="0"/>
          <a:ext cx="0" cy="0"/>
          <a:chOff x="0" y="0"/>
          <a:chExt cx="0" cy="0"/>
        </a:xfrm>
      </p:grpSpPr>
      <p:sp>
        <p:nvSpPr>
          <p:cNvPr id="16" name="Google Shape;16;p1"/>
          <p:cNvSpPr/>
          <p:nvPr/>
        </p:nvSpPr>
        <p:spPr>
          <a:xfrm>
            <a:off x="8778240" y="502920"/>
            <a:ext cx="5120640" cy="5120640"/>
          </a:xfrm>
          <a:prstGeom prst="ellipse">
            <a:avLst/>
          </a:prstGeom>
          <a:solidFill>
            <a:srgbClr val="1C7293">
              <a:alpha val="12157"/>
            </a:srgbClr>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601200" y="1325880"/>
            <a:ext cx="3474720" cy="3474720"/>
          </a:xfrm>
          <a:prstGeom prst="ellipse">
            <a:avLst/>
          </a:prstGeom>
          <a:solidFill>
            <a:srgbClr val="1C7293">
              <a:alpha val="20000"/>
            </a:srgbClr>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0561320" y="2286000"/>
            <a:ext cx="1554480" cy="1554480"/>
          </a:xfrm>
          <a:prstGeom prst="ellipse">
            <a:avLst/>
          </a:prstGeom>
          <a:solidFill>
            <a:srgbClr val="F2A65A">
              <a:alpha val="60000"/>
            </a:srgbClr>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txBox="1"/>
          <p:nvPr/>
        </p:nvSpPr>
        <p:spPr>
          <a:xfrm>
            <a:off x="822960" y="13716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200"/>
              <a:buFont typeface="Calibri"/>
              <a:buNone/>
            </a:pPr>
            <a:r>
              <a:rPr b="1" i="0" lang="en-US" sz="1200" u="none" cap="none" strike="noStrike">
                <a:solidFill>
                  <a:srgbClr val="F2A65A"/>
                </a:solidFill>
                <a:latin typeface="Calibri"/>
                <a:ea typeface="Calibri"/>
                <a:cs typeface="Calibri"/>
                <a:sym typeface="Calibri"/>
              </a:rPr>
              <a:t>PROYECTO FINAL  ·  PROBLEMA 3</a:t>
            </a:r>
            <a:endParaRPr b="0" i="0" sz="1200" u="none" cap="none" strike="noStrike">
              <a:solidFill>
                <a:schemeClr val="dk1"/>
              </a:solidFill>
              <a:latin typeface="Calibri"/>
              <a:ea typeface="Calibri"/>
              <a:cs typeface="Calibri"/>
              <a:sym typeface="Calibri"/>
            </a:endParaRPr>
          </a:p>
        </p:txBody>
      </p:sp>
      <p:sp>
        <p:nvSpPr>
          <p:cNvPr id="20" name="Google Shape;20;p1"/>
          <p:cNvSpPr txBox="1"/>
          <p:nvPr/>
        </p:nvSpPr>
        <p:spPr>
          <a:xfrm>
            <a:off x="822960" y="1828800"/>
            <a:ext cx="8412480" cy="1737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Asignación evolutiva de</a:t>
            </a:r>
            <a:endParaRPr b="0" i="0" sz="4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Gates a Vuelos</a:t>
            </a:r>
            <a:endParaRPr b="0" i="0" sz="4000" u="none" cap="none" strike="noStrike">
              <a:solidFill>
                <a:schemeClr val="dk1"/>
              </a:solidFill>
              <a:latin typeface="Calibri"/>
              <a:ea typeface="Calibri"/>
              <a:cs typeface="Calibri"/>
              <a:sym typeface="Calibri"/>
            </a:endParaRPr>
          </a:p>
        </p:txBody>
      </p:sp>
      <p:sp>
        <p:nvSpPr>
          <p:cNvPr id="21" name="Google Shape;21;p1"/>
          <p:cNvSpPr txBox="1"/>
          <p:nvPr/>
        </p:nvSpPr>
        <p:spPr>
          <a:xfrm>
            <a:off x="822960" y="3657600"/>
            <a:ext cx="841248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600"/>
              <a:buFont typeface="Calibri"/>
              <a:buNone/>
            </a:pPr>
            <a:r>
              <a:rPr b="0" i="0" lang="en-US" sz="1600" u="none" cap="none" strike="noStrike">
                <a:solidFill>
                  <a:srgbClr val="CADCFC"/>
                </a:solidFill>
                <a:latin typeface="Calibri"/>
                <a:ea typeface="Calibri"/>
                <a:cs typeface="Calibri"/>
                <a:sym typeface="Calibri"/>
              </a:rPr>
              <a:t>Operadores genéticos que garantizan soluciones factibles</a:t>
            </a:r>
            <a:endParaRPr b="0" i="0" sz="16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CADCFC"/>
              </a:buClr>
              <a:buSzPts val="1600"/>
              <a:buFont typeface="Calibri"/>
              <a:buNone/>
            </a:pPr>
            <a:r>
              <a:rPr b="0" i="0" lang="en-US" sz="1600" u="none" cap="none" strike="noStrike">
                <a:solidFill>
                  <a:srgbClr val="CADCFC"/>
                </a:solidFill>
                <a:latin typeface="Calibri"/>
                <a:ea typeface="Calibri"/>
                <a:cs typeface="Calibri"/>
                <a:sym typeface="Calibri"/>
              </a:rPr>
              <a:t>y optimización multiobjetivo con NSGA-II</a:t>
            </a:r>
            <a:endParaRPr b="0" i="0" sz="1600" u="none" cap="none" strike="noStrike">
              <a:solidFill>
                <a:schemeClr val="dk1"/>
              </a:solidFill>
              <a:latin typeface="Calibri"/>
              <a:ea typeface="Calibri"/>
              <a:cs typeface="Calibri"/>
              <a:sym typeface="Calibri"/>
            </a:endParaRPr>
          </a:p>
        </p:txBody>
      </p:sp>
      <p:sp>
        <p:nvSpPr>
          <p:cNvPr id="22" name="Google Shape;22;p1"/>
          <p:cNvSpPr txBox="1"/>
          <p:nvPr/>
        </p:nvSpPr>
        <p:spPr>
          <a:xfrm>
            <a:off x="822960" y="50292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Mario Ampuero  ·  Robin Villegas  ·  Diego Chiang  ·  Eduardo Ruiz</a:t>
            </a:r>
            <a:endParaRPr b="0" i="0" sz="1400" u="none" cap="none" strike="noStrike">
              <a:solidFill>
                <a:schemeClr val="dk1"/>
              </a:solidFill>
              <a:latin typeface="Calibri"/>
              <a:ea typeface="Calibri"/>
              <a:cs typeface="Calibri"/>
              <a:sym typeface="Calibri"/>
            </a:endParaRPr>
          </a:p>
        </p:txBody>
      </p:sp>
      <p:sp>
        <p:nvSpPr>
          <p:cNvPr id="23" name="Google Shape;23;p1"/>
          <p:cNvSpPr txBox="1"/>
          <p:nvPr/>
        </p:nvSpPr>
        <p:spPr>
          <a:xfrm>
            <a:off x="822960" y="5349240"/>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5"/>
              </a:buClr>
              <a:buSzPts val="1100"/>
              <a:buFont typeface="Calibri"/>
              <a:buNone/>
            </a:pPr>
            <a:r>
              <a:rPr b="0" i="0" lang="en-US" sz="1100" u="none" cap="none" strike="noStrike">
                <a:solidFill>
                  <a:srgbClr val="8FA3B5"/>
                </a:solidFill>
                <a:latin typeface="Calibri"/>
                <a:ea typeface="Calibri"/>
                <a:cs typeface="Calibri"/>
                <a:sym typeface="Calibri"/>
              </a:rPr>
              <a:t>Optimización Industrial con Computación Evolutiva  ·  Dr. Edwin Villanueva  ·  PUCP  ·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EL PROBLEMA</a:t>
            </a:r>
            <a:endParaRPr b="0" i="0" sz="1100" u="none" cap="none" strike="noStrike">
              <a:solidFill>
                <a:schemeClr val="dk1"/>
              </a:solidFill>
              <a:latin typeface="Calibri"/>
              <a:ea typeface="Calibri"/>
              <a:cs typeface="Calibri"/>
              <a:sym typeface="Calibri"/>
            </a:endParaRPr>
          </a:p>
        </p:txBody>
      </p:sp>
      <p:sp>
        <p:nvSpPr>
          <p:cNvPr id="30" name="Google Shape;30;p2"/>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Más aviones que puertas</a:t>
            </a:r>
            <a:endParaRPr b="0" i="0" sz="3000" u="none" cap="none" strike="noStrike">
              <a:solidFill>
                <a:schemeClr val="dk1"/>
              </a:solidFill>
              <a:latin typeface="Calibri"/>
              <a:ea typeface="Calibri"/>
              <a:cs typeface="Calibri"/>
              <a:sym typeface="Calibri"/>
            </a:endParaRPr>
          </a:p>
        </p:txBody>
      </p:sp>
      <p:sp>
        <p:nvSpPr>
          <p:cNvPr id="31" name="Google Shape;31;p2"/>
          <p:cNvSpPr txBox="1"/>
          <p:nvPr/>
        </p:nvSpPr>
        <p:spPr>
          <a:xfrm>
            <a:off x="548640" y="1234440"/>
            <a:ext cx="603504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733"/>
              </a:buClr>
              <a:buSzPts val="1500"/>
              <a:buFont typeface="Calibri"/>
              <a:buNone/>
            </a:pPr>
            <a:r>
              <a:rPr b="0" i="0" lang="en-US" sz="1500" u="none" cap="none" strike="noStrike">
                <a:solidFill>
                  <a:srgbClr val="1B2733"/>
                </a:solidFill>
                <a:latin typeface="Calibri"/>
                <a:ea typeface="Calibri"/>
                <a:cs typeface="Calibri"/>
                <a:sym typeface="Calibri"/>
              </a:rPr>
              <a:t>Un aeropuerto sobredemandado recibe 30 vuelos y solo tiene 10 puertas. El algoritmo no solo asigna: también decide a quién deja fuera.</a:t>
            </a:r>
            <a:endParaRPr b="0" i="0" sz="1500" u="none" cap="none" strike="noStrike">
              <a:solidFill>
                <a:schemeClr val="dk1"/>
              </a:solidFill>
              <a:latin typeface="Calibri"/>
              <a:ea typeface="Calibri"/>
              <a:cs typeface="Calibri"/>
              <a:sym typeface="Calibri"/>
            </a:endParaRPr>
          </a:p>
        </p:txBody>
      </p:sp>
      <p:sp>
        <p:nvSpPr>
          <p:cNvPr id="32" name="Google Shape;32;p2"/>
          <p:cNvSpPr/>
          <p:nvPr/>
        </p:nvSpPr>
        <p:spPr>
          <a:xfrm>
            <a:off x="548640" y="2240280"/>
            <a:ext cx="2880360" cy="1600200"/>
          </a:xfrm>
          <a:prstGeom prst="roundRect">
            <a:avLst>
              <a:gd fmla="val 457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822960" y="2487168"/>
            <a:ext cx="384048" cy="384048"/>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txBox="1"/>
          <p:nvPr/>
        </p:nvSpPr>
        <p:spPr>
          <a:xfrm>
            <a:off x="822960" y="24871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35" name="Google Shape;35;p2"/>
          <p:cNvSpPr txBox="1"/>
          <p:nvPr/>
        </p:nvSpPr>
        <p:spPr>
          <a:xfrm>
            <a:off x="822960" y="297180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400"/>
              <a:buFont typeface="Calibri"/>
              <a:buNone/>
            </a:pPr>
            <a:r>
              <a:rPr b="1" i="0" lang="en-US" sz="1400" u="none" cap="none" strike="noStrike">
                <a:solidFill>
                  <a:srgbClr val="1B2733"/>
                </a:solidFill>
                <a:latin typeface="Calibri"/>
                <a:ea typeface="Calibri"/>
                <a:cs typeface="Calibri"/>
                <a:sym typeface="Calibri"/>
              </a:rPr>
              <a:t>¿QUÉ vuelos atender?</a:t>
            </a:r>
            <a:endParaRPr b="0" i="0" sz="1400" u="none" cap="none" strike="noStrike">
              <a:solidFill>
                <a:schemeClr val="dk1"/>
              </a:solidFill>
              <a:latin typeface="Calibri"/>
              <a:ea typeface="Calibri"/>
              <a:cs typeface="Calibri"/>
              <a:sym typeface="Calibri"/>
            </a:endParaRPr>
          </a:p>
        </p:txBody>
      </p:sp>
      <p:sp>
        <p:nvSpPr>
          <p:cNvPr id="36" name="Google Shape;36;p2"/>
          <p:cNvSpPr txBox="1"/>
          <p:nvPr/>
        </p:nvSpPr>
        <p:spPr>
          <a:xfrm>
            <a:off x="822960" y="3246120"/>
            <a:ext cx="2377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Escoger 10 de 30; los otros 20 quedan sin programar.</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3703320" y="2240280"/>
            <a:ext cx="2880360" cy="1600200"/>
          </a:xfrm>
          <a:prstGeom prst="roundRect">
            <a:avLst>
              <a:gd fmla="val 457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3977640" y="2487168"/>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txBox="1"/>
          <p:nvPr/>
        </p:nvSpPr>
        <p:spPr>
          <a:xfrm>
            <a:off x="3977640" y="24871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0" name="Google Shape;40;p2"/>
          <p:cNvSpPr txBox="1"/>
          <p:nvPr/>
        </p:nvSpPr>
        <p:spPr>
          <a:xfrm>
            <a:off x="3977640" y="297180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400"/>
              <a:buFont typeface="Calibri"/>
              <a:buNone/>
            </a:pPr>
            <a:r>
              <a:rPr b="1" i="0" lang="en-US" sz="1400" u="none" cap="none" strike="noStrike">
                <a:solidFill>
                  <a:srgbClr val="1B2733"/>
                </a:solidFill>
                <a:latin typeface="Calibri"/>
                <a:ea typeface="Calibri"/>
                <a:cs typeface="Calibri"/>
                <a:sym typeface="Calibri"/>
              </a:rPr>
              <a:t>¿DÓNDE parquear cada uno?</a:t>
            </a:r>
            <a:endParaRPr b="0" i="0" sz="1400" u="none" cap="none" strike="noStrike">
              <a:solidFill>
                <a:schemeClr val="dk1"/>
              </a:solidFill>
              <a:latin typeface="Calibri"/>
              <a:ea typeface="Calibri"/>
              <a:cs typeface="Calibri"/>
              <a:sym typeface="Calibri"/>
            </a:endParaRPr>
          </a:p>
        </p:txBody>
      </p:sp>
      <p:sp>
        <p:nvSpPr>
          <p:cNvPr id="41" name="Google Shape;41;p2"/>
          <p:cNvSpPr txBox="1"/>
          <p:nvPr/>
        </p:nvSpPr>
        <p:spPr>
          <a:xfrm>
            <a:off x="3977640" y="3246120"/>
            <a:ext cx="2377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Manga o zona remota: cada puerta desembarca a un ritmo distinto.</a:t>
            </a:r>
            <a:endParaRPr b="0" i="0" sz="1200" u="none" cap="none" strike="noStrike">
              <a:solidFill>
                <a:schemeClr val="dk1"/>
              </a:solidFill>
              <a:latin typeface="Calibri"/>
              <a:ea typeface="Calibri"/>
              <a:cs typeface="Calibri"/>
              <a:sym typeface="Calibri"/>
            </a:endParaRPr>
          </a:p>
        </p:txBody>
      </p:sp>
      <p:sp>
        <p:nvSpPr>
          <p:cNvPr id="42" name="Google Shape;42;p2"/>
          <p:cNvSpPr txBox="1"/>
          <p:nvPr/>
        </p:nvSpPr>
        <p:spPr>
          <a:xfrm>
            <a:off x="548640" y="4114800"/>
            <a:ext cx="6035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400"/>
              <a:buFont typeface="Calibri"/>
              <a:buNone/>
            </a:pPr>
            <a:r>
              <a:rPr b="1" i="0" lang="en-US" sz="1400" u="none" cap="none" strike="noStrike">
                <a:solidFill>
                  <a:srgbClr val="1C7293"/>
                </a:solidFill>
                <a:latin typeface="Calibri"/>
                <a:ea typeface="Calibri"/>
                <a:cs typeface="Calibri"/>
                <a:sym typeface="Calibri"/>
              </a:rPr>
              <a:t>Objetivo: maximizar la eficiencia = pasajeros desembarcados por unidad de tiempo.</a:t>
            </a:r>
            <a:endParaRPr b="0" i="0" sz="1400" u="none" cap="none" strike="noStrike">
              <a:solidFill>
                <a:schemeClr val="dk1"/>
              </a:solidFill>
              <a:latin typeface="Calibri"/>
              <a:ea typeface="Calibri"/>
              <a:cs typeface="Calibri"/>
              <a:sym typeface="Calibri"/>
            </a:endParaRPr>
          </a:p>
        </p:txBody>
      </p:sp>
      <p:sp>
        <p:nvSpPr>
          <p:cNvPr id="43" name="Google Shape;43;p2"/>
          <p:cNvSpPr/>
          <p:nvPr/>
        </p:nvSpPr>
        <p:spPr>
          <a:xfrm>
            <a:off x="7132320" y="1234440"/>
            <a:ext cx="4526280" cy="3566160"/>
          </a:xfrm>
          <a:prstGeom prst="roundRect">
            <a:avLst>
              <a:gd fmla="val 2051"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txBox="1"/>
          <p:nvPr/>
        </p:nvSpPr>
        <p:spPr>
          <a:xfrm>
            <a:off x="7315200" y="155448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4200"/>
              <a:buFont typeface="Cambria"/>
              <a:buNone/>
            </a:pPr>
            <a:r>
              <a:rPr b="1" i="0" lang="en-US" sz="4200" u="none" cap="none" strike="noStrike">
                <a:solidFill>
                  <a:srgbClr val="F2A65A"/>
                </a:solidFill>
                <a:latin typeface="Cambria"/>
                <a:ea typeface="Cambria"/>
                <a:cs typeface="Cambria"/>
                <a:sym typeface="Cambria"/>
              </a:rPr>
              <a:t>30</a:t>
            </a:r>
            <a:endParaRPr b="0" i="0" sz="4200" u="none" cap="none" strike="noStrike">
              <a:solidFill>
                <a:schemeClr val="dk1"/>
              </a:solidFill>
              <a:latin typeface="Calibri"/>
              <a:ea typeface="Calibri"/>
              <a:cs typeface="Calibri"/>
              <a:sym typeface="Calibri"/>
            </a:endParaRPr>
          </a:p>
        </p:txBody>
      </p:sp>
      <p:sp>
        <p:nvSpPr>
          <p:cNvPr id="45" name="Google Shape;45;p2"/>
          <p:cNvSpPr txBox="1"/>
          <p:nvPr/>
        </p:nvSpPr>
        <p:spPr>
          <a:xfrm>
            <a:off x="7315200" y="2212848"/>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vuelos por asignar</a:t>
            </a:r>
            <a:endParaRPr b="0" i="0" sz="1100" u="none" cap="none" strike="noStrike">
              <a:solidFill>
                <a:schemeClr val="dk1"/>
              </a:solidFill>
              <a:latin typeface="Calibri"/>
              <a:ea typeface="Calibri"/>
              <a:cs typeface="Calibri"/>
              <a:sym typeface="Calibri"/>
            </a:endParaRPr>
          </a:p>
        </p:txBody>
      </p:sp>
      <p:sp>
        <p:nvSpPr>
          <p:cNvPr id="46" name="Google Shape;46;p2"/>
          <p:cNvSpPr txBox="1"/>
          <p:nvPr/>
        </p:nvSpPr>
        <p:spPr>
          <a:xfrm>
            <a:off x="9418320" y="155448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4200"/>
              <a:buFont typeface="Cambria"/>
              <a:buNone/>
            </a:pPr>
            <a:r>
              <a:rPr b="1" i="0" lang="en-US" sz="4200" u="none" cap="none" strike="noStrike">
                <a:solidFill>
                  <a:srgbClr val="F2A65A"/>
                </a:solidFill>
                <a:latin typeface="Cambria"/>
                <a:ea typeface="Cambria"/>
                <a:cs typeface="Cambria"/>
                <a:sym typeface="Cambria"/>
              </a:rPr>
              <a:t>10</a:t>
            </a:r>
            <a:endParaRPr b="0" i="0" sz="4200" u="none" cap="none" strike="noStrike">
              <a:solidFill>
                <a:schemeClr val="dk1"/>
              </a:solidFill>
              <a:latin typeface="Calibri"/>
              <a:ea typeface="Calibri"/>
              <a:cs typeface="Calibri"/>
              <a:sym typeface="Calibri"/>
            </a:endParaRPr>
          </a:p>
        </p:txBody>
      </p:sp>
      <p:sp>
        <p:nvSpPr>
          <p:cNvPr id="47" name="Google Shape;47;p2"/>
          <p:cNvSpPr txBox="1"/>
          <p:nvPr/>
        </p:nvSpPr>
        <p:spPr>
          <a:xfrm>
            <a:off x="9418320" y="2212848"/>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puertas disponibles</a:t>
            </a:r>
            <a:endParaRPr b="0" i="0" sz="1100" u="none" cap="none" strike="noStrike">
              <a:solidFill>
                <a:schemeClr val="dk1"/>
              </a:solidFill>
              <a:latin typeface="Calibri"/>
              <a:ea typeface="Calibri"/>
              <a:cs typeface="Calibri"/>
              <a:sym typeface="Calibri"/>
            </a:endParaRPr>
          </a:p>
        </p:txBody>
      </p:sp>
      <p:sp>
        <p:nvSpPr>
          <p:cNvPr id="48" name="Google Shape;48;p2"/>
          <p:cNvSpPr txBox="1"/>
          <p:nvPr/>
        </p:nvSpPr>
        <p:spPr>
          <a:xfrm>
            <a:off x="7315200" y="2971800"/>
            <a:ext cx="4114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1,09 × 10¹⁴</a:t>
            </a:r>
            <a:endParaRPr b="0" i="0" sz="3200" u="none" cap="none" strike="noStrike">
              <a:solidFill>
                <a:schemeClr val="dk1"/>
              </a:solidFill>
              <a:latin typeface="Calibri"/>
              <a:ea typeface="Calibri"/>
              <a:cs typeface="Calibri"/>
              <a:sym typeface="Calibri"/>
            </a:endParaRPr>
          </a:p>
        </p:txBody>
      </p:sp>
      <p:sp>
        <p:nvSpPr>
          <p:cNvPr id="49" name="Google Shape;49;p2"/>
          <p:cNvSpPr txBox="1"/>
          <p:nvPr/>
        </p:nvSpPr>
        <p:spPr>
          <a:xfrm>
            <a:off x="7315200" y="3630168"/>
            <a:ext cx="41148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programaciones distintas posibles</a:t>
            </a:r>
            <a:endParaRPr b="0" i="0" sz="1100" u="none" cap="none" strike="noStrike">
              <a:solidFill>
                <a:schemeClr val="dk1"/>
              </a:solidFill>
              <a:latin typeface="Calibri"/>
              <a:ea typeface="Calibri"/>
              <a:cs typeface="Calibri"/>
              <a:sym typeface="Calibri"/>
            </a:endParaRPr>
          </a:p>
        </p:txBody>
      </p:sp>
      <p:sp>
        <p:nvSpPr>
          <p:cNvPr id="50" name="Google Shape;50;p2"/>
          <p:cNvSpPr txBox="1"/>
          <p:nvPr/>
        </p:nvSpPr>
        <p:spPr>
          <a:xfrm>
            <a:off x="7315200" y="411480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La enumeración exhaustiva es inviable: se justifica una metaheurística poblacional.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3"/>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REPRESENTACIÓN</a:t>
            </a:r>
            <a:endParaRPr b="0" i="0" sz="1100" u="none" cap="none" strike="noStrike">
              <a:solidFill>
                <a:schemeClr val="dk1"/>
              </a:solidFill>
              <a:latin typeface="Calibri"/>
              <a:ea typeface="Calibri"/>
              <a:cs typeface="Calibri"/>
              <a:sym typeface="Calibri"/>
            </a:endParaRPr>
          </a:p>
        </p:txBody>
      </p:sp>
      <p:sp>
        <p:nvSpPr>
          <p:cNvPr id="57" name="Google Shape;57;p3"/>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Individuo, gen, alelo y fitness</a:t>
            </a:r>
            <a:endParaRPr b="0" i="0" sz="3000" u="none" cap="none" strike="noStrike">
              <a:solidFill>
                <a:schemeClr val="dk1"/>
              </a:solidFill>
              <a:latin typeface="Calibri"/>
              <a:ea typeface="Calibri"/>
              <a:cs typeface="Calibri"/>
              <a:sym typeface="Calibri"/>
            </a:endParaRPr>
          </a:p>
        </p:txBody>
      </p:sp>
      <p:pic>
        <p:nvPicPr>
          <p:cNvPr descr="C:/Users/Ampue/Documents/PUCP/Diplomado IA/computacion_evolutiva/trabajo_final/Archivos Base/EjemploIndividuoAvion.jpg" id="58" name="Google Shape;58;p3"/>
          <p:cNvPicPr preferRelativeResize="0"/>
          <p:nvPr/>
        </p:nvPicPr>
        <p:blipFill rotWithShape="1">
          <a:blip r:embed="rId3">
            <a:alphaModFix/>
          </a:blip>
          <a:srcRect b="0" l="0" r="0" t="0"/>
          <a:stretch/>
        </p:blipFill>
        <p:spPr>
          <a:xfrm>
            <a:off x="548640" y="1280160"/>
            <a:ext cx="4846320" cy="3858768"/>
          </a:xfrm>
          <a:prstGeom prst="rect">
            <a:avLst/>
          </a:prstGeom>
          <a:noFill/>
          <a:ln>
            <a:noFill/>
          </a:ln>
        </p:spPr>
      </p:pic>
      <p:sp>
        <p:nvSpPr>
          <p:cNvPr id="59" name="Google Shape;59;p3"/>
          <p:cNvSpPr txBox="1"/>
          <p:nvPr/>
        </p:nvSpPr>
        <p:spPr>
          <a:xfrm>
            <a:off x="548640" y="5212080"/>
            <a:ext cx="4846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100"/>
              <a:buFont typeface="Calibri"/>
              <a:buNone/>
            </a:pPr>
            <a:r>
              <a:rPr b="0" i="1" lang="en-US" sz="1100" u="none" cap="none" strike="noStrike">
                <a:solidFill>
                  <a:srgbClr val="5A6B7B"/>
                </a:solidFill>
                <a:latin typeface="Calibri"/>
                <a:ea typeface="Calibri"/>
                <a:cs typeface="Calibri"/>
                <a:sym typeface="Calibri"/>
              </a:rPr>
              <a:t>El cromosoma son dos listas paralelas de largo K = 10.</a:t>
            </a:r>
            <a:endParaRPr b="0" i="0" sz="1100" u="none" cap="none" strike="noStrike">
              <a:solidFill>
                <a:schemeClr val="dk1"/>
              </a:solidFill>
              <a:latin typeface="Calibri"/>
              <a:ea typeface="Calibri"/>
              <a:cs typeface="Calibri"/>
              <a:sym typeface="Calibri"/>
            </a:endParaRPr>
          </a:p>
        </p:txBody>
      </p:sp>
      <p:sp>
        <p:nvSpPr>
          <p:cNvPr id="60" name="Google Shape;60;p3"/>
          <p:cNvSpPr/>
          <p:nvPr/>
        </p:nvSpPr>
        <p:spPr>
          <a:xfrm>
            <a:off x="5852160" y="1362456"/>
            <a:ext cx="384048" cy="384048"/>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852160" y="136245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I</a:t>
            </a:r>
            <a:endParaRPr b="0" i="0" sz="1100" u="none" cap="none" strike="noStrike">
              <a:solidFill>
                <a:schemeClr val="dk1"/>
              </a:solidFill>
              <a:latin typeface="Calibri"/>
              <a:ea typeface="Calibri"/>
              <a:cs typeface="Calibri"/>
              <a:sym typeface="Calibri"/>
            </a:endParaRPr>
          </a:p>
        </p:txBody>
      </p:sp>
      <p:sp>
        <p:nvSpPr>
          <p:cNvPr id="62" name="Google Shape;62;p3"/>
          <p:cNvSpPr txBox="1"/>
          <p:nvPr/>
        </p:nvSpPr>
        <p:spPr>
          <a:xfrm>
            <a:off x="6400800" y="1325880"/>
            <a:ext cx="5257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400"/>
              <a:buFont typeface="Calibri"/>
              <a:buNone/>
            </a:pPr>
            <a:r>
              <a:rPr b="1" i="0" lang="en-US" sz="1400" u="none" cap="none" strike="noStrike">
                <a:solidFill>
                  <a:srgbClr val="1B2733"/>
                </a:solidFill>
                <a:latin typeface="Calibri"/>
                <a:ea typeface="Calibri"/>
                <a:cs typeface="Calibri"/>
                <a:sym typeface="Calibri"/>
              </a:rPr>
              <a:t>Individuo / cromosoma</a:t>
            </a:r>
            <a:endParaRPr b="0" i="0" sz="1400" u="none" cap="none" strike="noStrike">
              <a:solidFill>
                <a:schemeClr val="dk1"/>
              </a:solidFill>
              <a:latin typeface="Calibri"/>
              <a:ea typeface="Calibri"/>
              <a:cs typeface="Calibri"/>
              <a:sym typeface="Calibri"/>
            </a:endParaRPr>
          </a:p>
        </p:txBody>
      </p:sp>
      <p:sp>
        <p:nvSpPr>
          <p:cNvPr id="63" name="Google Shape;63;p3"/>
          <p:cNvSpPr txBox="1"/>
          <p:nvPr/>
        </p:nvSpPr>
        <p:spPr>
          <a:xfrm>
            <a:off x="6400800" y="1600200"/>
            <a:ext cx="5257800"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Una programación completa: qué 10 vuelos se atienden y en qué puerta cada uno.</a:t>
            </a:r>
            <a:endParaRPr b="0" i="0" sz="1200" u="none" cap="none" strike="noStrike">
              <a:solidFill>
                <a:schemeClr val="dk1"/>
              </a:solidFill>
              <a:latin typeface="Calibri"/>
              <a:ea typeface="Calibri"/>
              <a:cs typeface="Calibri"/>
              <a:sym typeface="Calibri"/>
            </a:endParaRPr>
          </a:p>
        </p:txBody>
      </p:sp>
      <p:sp>
        <p:nvSpPr>
          <p:cNvPr id="64" name="Google Shape;64;p3"/>
          <p:cNvSpPr/>
          <p:nvPr/>
        </p:nvSpPr>
        <p:spPr>
          <a:xfrm>
            <a:off x="5852160" y="2368296"/>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txBox="1"/>
          <p:nvPr/>
        </p:nvSpPr>
        <p:spPr>
          <a:xfrm>
            <a:off x="5852160" y="23682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G</a:t>
            </a:r>
            <a:endParaRPr b="0" i="0" sz="1100" u="none" cap="none" strike="noStrike">
              <a:solidFill>
                <a:schemeClr val="dk1"/>
              </a:solidFill>
              <a:latin typeface="Calibri"/>
              <a:ea typeface="Calibri"/>
              <a:cs typeface="Calibri"/>
              <a:sym typeface="Calibri"/>
            </a:endParaRPr>
          </a:p>
        </p:txBody>
      </p:sp>
      <p:sp>
        <p:nvSpPr>
          <p:cNvPr id="66" name="Google Shape;66;p3"/>
          <p:cNvSpPr txBox="1"/>
          <p:nvPr/>
        </p:nvSpPr>
        <p:spPr>
          <a:xfrm>
            <a:off x="6400800" y="2331720"/>
            <a:ext cx="5257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400"/>
              <a:buFont typeface="Calibri"/>
              <a:buNone/>
            </a:pPr>
            <a:r>
              <a:rPr b="1" i="0" lang="en-US" sz="1400" u="none" cap="none" strike="noStrike">
                <a:solidFill>
                  <a:srgbClr val="1B2733"/>
                </a:solidFill>
                <a:latin typeface="Calibri"/>
                <a:ea typeface="Calibri"/>
                <a:cs typeface="Calibri"/>
                <a:sym typeface="Calibri"/>
              </a:rPr>
              <a:t>Gen</a:t>
            </a:r>
            <a:endParaRPr b="0" i="0" sz="1400" u="none" cap="none" strike="noStrike">
              <a:solidFill>
                <a:schemeClr val="dk1"/>
              </a:solidFill>
              <a:latin typeface="Calibri"/>
              <a:ea typeface="Calibri"/>
              <a:cs typeface="Calibri"/>
              <a:sym typeface="Calibri"/>
            </a:endParaRPr>
          </a:p>
        </p:txBody>
      </p:sp>
      <p:sp>
        <p:nvSpPr>
          <p:cNvPr id="67" name="Google Shape;67;p3"/>
          <p:cNvSpPr txBox="1"/>
          <p:nvPr/>
        </p:nvSpPr>
        <p:spPr>
          <a:xfrm>
            <a:off x="6400800" y="2606040"/>
            <a:ext cx="5257800"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La asignación de la posición i: el par (vuelo, puerta). El cromosoma tiene 10 genes.</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5852160" y="3374136"/>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txBox="1"/>
          <p:nvPr/>
        </p:nvSpPr>
        <p:spPr>
          <a:xfrm>
            <a:off x="5852160" y="33741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A</a:t>
            </a:r>
            <a:endParaRPr b="0" i="0" sz="1100" u="none" cap="none" strike="noStrike">
              <a:solidFill>
                <a:schemeClr val="dk1"/>
              </a:solidFill>
              <a:latin typeface="Calibri"/>
              <a:ea typeface="Calibri"/>
              <a:cs typeface="Calibri"/>
              <a:sym typeface="Calibri"/>
            </a:endParaRPr>
          </a:p>
        </p:txBody>
      </p:sp>
      <p:sp>
        <p:nvSpPr>
          <p:cNvPr id="70" name="Google Shape;70;p3"/>
          <p:cNvSpPr txBox="1"/>
          <p:nvPr/>
        </p:nvSpPr>
        <p:spPr>
          <a:xfrm>
            <a:off x="6400800" y="3337560"/>
            <a:ext cx="5257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400"/>
              <a:buFont typeface="Calibri"/>
              <a:buNone/>
            </a:pPr>
            <a:r>
              <a:rPr b="1" i="0" lang="en-US" sz="1400" u="none" cap="none" strike="noStrike">
                <a:solidFill>
                  <a:srgbClr val="1B2733"/>
                </a:solidFill>
                <a:latin typeface="Calibri"/>
                <a:ea typeface="Calibri"/>
                <a:cs typeface="Calibri"/>
                <a:sym typeface="Calibri"/>
              </a:rPr>
              <a:t>Alelo</a:t>
            </a:r>
            <a:endParaRPr b="0" i="0" sz="1400" u="none" cap="none" strike="noStrike">
              <a:solidFill>
                <a:schemeClr val="dk1"/>
              </a:solidFill>
              <a:latin typeface="Calibri"/>
              <a:ea typeface="Calibri"/>
              <a:cs typeface="Calibri"/>
              <a:sym typeface="Calibri"/>
            </a:endParaRPr>
          </a:p>
        </p:txBody>
      </p:sp>
      <p:sp>
        <p:nvSpPr>
          <p:cNvPr id="71" name="Google Shape;71;p3"/>
          <p:cNvSpPr txBox="1"/>
          <p:nvPr/>
        </p:nvSpPr>
        <p:spPr>
          <a:xfrm>
            <a:off x="6400800" y="3611880"/>
            <a:ext cx="5257800"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Cualquier par formable con los catálogos: 30 × 10 = 300 valores posibles por gen.</a:t>
            </a:r>
            <a:endParaRPr b="0" i="0" sz="1200" u="none" cap="none" strike="noStrike">
              <a:solidFill>
                <a:schemeClr val="dk1"/>
              </a:solidFill>
              <a:latin typeface="Calibri"/>
              <a:ea typeface="Calibri"/>
              <a:cs typeface="Calibri"/>
              <a:sym typeface="Calibri"/>
            </a:endParaRPr>
          </a:p>
        </p:txBody>
      </p:sp>
      <p:sp>
        <p:nvSpPr>
          <p:cNvPr id="72" name="Google Shape;72;p3"/>
          <p:cNvSpPr/>
          <p:nvPr/>
        </p:nvSpPr>
        <p:spPr>
          <a:xfrm>
            <a:off x="5852160" y="4379976"/>
            <a:ext cx="384048" cy="384048"/>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txBox="1"/>
          <p:nvPr/>
        </p:nvSpPr>
        <p:spPr>
          <a:xfrm>
            <a:off x="5852160" y="437997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F</a:t>
            </a:r>
            <a:endParaRPr b="0" i="0" sz="1100" u="none" cap="none" strike="noStrike">
              <a:solidFill>
                <a:schemeClr val="dk1"/>
              </a:solidFill>
              <a:latin typeface="Calibri"/>
              <a:ea typeface="Calibri"/>
              <a:cs typeface="Calibri"/>
              <a:sym typeface="Calibri"/>
            </a:endParaRPr>
          </a:p>
        </p:txBody>
      </p:sp>
      <p:sp>
        <p:nvSpPr>
          <p:cNvPr id="74" name="Google Shape;74;p3"/>
          <p:cNvSpPr txBox="1"/>
          <p:nvPr/>
        </p:nvSpPr>
        <p:spPr>
          <a:xfrm>
            <a:off x="6400800" y="4343400"/>
            <a:ext cx="5257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400"/>
              <a:buFont typeface="Calibri"/>
              <a:buNone/>
            </a:pPr>
            <a:r>
              <a:rPr b="1" i="0" lang="en-US" sz="1400" u="none" cap="none" strike="noStrike">
                <a:solidFill>
                  <a:srgbClr val="1B2733"/>
                </a:solidFill>
                <a:latin typeface="Calibri"/>
                <a:ea typeface="Calibri"/>
                <a:cs typeface="Calibri"/>
                <a:sym typeface="Calibri"/>
              </a:rPr>
              <a:t>Fitness</a:t>
            </a:r>
            <a:endParaRPr b="0" i="0" sz="1400" u="none" cap="none" strike="noStrike">
              <a:solidFill>
                <a:schemeClr val="dk1"/>
              </a:solidFill>
              <a:latin typeface="Calibri"/>
              <a:ea typeface="Calibri"/>
              <a:cs typeface="Calibri"/>
              <a:sym typeface="Calibri"/>
            </a:endParaRPr>
          </a:p>
        </p:txBody>
      </p:sp>
      <p:sp>
        <p:nvSpPr>
          <p:cNvPr id="75" name="Google Shape;75;p3"/>
          <p:cNvSpPr txBox="1"/>
          <p:nvPr/>
        </p:nvSpPr>
        <p:spPr>
          <a:xfrm>
            <a:off x="6400800" y="4617720"/>
            <a:ext cx="5257800"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Suma sobre las 10 asignaciones de pasajeros ÷ tiempo de desembarque.</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5852160" y="5394960"/>
            <a:ext cx="5806440" cy="685800"/>
          </a:xfrm>
          <a:prstGeom prst="roundRect">
            <a:avLst>
              <a:gd fmla="val 10667"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6080760" y="5394960"/>
            <a:ext cx="5349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9E6B"/>
              </a:buClr>
              <a:buSzPts val="1250"/>
              <a:buFont typeface="Calibri"/>
              <a:buNone/>
            </a:pPr>
            <a:r>
              <a:rPr b="1" i="0" lang="en-US" sz="1250" u="none" cap="none" strike="noStrike">
                <a:solidFill>
                  <a:srgbClr val="2E9E6B"/>
                </a:solidFill>
                <a:latin typeface="Calibri"/>
                <a:ea typeface="Calibri"/>
                <a:cs typeface="Calibri"/>
                <a:sym typeface="Calibri"/>
              </a:rPr>
              <a:t>Validez: </a:t>
            </a:r>
            <a:r>
              <a:rPr b="0" i="0" lang="en-US" sz="1250" u="none" cap="none" strike="noStrike">
                <a:solidFill>
                  <a:srgbClr val="1B2733"/>
                </a:solidFill>
                <a:latin typeface="Calibri"/>
                <a:ea typeface="Calibri"/>
                <a:cs typeface="Calibri"/>
                <a:sym typeface="Calibri"/>
              </a:rPr>
              <a:t>vuelos distintos y puertas distintas. Una puerta no puede recibir dos aviones a la vez.</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4"/>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4550"/>
              </a:buClr>
              <a:buSzPts val="1100"/>
              <a:buFont typeface="Calibri"/>
              <a:buNone/>
            </a:pPr>
            <a:r>
              <a:rPr b="1" i="0" lang="en-US" sz="1100" u="none" cap="none" strike="noStrike">
                <a:solidFill>
                  <a:srgbClr val="D64550"/>
                </a:solidFill>
                <a:latin typeface="Calibri"/>
                <a:ea typeface="Calibri"/>
                <a:cs typeface="Calibri"/>
                <a:sym typeface="Calibri"/>
              </a:rPr>
              <a:t>DIAGNÓSTICO</a:t>
            </a:r>
            <a:endParaRPr b="0" i="0" sz="1100" u="none" cap="none" strike="noStrike">
              <a:solidFill>
                <a:schemeClr val="dk1"/>
              </a:solidFill>
              <a:latin typeface="Calibri"/>
              <a:ea typeface="Calibri"/>
              <a:cs typeface="Calibri"/>
              <a:sym typeface="Calibri"/>
            </a:endParaRPr>
          </a:p>
        </p:txBody>
      </p:sp>
      <p:sp>
        <p:nvSpPr>
          <p:cNvPr id="84" name="Google Shape;84;p4"/>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Qué falla en el código base</a:t>
            </a:r>
            <a:endParaRPr b="0" i="0" sz="3000" u="none" cap="none" strike="noStrike">
              <a:solidFill>
                <a:schemeClr val="dk1"/>
              </a:solidFill>
              <a:latin typeface="Calibri"/>
              <a:ea typeface="Calibri"/>
              <a:cs typeface="Calibri"/>
              <a:sym typeface="Calibri"/>
            </a:endParaRPr>
          </a:p>
        </p:txBody>
      </p:sp>
      <p:sp>
        <p:nvSpPr>
          <p:cNvPr id="85" name="Google Shape;85;p4"/>
          <p:cNvSpPr/>
          <p:nvPr/>
        </p:nvSpPr>
        <p:spPr>
          <a:xfrm>
            <a:off x="548640" y="1280160"/>
            <a:ext cx="3566160" cy="1965960"/>
          </a:xfrm>
          <a:prstGeom prst="roundRect">
            <a:avLst>
              <a:gd fmla="val 372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822960" y="1508760"/>
            <a:ext cx="384048" cy="384048"/>
          </a:xfrm>
          <a:prstGeom prst="ellipse">
            <a:avLst/>
          </a:prstGeom>
          <a:solidFill>
            <a:srgbClr val="D64550"/>
          </a:solidFill>
          <a:ln cap="flat" cmpd="sng" w="12700">
            <a:solidFill>
              <a:srgbClr val="D64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txBox="1"/>
          <p:nvPr/>
        </p:nvSpPr>
        <p:spPr>
          <a:xfrm>
            <a:off x="822960" y="1508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88" name="Google Shape;88;p4"/>
          <p:cNvSpPr txBox="1"/>
          <p:nvPr/>
        </p:nvSpPr>
        <p:spPr>
          <a:xfrm>
            <a:off x="822960" y="2011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crossover</a:t>
            </a:r>
            <a:endParaRPr b="0" i="0" sz="1500" u="none" cap="none" strike="noStrike">
              <a:solidFill>
                <a:schemeClr val="dk1"/>
              </a:solidFill>
              <a:latin typeface="Calibri"/>
              <a:ea typeface="Calibri"/>
              <a:cs typeface="Calibri"/>
              <a:sym typeface="Calibri"/>
            </a:endParaRPr>
          </a:p>
        </p:txBody>
      </p:sp>
      <p:sp>
        <p:nvSpPr>
          <p:cNvPr id="89" name="Google Shape;89;p4"/>
          <p:cNvSpPr txBox="1"/>
          <p:nvPr/>
        </p:nvSpPr>
        <p:spPr>
          <a:xfrm>
            <a:off x="822960" y="2331720"/>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Recombina puertas posición por posición: el hijo puede recibir la misma puerta de ambos padres.</a:t>
            </a:r>
            <a:endParaRPr b="0" i="0" sz="1250" u="none" cap="none" strike="noStrike">
              <a:solidFill>
                <a:schemeClr val="dk1"/>
              </a:solidFill>
              <a:latin typeface="Calibri"/>
              <a:ea typeface="Calibri"/>
              <a:cs typeface="Calibri"/>
              <a:sym typeface="Calibri"/>
            </a:endParaRPr>
          </a:p>
        </p:txBody>
      </p:sp>
      <p:sp>
        <p:nvSpPr>
          <p:cNvPr id="90" name="Google Shape;90;p4"/>
          <p:cNvSpPr/>
          <p:nvPr/>
        </p:nvSpPr>
        <p:spPr>
          <a:xfrm>
            <a:off x="4343400" y="1280160"/>
            <a:ext cx="3566160" cy="1965960"/>
          </a:xfrm>
          <a:prstGeom prst="roundRect">
            <a:avLst>
              <a:gd fmla="val 372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617720" y="1508760"/>
            <a:ext cx="384048" cy="384048"/>
          </a:xfrm>
          <a:prstGeom prst="ellipse">
            <a:avLst/>
          </a:prstGeom>
          <a:solidFill>
            <a:srgbClr val="D64550"/>
          </a:solidFill>
          <a:ln cap="flat" cmpd="sng" w="12700">
            <a:solidFill>
              <a:srgbClr val="D64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txBox="1"/>
          <p:nvPr/>
        </p:nvSpPr>
        <p:spPr>
          <a:xfrm>
            <a:off x="4617720" y="1508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93" name="Google Shape;93;p4"/>
          <p:cNvSpPr txBox="1"/>
          <p:nvPr/>
        </p:nvSpPr>
        <p:spPr>
          <a:xfrm>
            <a:off x="4617720" y="2011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mutación</a:t>
            </a:r>
            <a:endParaRPr b="0" i="0" sz="1500" u="none" cap="none" strike="noStrike">
              <a:solidFill>
                <a:schemeClr val="dk1"/>
              </a:solidFill>
              <a:latin typeface="Calibri"/>
              <a:ea typeface="Calibri"/>
              <a:cs typeface="Calibri"/>
              <a:sym typeface="Calibri"/>
            </a:endParaRPr>
          </a:p>
        </p:txBody>
      </p:sp>
      <p:sp>
        <p:nvSpPr>
          <p:cNvPr id="94" name="Google Shape;94;p4"/>
          <p:cNvSpPr txBox="1"/>
          <p:nvPr/>
        </p:nvSpPr>
        <p:spPr>
          <a:xfrm>
            <a:off x="4617720" y="2331720"/>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Copia cualquier puerta del catálogo sobre una posición, sin mirar si ya estaba ocupada.</a:t>
            </a:r>
            <a:endParaRPr b="0" i="0" sz="1250" u="none" cap="none" strike="noStrike">
              <a:solidFill>
                <a:schemeClr val="dk1"/>
              </a:solidFill>
              <a:latin typeface="Calibri"/>
              <a:ea typeface="Calibri"/>
              <a:cs typeface="Calibri"/>
              <a:sym typeface="Calibri"/>
            </a:endParaRPr>
          </a:p>
        </p:txBody>
      </p:sp>
      <p:sp>
        <p:nvSpPr>
          <p:cNvPr id="95" name="Google Shape;95;p4"/>
          <p:cNvSpPr/>
          <p:nvPr/>
        </p:nvSpPr>
        <p:spPr>
          <a:xfrm>
            <a:off x="8138160" y="1280160"/>
            <a:ext cx="3566160" cy="1965960"/>
          </a:xfrm>
          <a:prstGeom prst="roundRect">
            <a:avLst>
              <a:gd fmla="val 372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8412480" y="1508760"/>
            <a:ext cx="384048" cy="384048"/>
          </a:xfrm>
          <a:prstGeom prst="ellipse">
            <a:avLst/>
          </a:prstGeom>
          <a:solidFill>
            <a:srgbClr val="D64550"/>
          </a:solidFill>
          <a:ln cap="flat" cmpd="sng" w="12700">
            <a:solidFill>
              <a:srgbClr val="D64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txBox="1"/>
          <p:nvPr/>
        </p:nvSpPr>
        <p:spPr>
          <a:xfrm>
            <a:off x="8412480" y="1508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98" name="Google Shape;98;p4"/>
          <p:cNvSpPr txBox="1"/>
          <p:nvPr/>
        </p:nvSpPr>
        <p:spPr>
          <a:xfrm>
            <a:off x="8412480" y="2011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vuelos</a:t>
            </a:r>
            <a:endParaRPr b="0" i="0" sz="1500" u="none" cap="none" strike="noStrike">
              <a:solidFill>
                <a:schemeClr val="dk1"/>
              </a:solidFill>
              <a:latin typeface="Calibri"/>
              <a:ea typeface="Calibri"/>
              <a:cs typeface="Calibri"/>
              <a:sym typeface="Calibri"/>
            </a:endParaRPr>
          </a:p>
        </p:txBody>
      </p:sp>
      <p:sp>
        <p:nvSpPr>
          <p:cNvPr id="99" name="Google Shape;99;p4"/>
          <p:cNvSpPr txBox="1"/>
          <p:nvPr/>
        </p:nvSpPr>
        <p:spPr>
          <a:xfrm>
            <a:off x="8412480" y="2331720"/>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La lista de vuelos nunca cambia: la decisión de a quién atender no evoluciona.</a:t>
            </a:r>
            <a:endParaRPr b="0" i="0" sz="1250" u="none" cap="none" strike="noStrike">
              <a:solidFill>
                <a:schemeClr val="dk1"/>
              </a:solidFill>
              <a:latin typeface="Calibri"/>
              <a:ea typeface="Calibri"/>
              <a:cs typeface="Calibri"/>
              <a:sym typeface="Calibri"/>
            </a:endParaRPr>
          </a:p>
        </p:txBody>
      </p:sp>
      <p:sp>
        <p:nvSpPr>
          <p:cNvPr id="100" name="Google Shape;100;p4"/>
          <p:cNvSpPr/>
          <p:nvPr/>
        </p:nvSpPr>
        <p:spPr>
          <a:xfrm>
            <a:off x="548640" y="3611880"/>
            <a:ext cx="11109960" cy="2148840"/>
          </a:xfrm>
          <a:prstGeom prst="roundRect">
            <a:avLst>
              <a:gd fmla="val 3404"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txBox="1"/>
          <p:nvPr/>
        </p:nvSpPr>
        <p:spPr>
          <a:xfrm>
            <a:off x="914400" y="3840480"/>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La consecuencia: el algoritmo hace trampa</a:t>
            </a:r>
            <a:endParaRPr b="0" i="0" sz="1700" u="none" cap="none" strike="noStrike">
              <a:solidFill>
                <a:schemeClr val="dk1"/>
              </a:solidFill>
              <a:latin typeface="Calibri"/>
              <a:ea typeface="Calibri"/>
              <a:cs typeface="Calibri"/>
              <a:sym typeface="Calibri"/>
            </a:endParaRPr>
          </a:p>
        </p:txBody>
      </p:sp>
      <p:sp>
        <p:nvSpPr>
          <p:cNvPr id="102" name="Google Shape;102;p4"/>
          <p:cNvSpPr txBox="1"/>
          <p:nvPr/>
        </p:nvSpPr>
        <p:spPr>
          <a:xfrm>
            <a:off x="914400" y="4251960"/>
            <a:ext cx="594360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Como el fitness suma términos independientes, la forma más fácil de subirlo es repetir la mejor puerta. La selección premia ese comportamiento y la búsqueda converge a programaciones imposibles de ejecutar.</a:t>
            </a:r>
            <a:endParaRPr b="0" i="0" sz="1300" u="none" cap="none" strike="noStrike">
              <a:solidFill>
                <a:schemeClr val="dk1"/>
              </a:solidFill>
              <a:latin typeface="Calibri"/>
              <a:ea typeface="Calibri"/>
              <a:cs typeface="Calibri"/>
              <a:sym typeface="Calibri"/>
            </a:endParaRPr>
          </a:p>
        </p:txBody>
      </p:sp>
      <p:sp>
        <p:nvSpPr>
          <p:cNvPr id="103" name="Google Shape;103;p4"/>
          <p:cNvSpPr txBox="1"/>
          <p:nvPr/>
        </p:nvSpPr>
        <p:spPr>
          <a:xfrm>
            <a:off x="7315200" y="393192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4550"/>
              </a:buClr>
              <a:buSzPts val="4000"/>
              <a:buFont typeface="Cambria"/>
              <a:buNone/>
            </a:pPr>
            <a:r>
              <a:rPr b="1" i="0" lang="en-US" sz="4000" u="none" cap="none" strike="noStrike">
                <a:solidFill>
                  <a:srgbClr val="D64550"/>
                </a:solidFill>
                <a:latin typeface="Cambria"/>
                <a:ea typeface="Cambria"/>
                <a:cs typeface="Cambria"/>
                <a:sym typeface="Cambria"/>
              </a:rPr>
              <a:t>0 %</a:t>
            </a:r>
            <a:endParaRPr b="0" i="0" sz="4000" u="none" cap="none" strike="noStrike">
              <a:solidFill>
                <a:schemeClr val="dk1"/>
              </a:solidFill>
              <a:latin typeface="Calibri"/>
              <a:ea typeface="Calibri"/>
              <a:cs typeface="Calibri"/>
              <a:sym typeface="Calibri"/>
            </a:endParaRPr>
          </a:p>
        </p:txBody>
      </p:sp>
      <p:sp>
        <p:nvSpPr>
          <p:cNvPr id="104" name="Google Shape;104;p4"/>
          <p:cNvSpPr txBox="1"/>
          <p:nvPr/>
        </p:nvSpPr>
        <p:spPr>
          <a:xfrm>
            <a:off x="7315200" y="4590288"/>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corridas con solución ejecutable</a:t>
            </a:r>
            <a:endParaRPr b="0" i="0" sz="1100" u="none" cap="none" strike="noStrike">
              <a:solidFill>
                <a:schemeClr val="dk1"/>
              </a:solidFill>
              <a:latin typeface="Calibri"/>
              <a:ea typeface="Calibri"/>
              <a:cs typeface="Calibri"/>
              <a:sym typeface="Calibri"/>
            </a:endParaRPr>
          </a:p>
        </p:txBody>
      </p:sp>
      <p:sp>
        <p:nvSpPr>
          <p:cNvPr id="105" name="Google Shape;105;p4"/>
          <p:cNvSpPr txBox="1"/>
          <p:nvPr/>
        </p:nvSpPr>
        <p:spPr>
          <a:xfrm>
            <a:off x="9464040" y="393192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4550"/>
              </a:buClr>
              <a:buSzPts val="4000"/>
              <a:buFont typeface="Cambria"/>
              <a:buNone/>
            </a:pPr>
            <a:r>
              <a:rPr b="1" i="0" lang="en-US" sz="4000" u="none" cap="none" strike="noStrike">
                <a:solidFill>
                  <a:srgbClr val="D64550"/>
                </a:solidFill>
                <a:latin typeface="Cambria"/>
                <a:ea typeface="Cambria"/>
                <a:cs typeface="Cambria"/>
                <a:sym typeface="Cambria"/>
              </a:rPr>
              <a:t>2,2</a:t>
            </a:r>
            <a:endParaRPr b="0" i="0" sz="4000" u="none" cap="none" strike="noStrike">
              <a:solidFill>
                <a:schemeClr val="dk1"/>
              </a:solidFill>
              <a:latin typeface="Calibri"/>
              <a:ea typeface="Calibri"/>
              <a:cs typeface="Calibri"/>
              <a:sym typeface="Calibri"/>
            </a:endParaRPr>
          </a:p>
        </p:txBody>
      </p:sp>
      <p:sp>
        <p:nvSpPr>
          <p:cNvPr id="106" name="Google Shape;106;p4"/>
          <p:cNvSpPr txBox="1"/>
          <p:nvPr/>
        </p:nvSpPr>
        <p:spPr>
          <a:xfrm>
            <a:off x="9464040" y="4590288"/>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puertas repetidas por hijo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B46"/>
        </a:solidFill>
      </p:bgPr>
    </p:bg>
    <p:spTree>
      <p:nvGrpSpPr>
        <p:cNvPr id="111" name="Shape 111"/>
        <p:cNvGrpSpPr/>
        <p:nvPr/>
      </p:nvGrpSpPr>
      <p:grpSpPr>
        <a:xfrm>
          <a:off x="0" y="0"/>
          <a:ext cx="0" cy="0"/>
          <a:chOff x="0" y="0"/>
          <a:chExt cx="0" cy="0"/>
        </a:xfrm>
      </p:grpSpPr>
      <p:sp>
        <p:nvSpPr>
          <p:cNvPr id="112" name="Google Shape;112;p5"/>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HIPÓTESIS</a:t>
            </a:r>
            <a:endParaRPr b="0" i="0" sz="1100" u="none" cap="none" strike="noStrike">
              <a:solidFill>
                <a:schemeClr val="dk1"/>
              </a:solidFill>
              <a:latin typeface="Calibri"/>
              <a:ea typeface="Calibri"/>
              <a:cs typeface="Calibri"/>
              <a:sym typeface="Calibri"/>
            </a:endParaRPr>
          </a:p>
        </p:txBody>
      </p:sp>
      <p:sp>
        <p:nvSpPr>
          <p:cNvPr id="113" name="Google Shape;113;p5"/>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Qué esperábamos demostrar</a:t>
            </a:r>
            <a:endParaRPr b="0" i="0" sz="3000" u="none" cap="none" strike="noStrike">
              <a:solidFill>
                <a:schemeClr val="dk1"/>
              </a:solidFill>
              <a:latin typeface="Calibri"/>
              <a:ea typeface="Calibri"/>
              <a:cs typeface="Calibri"/>
              <a:sym typeface="Calibri"/>
            </a:endParaRPr>
          </a:p>
        </p:txBody>
      </p:sp>
      <p:sp>
        <p:nvSpPr>
          <p:cNvPr id="114" name="Google Shape;114;p5"/>
          <p:cNvSpPr/>
          <p:nvPr/>
        </p:nvSpPr>
        <p:spPr>
          <a:xfrm>
            <a:off x="548640" y="1417320"/>
            <a:ext cx="11109960" cy="1280160"/>
          </a:xfrm>
          <a:prstGeom prst="roundRect">
            <a:avLst>
              <a:gd fmla="val 5714"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txBox="1"/>
          <p:nvPr/>
        </p:nvSpPr>
        <p:spPr>
          <a:xfrm>
            <a:off x="914400" y="1691640"/>
            <a:ext cx="914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3000"/>
              <a:buFont typeface="Cambria"/>
              <a:buNone/>
            </a:pPr>
            <a:r>
              <a:rPr b="1" i="0" lang="en-US" sz="3000" u="none" cap="none" strike="noStrike">
                <a:solidFill>
                  <a:srgbClr val="F2A65A"/>
                </a:solidFill>
                <a:latin typeface="Cambria"/>
                <a:ea typeface="Cambria"/>
                <a:cs typeface="Cambria"/>
                <a:sym typeface="Cambria"/>
              </a:rPr>
              <a:t>H1</a:t>
            </a:r>
            <a:endParaRPr b="0" i="0" sz="3000" u="none" cap="none" strike="noStrike">
              <a:solidFill>
                <a:schemeClr val="dk1"/>
              </a:solidFill>
              <a:latin typeface="Calibri"/>
              <a:ea typeface="Calibri"/>
              <a:cs typeface="Calibri"/>
              <a:sym typeface="Calibri"/>
            </a:endParaRPr>
          </a:p>
        </p:txBody>
      </p:sp>
      <p:sp>
        <p:nvSpPr>
          <p:cNvPr id="116" name="Google Shape;116;p5"/>
          <p:cNvSpPr txBox="1"/>
          <p:nvPr/>
        </p:nvSpPr>
        <p:spPr>
          <a:xfrm>
            <a:off x="1920240" y="160020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Heredar la asignación completa (vuelo, puerta) y reparar los conflictos entrega el 100 % de soluciones factibles. El fitness reportado bajará, porque el del código base es inalcanzable.</a:t>
            </a:r>
            <a:endParaRPr b="0" i="0" sz="1400" u="none" cap="none" strike="noStrike">
              <a:solidFill>
                <a:schemeClr val="dk1"/>
              </a:solidFill>
              <a:latin typeface="Calibri"/>
              <a:ea typeface="Calibri"/>
              <a:cs typeface="Calibri"/>
              <a:sym typeface="Calibri"/>
            </a:endParaRPr>
          </a:p>
        </p:txBody>
      </p:sp>
      <p:sp>
        <p:nvSpPr>
          <p:cNvPr id="117" name="Google Shape;117;p5"/>
          <p:cNvSpPr/>
          <p:nvPr/>
        </p:nvSpPr>
        <p:spPr>
          <a:xfrm>
            <a:off x="548640" y="2926080"/>
            <a:ext cx="11109960" cy="1280160"/>
          </a:xfrm>
          <a:prstGeom prst="roundRect">
            <a:avLst>
              <a:gd fmla="val 5714"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txBox="1"/>
          <p:nvPr/>
        </p:nvSpPr>
        <p:spPr>
          <a:xfrm>
            <a:off x="914400" y="3200400"/>
            <a:ext cx="914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3000"/>
              <a:buFont typeface="Cambria"/>
              <a:buNone/>
            </a:pPr>
            <a:r>
              <a:rPr b="1" i="0" lang="en-US" sz="3000" u="none" cap="none" strike="noStrike">
                <a:solidFill>
                  <a:srgbClr val="F2A65A"/>
                </a:solidFill>
                <a:latin typeface="Cambria"/>
                <a:ea typeface="Cambria"/>
                <a:cs typeface="Cambria"/>
                <a:sym typeface="Cambria"/>
              </a:rPr>
              <a:t>H2</a:t>
            </a:r>
            <a:endParaRPr b="0" i="0" sz="3000" u="none" cap="none" strike="noStrike">
              <a:solidFill>
                <a:schemeClr val="dk1"/>
              </a:solidFill>
              <a:latin typeface="Calibri"/>
              <a:ea typeface="Calibri"/>
              <a:cs typeface="Calibri"/>
              <a:sym typeface="Calibri"/>
            </a:endParaRPr>
          </a:p>
        </p:txBody>
      </p:sp>
      <p:sp>
        <p:nvSpPr>
          <p:cNvPr id="119" name="Google Shape;119;p5"/>
          <p:cNvSpPr txBox="1"/>
          <p:nvPr/>
        </p:nvSpPr>
        <p:spPr>
          <a:xfrm>
            <a:off x="1920240" y="310896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Mutar de forma localizada —un solo nivel por evento, vuelos o puertas— sostiene la exploración, reduce el estancamiento y aumenta la frecuencia con que se alcanza el óptimo exacto.</a:t>
            </a:r>
            <a:endParaRPr b="0" i="0" sz="1400" u="none" cap="none" strike="noStrike">
              <a:solidFill>
                <a:schemeClr val="dk1"/>
              </a:solidFill>
              <a:latin typeface="Calibri"/>
              <a:ea typeface="Calibri"/>
              <a:cs typeface="Calibri"/>
              <a:sym typeface="Calibri"/>
            </a:endParaRPr>
          </a:p>
        </p:txBody>
      </p:sp>
      <p:sp>
        <p:nvSpPr>
          <p:cNvPr id="120" name="Google Shape;120;p5"/>
          <p:cNvSpPr/>
          <p:nvPr/>
        </p:nvSpPr>
        <p:spPr>
          <a:xfrm>
            <a:off x="548640" y="4434840"/>
            <a:ext cx="11109960" cy="1280160"/>
          </a:xfrm>
          <a:prstGeom prst="roundRect">
            <a:avLst>
              <a:gd fmla="val 5714"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txBox="1"/>
          <p:nvPr/>
        </p:nvSpPr>
        <p:spPr>
          <a:xfrm>
            <a:off x="914400" y="4709160"/>
            <a:ext cx="914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3000"/>
              <a:buFont typeface="Cambria"/>
              <a:buNone/>
            </a:pPr>
            <a:r>
              <a:rPr b="1" i="0" lang="en-US" sz="3000" u="none" cap="none" strike="noStrike">
                <a:solidFill>
                  <a:srgbClr val="F2A65A"/>
                </a:solidFill>
                <a:latin typeface="Cambria"/>
                <a:ea typeface="Cambria"/>
                <a:cs typeface="Cambria"/>
                <a:sym typeface="Cambria"/>
              </a:rPr>
              <a:t>H3</a:t>
            </a:r>
            <a:endParaRPr b="0" i="0" sz="3000" u="none" cap="none" strike="noStrike">
              <a:solidFill>
                <a:schemeClr val="dk1"/>
              </a:solidFill>
              <a:latin typeface="Calibri"/>
              <a:ea typeface="Calibri"/>
              <a:cs typeface="Calibri"/>
              <a:sym typeface="Calibri"/>
            </a:endParaRPr>
          </a:p>
        </p:txBody>
      </p:sp>
      <p:sp>
        <p:nvSpPr>
          <p:cNvPr id="122" name="Google Shape;122;p5"/>
          <p:cNvSpPr txBox="1"/>
          <p:nvPr/>
        </p:nvSpPr>
        <p:spPr>
          <a:xfrm>
            <a:off x="1920240" y="46177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Optimizar pasajeros y tiempo por separado con NSGA-II expone el compromiso que una única función agregada oculta, y encontrará soluciones que dominan al óptimo mono-objetivo.</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6"/>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REDISEÑO · 1 DE 3</a:t>
            </a:r>
            <a:endParaRPr b="0" i="0" sz="1100" u="none" cap="none" strike="noStrike">
              <a:solidFill>
                <a:schemeClr val="dk1"/>
              </a:solidFill>
              <a:latin typeface="Calibri"/>
              <a:ea typeface="Calibri"/>
              <a:cs typeface="Calibri"/>
              <a:sym typeface="Calibri"/>
            </a:endParaRPr>
          </a:p>
        </p:txBody>
      </p:sp>
      <p:sp>
        <p:nvSpPr>
          <p:cNvPr id="129" name="Google Shape;129;p6"/>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Cambiar qué se hereda</a:t>
            </a:r>
            <a:endParaRPr b="0" i="0" sz="3000" u="none" cap="none" strike="noStrike">
              <a:solidFill>
                <a:schemeClr val="dk1"/>
              </a:solidFill>
              <a:latin typeface="Calibri"/>
              <a:ea typeface="Calibri"/>
              <a:cs typeface="Calibri"/>
              <a:sym typeface="Calibri"/>
            </a:endParaRPr>
          </a:p>
        </p:txBody>
      </p:sp>
      <p:sp>
        <p:nvSpPr>
          <p:cNvPr id="130" name="Google Shape;130;p6"/>
          <p:cNvSpPr/>
          <p:nvPr/>
        </p:nvSpPr>
        <p:spPr>
          <a:xfrm>
            <a:off x="548640" y="1280160"/>
            <a:ext cx="5394960" cy="4480560"/>
          </a:xfrm>
          <a:prstGeom prst="roundRect">
            <a:avLst>
              <a:gd fmla="val 163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txBox="1"/>
          <p:nvPr/>
        </p:nvSpPr>
        <p:spPr>
          <a:xfrm>
            <a:off x="868680" y="150876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4550"/>
              </a:buClr>
              <a:buSzPts val="1400"/>
              <a:buFont typeface="Calibri"/>
              <a:buNone/>
            </a:pPr>
            <a:r>
              <a:rPr b="1" i="0" lang="en-US" sz="1400" u="none" cap="none" strike="noStrike">
                <a:solidFill>
                  <a:srgbClr val="D64550"/>
                </a:solidFill>
                <a:latin typeface="Calibri"/>
                <a:ea typeface="Calibri"/>
                <a:cs typeface="Calibri"/>
                <a:sym typeface="Calibri"/>
              </a:rPr>
              <a:t>ANTES · el gen era la puerta</a:t>
            </a:r>
            <a:endParaRPr b="0" i="0" sz="1400" u="none" cap="none" strike="noStrike">
              <a:solidFill>
                <a:schemeClr val="dk1"/>
              </a:solidFill>
              <a:latin typeface="Calibri"/>
              <a:ea typeface="Calibri"/>
              <a:cs typeface="Calibri"/>
              <a:sym typeface="Calibri"/>
            </a:endParaRPr>
          </a:p>
        </p:txBody>
      </p:sp>
      <p:sp>
        <p:nvSpPr>
          <p:cNvPr id="132" name="Google Shape;132;p6"/>
          <p:cNvSpPr txBox="1"/>
          <p:nvPr/>
        </p:nvSpPr>
        <p:spPr>
          <a:xfrm>
            <a:off x="914400" y="2011680"/>
            <a:ext cx="1005840" cy="411480"/>
          </a:xfrm>
          <a:prstGeom prst="rect">
            <a:avLst/>
          </a:prstGeom>
          <a:solidFill>
            <a:srgbClr val="E4E9EE"/>
          </a:solid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F17</a:t>
            </a:r>
            <a:endParaRPr b="0" i="0" sz="1200" u="none" cap="none" strike="noStrike">
              <a:solidFill>
                <a:schemeClr val="dk1"/>
              </a:solidFill>
              <a:latin typeface="Calibri"/>
              <a:ea typeface="Calibri"/>
              <a:cs typeface="Calibri"/>
              <a:sym typeface="Calibri"/>
            </a:endParaRPr>
          </a:p>
        </p:txBody>
      </p:sp>
      <p:sp>
        <p:nvSpPr>
          <p:cNvPr id="133" name="Google Shape;133;p6"/>
          <p:cNvSpPr txBox="1"/>
          <p:nvPr/>
        </p:nvSpPr>
        <p:spPr>
          <a:xfrm>
            <a:off x="2103120" y="2011680"/>
            <a:ext cx="1005840" cy="411480"/>
          </a:xfrm>
          <a:prstGeom prst="rect">
            <a:avLst/>
          </a:prstGeom>
          <a:solidFill>
            <a:srgbClr val="E4E9EE"/>
          </a:solid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F03</a:t>
            </a:r>
            <a:endParaRPr b="0" i="0" sz="1200" u="none" cap="none" strike="noStrike">
              <a:solidFill>
                <a:schemeClr val="dk1"/>
              </a:solidFill>
              <a:latin typeface="Calibri"/>
              <a:ea typeface="Calibri"/>
              <a:cs typeface="Calibri"/>
              <a:sym typeface="Calibri"/>
            </a:endParaRPr>
          </a:p>
        </p:txBody>
      </p:sp>
      <p:sp>
        <p:nvSpPr>
          <p:cNvPr id="134" name="Google Shape;134;p6"/>
          <p:cNvSpPr txBox="1"/>
          <p:nvPr/>
        </p:nvSpPr>
        <p:spPr>
          <a:xfrm>
            <a:off x="3291840" y="2011680"/>
            <a:ext cx="1005840" cy="411480"/>
          </a:xfrm>
          <a:prstGeom prst="rect">
            <a:avLst/>
          </a:prstGeom>
          <a:solidFill>
            <a:srgbClr val="E4E9EE"/>
          </a:solid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F25</a:t>
            </a:r>
            <a:endParaRPr b="0" i="0" sz="1200" u="none" cap="none" strike="noStrike">
              <a:solidFill>
                <a:schemeClr val="dk1"/>
              </a:solidFill>
              <a:latin typeface="Calibri"/>
              <a:ea typeface="Calibri"/>
              <a:cs typeface="Calibri"/>
              <a:sym typeface="Calibri"/>
            </a:endParaRPr>
          </a:p>
        </p:txBody>
      </p:sp>
      <p:sp>
        <p:nvSpPr>
          <p:cNvPr id="135" name="Google Shape;135;p6"/>
          <p:cNvSpPr txBox="1"/>
          <p:nvPr/>
        </p:nvSpPr>
        <p:spPr>
          <a:xfrm>
            <a:off x="4480560" y="2011680"/>
            <a:ext cx="1005840" cy="411480"/>
          </a:xfrm>
          <a:prstGeom prst="rect">
            <a:avLst/>
          </a:prstGeom>
          <a:solidFill>
            <a:srgbClr val="E4E9EE"/>
          </a:solid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200"/>
              <a:buFont typeface="Calibri"/>
              <a:buNone/>
            </a:pPr>
            <a:r>
              <a:rPr b="0" i="0" lang="en-US" sz="1200" u="none" cap="none" strike="noStrike">
                <a:solidFill>
                  <a:srgbClr val="5A6B7B"/>
                </a:solidFill>
                <a:latin typeface="Calibri"/>
                <a:ea typeface="Calibri"/>
                <a:cs typeface="Calibri"/>
                <a:sym typeface="Calibri"/>
              </a:rPr>
              <a:t>F08</a:t>
            </a:r>
            <a:endParaRPr b="0" i="0" sz="1200" u="none" cap="none" strike="noStrike">
              <a:solidFill>
                <a:schemeClr val="dk1"/>
              </a:solidFill>
              <a:latin typeface="Calibri"/>
              <a:ea typeface="Calibri"/>
              <a:cs typeface="Calibri"/>
              <a:sym typeface="Calibri"/>
            </a:endParaRPr>
          </a:p>
        </p:txBody>
      </p:sp>
      <p:sp>
        <p:nvSpPr>
          <p:cNvPr id="136" name="Google Shape;136;p6"/>
          <p:cNvSpPr txBox="1"/>
          <p:nvPr/>
        </p:nvSpPr>
        <p:spPr>
          <a:xfrm>
            <a:off x="914400" y="2514600"/>
            <a:ext cx="1005840" cy="411480"/>
          </a:xfrm>
          <a:prstGeom prst="rect">
            <a:avLst/>
          </a:prstGeom>
          <a:solidFill>
            <a:srgbClr val="D6455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G4</a:t>
            </a:r>
            <a:endParaRPr b="0" i="0" sz="1200" u="none" cap="none" strike="noStrike">
              <a:solidFill>
                <a:schemeClr val="dk1"/>
              </a:solidFill>
              <a:latin typeface="Calibri"/>
              <a:ea typeface="Calibri"/>
              <a:cs typeface="Calibri"/>
              <a:sym typeface="Calibri"/>
            </a:endParaRPr>
          </a:p>
        </p:txBody>
      </p:sp>
      <p:sp>
        <p:nvSpPr>
          <p:cNvPr id="137" name="Google Shape;137;p6"/>
          <p:cNvSpPr txBox="1"/>
          <p:nvPr/>
        </p:nvSpPr>
        <p:spPr>
          <a:xfrm>
            <a:off x="2103120" y="2514600"/>
            <a:ext cx="1005840" cy="411480"/>
          </a:xfrm>
          <a:prstGeom prst="rect">
            <a:avLst/>
          </a:prstGeom>
          <a:solidFill>
            <a:srgbClr val="D6455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G9</a:t>
            </a:r>
            <a:endParaRPr b="0" i="0" sz="1200" u="none" cap="none" strike="noStrike">
              <a:solidFill>
                <a:schemeClr val="dk1"/>
              </a:solidFill>
              <a:latin typeface="Calibri"/>
              <a:ea typeface="Calibri"/>
              <a:cs typeface="Calibri"/>
              <a:sym typeface="Calibri"/>
            </a:endParaRPr>
          </a:p>
        </p:txBody>
      </p:sp>
      <p:sp>
        <p:nvSpPr>
          <p:cNvPr id="138" name="Google Shape;138;p6"/>
          <p:cNvSpPr txBox="1"/>
          <p:nvPr/>
        </p:nvSpPr>
        <p:spPr>
          <a:xfrm>
            <a:off x="3291840" y="2514600"/>
            <a:ext cx="1005840" cy="411480"/>
          </a:xfrm>
          <a:prstGeom prst="rect">
            <a:avLst/>
          </a:prstGeom>
          <a:solidFill>
            <a:srgbClr val="D6455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G1</a:t>
            </a:r>
            <a:endParaRPr b="0" i="0" sz="1200" u="none" cap="none" strike="noStrike">
              <a:solidFill>
                <a:schemeClr val="dk1"/>
              </a:solidFill>
              <a:latin typeface="Calibri"/>
              <a:ea typeface="Calibri"/>
              <a:cs typeface="Calibri"/>
              <a:sym typeface="Calibri"/>
            </a:endParaRPr>
          </a:p>
        </p:txBody>
      </p:sp>
      <p:sp>
        <p:nvSpPr>
          <p:cNvPr id="139" name="Google Shape;139;p6"/>
          <p:cNvSpPr txBox="1"/>
          <p:nvPr/>
        </p:nvSpPr>
        <p:spPr>
          <a:xfrm>
            <a:off x="4480560" y="2514600"/>
            <a:ext cx="1005840" cy="411480"/>
          </a:xfrm>
          <a:prstGeom prst="rect">
            <a:avLst/>
          </a:prstGeom>
          <a:solidFill>
            <a:srgbClr val="D6455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G6</a:t>
            </a:r>
            <a:endParaRPr b="0" i="0" sz="1200" u="none" cap="none" strike="noStrike">
              <a:solidFill>
                <a:schemeClr val="dk1"/>
              </a:solidFill>
              <a:latin typeface="Calibri"/>
              <a:ea typeface="Calibri"/>
              <a:cs typeface="Calibri"/>
              <a:sym typeface="Calibri"/>
            </a:endParaRPr>
          </a:p>
        </p:txBody>
      </p:sp>
      <p:sp>
        <p:nvSpPr>
          <p:cNvPr id="140" name="Google Shape;140;p6"/>
          <p:cNvSpPr txBox="1"/>
          <p:nvPr/>
        </p:nvSpPr>
        <p:spPr>
          <a:xfrm>
            <a:off x="868680" y="3154680"/>
            <a:ext cx="475488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Solo la fila de puertas se recombina. Los vuelos son un dato fijo heredado del primer padre, así que la decisión de a quién atender queda fuera de la evolución.</a:t>
            </a:r>
            <a:endParaRPr b="0" i="0" sz="1250" u="none" cap="none" strike="noStrike">
              <a:solidFill>
                <a:schemeClr val="dk1"/>
              </a:solidFill>
              <a:latin typeface="Calibri"/>
              <a:ea typeface="Calibri"/>
              <a:cs typeface="Calibri"/>
              <a:sym typeface="Calibri"/>
            </a:endParaRPr>
          </a:p>
        </p:txBody>
      </p:sp>
      <p:sp>
        <p:nvSpPr>
          <p:cNvPr id="141" name="Google Shape;141;p6"/>
          <p:cNvSpPr txBox="1"/>
          <p:nvPr/>
        </p:nvSpPr>
        <p:spPr>
          <a:xfrm>
            <a:off x="868680" y="4709160"/>
            <a:ext cx="475488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64550"/>
              </a:buClr>
              <a:buSzPts val="1250"/>
              <a:buFont typeface="Calibri"/>
              <a:buNone/>
            </a:pPr>
            <a:r>
              <a:rPr b="1" i="0" lang="en-US" sz="1250" u="none" cap="none" strike="noStrike">
                <a:solidFill>
                  <a:srgbClr val="D64550"/>
                </a:solidFill>
                <a:latin typeface="Calibri"/>
                <a:ea typeface="Calibri"/>
                <a:cs typeface="Calibri"/>
                <a:sym typeface="Calibri"/>
              </a:rPr>
              <a:t>Al mezclar dos permutaciones posición por posición, el hijo repite puertas casi siempre.</a:t>
            </a:r>
            <a:endParaRPr b="0" i="0" sz="1250" u="none" cap="none" strike="noStrike">
              <a:solidFill>
                <a:schemeClr val="dk1"/>
              </a:solidFill>
              <a:latin typeface="Calibri"/>
              <a:ea typeface="Calibri"/>
              <a:cs typeface="Calibri"/>
              <a:sym typeface="Calibri"/>
            </a:endParaRPr>
          </a:p>
        </p:txBody>
      </p:sp>
      <p:sp>
        <p:nvSpPr>
          <p:cNvPr id="142" name="Google Shape;142;p6"/>
          <p:cNvSpPr/>
          <p:nvPr/>
        </p:nvSpPr>
        <p:spPr>
          <a:xfrm>
            <a:off x="6263640" y="1280160"/>
            <a:ext cx="5394960" cy="4480560"/>
          </a:xfrm>
          <a:prstGeom prst="roundRect">
            <a:avLst>
              <a:gd fmla="val 1633"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txBox="1"/>
          <p:nvPr/>
        </p:nvSpPr>
        <p:spPr>
          <a:xfrm>
            <a:off x="6583680" y="150876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400"/>
              <a:buFont typeface="Calibri"/>
              <a:buNone/>
            </a:pPr>
            <a:r>
              <a:rPr b="1" i="0" lang="en-US" sz="1400" u="none" cap="none" strike="noStrike">
                <a:solidFill>
                  <a:srgbClr val="F2A65A"/>
                </a:solidFill>
                <a:latin typeface="Calibri"/>
                <a:ea typeface="Calibri"/>
                <a:cs typeface="Calibri"/>
                <a:sym typeface="Calibri"/>
              </a:rPr>
              <a:t>AHORA · el gen es la asignación</a:t>
            </a:r>
            <a:endParaRPr b="0" i="0" sz="1400" u="none" cap="none" strike="noStrike">
              <a:solidFill>
                <a:schemeClr val="dk1"/>
              </a:solidFill>
              <a:latin typeface="Calibri"/>
              <a:ea typeface="Calibri"/>
              <a:cs typeface="Calibri"/>
              <a:sym typeface="Calibri"/>
            </a:endParaRPr>
          </a:p>
        </p:txBody>
      </p:sp>
      <p:sp>
        <p:nvSpPr>
          <p:cNvPr id="144" name="Google Shape;144;p6"/>
          <p:cNvSpPr txBox="1"/>
          <p:nvPr/>
        </p:nvSpPr>
        <p:spPr>
          <a:xfrm>
            <a:off x="6629400" y="2011680"/>
            <a:ext cx="1005840" cy="914400"/>
          </a:xfrm>
          <a:prstGeom prst="rect">
            <a:avLst/>
          </a:prstGeom>
          <a:solidFill>
            <a:srgbClr val="F2A65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F17</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G4</a:t>
            </a:r>
            <a:endParaRPr b="0" i="0" sz="1200" u="none" cap="none" strike="noStrike">
              <a:solidFill>
                <a:schemeClr val="dk1"/>
              </a:solidFill>
              <a:latin typeface="Calibri"/>
              <a:ea typeface="Calibri"/>
              <a:cs typeface="Calibri"/>
              <a:sym typeface="Calibri"/>
            </a:endParaRPr>
          </a:p>
        </p:txBody>
      </p:sp>
      <p:sp>
        <p:nvSpPr>
          <p:cNvPr id="145" name="Google Shape;145;p6"/>
          <p:cNvSpPr txBox="1"/>
          <p:nvPr/>
        </p:nvSpPr>
        <p:spPr>
          <a:xfrm>
            <a:off x="7818120" y="2011680"/>
            <a:ext cx="1005840" cy="914400"/>
          </a:xfrm>
          <a:prstGeom prst="rect">
            <a:avLst/>
          </a:prstGeom>
          <a:solidFill>
            <a:srgbClr val="F2A65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F03</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G9</a:t>
            </a:r>
            <a:endParaRPr b="0" i="0" sz="1200" u="none" cap="none" strike="noStrike">
              <a:solidFill>
                <a:schemeClr val="dk1"/>
              </a:solidFill>
              <a:latin typeface="Calibri"/>
              <a:ea typeface="Calibri"/>
              <a:cs typeface="Calibri"/>
              <a:sym typeface="Calibri"/>
            </a:endParaRPr>
          </a:p>
        </p:txBody>
      </p:sp>
      <p:sp>
        <p:nvSpPr>
          <p:cNvPr id="146" name="Google Shape;146;p6"/>
          <p:cNvSpPr txBox="1"/>
          <p:nvPr/>
        </p:nvSpPr>
        <p:spPr>
          <a:xfrm>
            <a:off x="9006840" y="2011680"/>
            <a:ext cx="1005840" cy="914400"/>
          </a:xfrm>
          <a:prstGeom prst="rect">
            <a:avLst/>
          </a:prstGeom>
          <a:solidFill>
            <a:srgbClr val="F2A65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F25</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G1</a:t>
            </a:r>
            <a:endParaRPr b="0" i="0" sz="1200" u="none" cap="none" strike="noStrike">
              <a:solidFill>
                <a:schemeClr val="dk1"/>
              </a:solidFill>
              <a:latin typeface="Calibri"/>
              <a:ea typeface="Calibri"/>
              <a:cs typeface="Calibri"/>
              <a:sym typeface="Calibri"/>
            </a:endParaRPr>
          </a:p>
        </p:txBody>
      </p:sp>
      <p:sp>
        <p:nvSpPr>
          <p:cNvPr id="147" name="Google Shape;147;p6"/>
          <p:cNvSpPr txBox="1"/>
          <p:nvPr/>
        </p:nvSpPr>
        <p:spPr>
          <a:xfrm>
            <a:off x="10195560" y="2011680"/>
            <a:ext cx="1005840" cy="914400"/>
          </a:xfrm>
          <a:prstGeom prst="rect">
            <a:avLst/>
          </a:prstGeom>
          <a:solidFill>
            <a:srgbClr val="F2A65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F08</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2B46"/>
              </a:buClr>
              <a:buSzPts val="1200"/>
              <a:buFont typeface="Calibri"/>
              <a:buNone/>
            </a:pPr>
            <a:r>
              <a:rPr b="1" i="0" lang="en-US" sz="1200" u="none" cap="none" strike="noStrike">
                <a:solidFill>
                  <a:srgbClr val="0F2B46"/>
                </a:solidFill>
                <a:latin typeface="Calibri"/>
                <a:ea typeface="Calibri"/>
                <a:cs typeface="Calibri"/>
                <a:sym typeface="Calibri"/>
              </a:rPr>
              <a:t>G6</a:t>
            </a:r>
            <a:endParaRPr b="0" i="0" sz="1200" u="none" cap="none" strike="noStrike">
              <a:solidFill>
                <a:schemeClr val="dk1"/>
              </a:solidFill>
              <a:latin typeface="Calibri"/>
              <a:ea typeface="Calibri"/>
              <a:cs typeface="Calibri"/>
              <a:sym typeface="Calibri"/>
            </a:endParaRPr>
          </a:p>
        </p:txBody>
      </p:sp>
      <p:sp>
        <p:nvSpPr>
          <p:cNvPr id="148" name="Google Shape;148;p6"/>
          <p:cNvSpPr txBox="1"/>
          <p:nvPr/>
        </p:nvSpPr>
        <p:spPr>
          <a:xfrm>
            <a:off x="6583680" y="3154680"/>
            <a:ext cx="4754880" cy="11887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Se hereda el par completo. El valor de una decisión no está en “usar la puerta 4”, sino en poner ese vuelo en esa puerta: un vuelo de 54 pasajeros en la puerta 9 rinde 1,06 y uno de 4 pasajeros la desperdicia.</a:t>
            </a:r>
            <a:endParaRPr b="0" i="0" sz="1250" u="none" cap="none" strike="noStrike">
              <a:solidFill>
                <a:schemeClr val="dk1"/>
              </a:solidFill>
              <a:latin typeface="Calibri"/>
              <a:ea typeface="Calibri"/>
              <a:cs typeface="Calibri"/>
              <a:sym typeface="Calibri"/>
            </a:endParaRPr>
          </a:p>
        </p:txBody>
      </p:sp>
      <p:sp>
        <p:nvSpPr>
          <p:cNvPr id="149" name="Google Shape;149;p6"/>
          <p:cNvSpPr txBox="1"/>
          <p:nvPr/>
        </p:nvSpPr>
        <p:spPr>
          <a:xfrm>
            <a:off x="6583680" y="4709160"/>
            <a:ext cx="475488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2A65A"/>
              </a:buClr>
              <a:buSzPts val="1250"/>
              <a:buFont typeface="Calibri"/>
              <a:buNone/>
            </a:pPr>
            <a:r>
              <a:rPr b="1" i="0" lang="en-US" sz="1250" u="none" cap="none" strike="noStrike">
                <a:solidFill>
                  <a:srgbClr val="F2A65A"/>
                </a:solidFill>
                <a:latin typeface="Calibri"/>
                <a:ea typeface="Calibri"/>
                <a:cs typeface="Calibri"/>
                <a:sym typeface="Calibri"/>
              </a:rPr>
              <a:t>Ahora las dos decisiones son heredables, mutables y sujetas a selección.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7"/>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REDISEÑO · 2 DE 3</a:t>
            </a:r>
            <a:endParaRPr b="0" i="0" sz="1100" u="none" cap="none" strike="noStrike">
              <a:solidFill>
                <a:schemeClr val="dk1"/>
              </a:solidFill>
              <a:latin typeface="Calibri"/>
              <a:ea typeface="Calibri"/>
              <a:cs typeface="Calibri"/>
              <a:sym typeface="Calibri"/>
            </a:endParaRPr>
          </a:p>
        </p:txBody>
      </p:sp>
      <p:sp>
        <p:nvSpPr>
          <p:cNvPr id="156" name="Google Shape;156;p7"/>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Reparación en tres fases</a:t>
            </a:r>
            <a:endParaRPr b="0" i="0" sz="3000" u="none" cap="none" strike="noStrike">
              <a:solidFill>
                <a:schemeClr val="dk1"/>
              </a:solidFill>
              <a:latin typeface="Calibri"/>
              <a:ea typeface="Calibri"/>
              <a:cs typeface="Calibri"/>
              <a:sym typeface="Calibri"/>
            </a:endParaRPr>
          </a:p>
        </p:txBody>
      </p:sp>
      <p:sp>
        <p:nvSpPr>
          <p:cNvPr id="157" name="Google Shape;157;p7"/>
          <p:cNvSpPr txBox="1"/>
          <p:nvPr/>
        </p:nvSpPr>
        <p:spPr>
          <a:xfrm>
            <a:off x="548640" y="1188720"/>
            <a:ext cx="111099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733"/>
              </a:buClr>
              <a:buSzPts val="1400"/>
              <a:buFont typeface="Calibri"/>
              <a:buNone/>
            </a:pPr>
            <a:r>
              <a:rPr b="0" i="0" lang="en-US" sz="1400" u="none" cap="none" strike="noStrike">
                <a:solidFill>
                  <a:srgbClr val="1B2733"/>
                </a:solidFill>
                <a:latin typeface="Calibri"/>
                <a:ea typeface="Calibri"/>
                <a:cs typeface="Calibri"/>
                <a:sym typeface="Calibri"/>
              </a:rPr>
              <a:t>Mezclar pares genera conflictos: dos genes que usan la misma puerta, o el mismo vuelo. En vez de rechazar al hijo o penalizarlo, se le repara conservando el máximo de material heredado.</a:t>
            </a:r>
            <a:endParaRPr b="0" i="0" sz="1400" u="none" cap="none" strike="noStrike">
              <a:solidFill>
                <a:schemeClr val="dk1"/>
              </a:solidFill>
              <a:latin typeface="Calibri"/>
              <a:ea typeface="Calibri"/>
              <a:cs typeface="Calibri"/>
              <a:sym typeface="Calibri"/>
            </a:endParaRPr>
          </a:p>
        </p:txBody>
      </p:sp>
      <p:sp>
        <p:nvSpPr>
          <p:cNvPr id="158" name="Google Shape;158;p7"/>
          <p:cNvSpPr/>
          <p:nvPr/>
        </p:nvSpPr>
        <p:spPr>
          <a:xfrm>
            <a:off x="548640" y="1965960"/>
            <a:ext cx="3566160" cy="2468880"/>
          </a:xfrm>
          <a:prstGeom prst="roundRect">
            <a:avLst>
              <a:gd fmla="val 296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822960" y="2194560"/>
            <a:ext cx="457200" cy="4572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txBox="1"/>
          <p:nvPr/>
        </p:nvSpPr>
        <p:spPr>
          <a:xfrm>
            <a:off x="822960" y="21945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61" name="Google Shape;161;p7"/>
          <p:cNvSpPr txBox="1"/>
          <p:nvPr/>
        </p:nvSpPr>
        <p:spPr>
          <a:xfrm>
            <a:off x="822960" y="27432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Herencia directa</a:t>
            </a:r>
            <a:endParaRPr b="0" i="0" sz="1500" u="none" cap="none" strike="noStrike">
              <a:solidFill>
                <a:schemeClr val="dk1"/>
              </a:solidFill>
              <a:latin typeface="Calibri"/>
              <a:ea typeface="Calibri"/>
              <a:cs typeface="Calibri"/>
              <a:sym typeface="Calibri"/>
            </a:endParaRPr>
          </a:p>
        </p:txBody>
      </p:sp>
      <p:sp>
        <p:nvSpPr>
          <p:cNvPr id="162" name="Google Shape;162;p7"/>
          <p:cNvSpPr txBox="1"/>
          <p:nvPr/>
        </p:nvSpPr>
        <p:spPr>
          <a:xfrm>
            <a:off x="822960" y="3108960"/>
            <a:ext cx="30175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Acepta el par heredado si su vuelo y su puerta siguen libres.</a:t>
            </a:r>
            <a:endParaRPr b="0" i="0" sz="1250" u="none" cap="none" strike="noStrike">
              <a:solidFill>
                <a:schemeClr val="dk1"/>
              </a:solidFill>
              <a:latin typeface="Calibri"/>
              <a:ea typeface="Calibri"/>
              <a:cs typeface="Calibri"/>
              <a:sym typeface="Calibri"/>
            </a:endParaRPr>
          </a:p>
        </p:txBody>
      </p:sp>
      <p:sp>
        <p:nvSpPr>
          <p:cNvPr id="163" name="Google Shape;163;p7"/>
          <p:cNvSpPr txBox="1"/>
          <p:nvPr/>
        </p:nvSpPr>
        <p:spPr>
          <a:xfrm>
            <a:off x="822960" y="402336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0" i="1" lang="en-US" sz="1100" u="none" cap="none" strike="noStrike">
                <a:solidFill>
                  <a:srgbClr val="1C7293"/>
                </a:solidFill>
                <a:latin typeface="Calibri"/>
                <a:ea typeface="Calibri"/>
                <a:cs typeface="Calibri"/>
                <a:sym typeface="Calibri"/>
              </a:rPr>
              <a:t>conserva el par completo</a:t>
            </a:r>
            <a:endParaRPr b="0" i="0" sz="1100" u="none" cap="none" strike="noStrike">
              <a:solidFill>
                <a:schemeClr val="dk1"/>
              </a:solidFill>
              <a:latin typeface="Calibri"/>
              <a:ea typeface="Calibri"/>
              <a:cs typeface="Calibri"/>
              <a:sym typeface="Calibri"/>
            </a:endParaRPr>
          </a:p>
        </p:txBody>
      </p:sp>
      <p:sp>
        <p:nvSpPr>
          <p:cNvPr id="164" name="Google Shape;164;p7"/>
          <p:cNvSpPr/>
          <p:nvPr/>
        </p:nvSpPr>
        <p:spPr>
          <a:xfrm>
            <a:off x="4178808" y="3063240"/>
            <a:ext cx="182880" cy="274320"/>
          </a:xfrm>
          <a:prstGeom prst="rightArrow">
            <a:avLst>
              <a:gd fmla="val 50000" name="adj1"/>
              <a:gd fmla="val 50000" name="adj2"/>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4343400" y="1965960"/>
            <a:ext cx="3566160" cy="2468880"/>
          </a:xfrm>
          <a:prstGeom prst="roundRect">
            <a:avLst>
              <a:gd fmla="val 296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4617720" y="2194560"/>
            <a:ext cx="457200" cy="4572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txBox="1"/>
          <p:nvPr/>
        </p:nvSpPr>
        <p:spPr>
          <a:xfrm>
            <a:off x="4617720" y="21945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68" name="Google Shape;168;p7"/>
          <p:cNvSpPr txBox="1"/>
          <p:nvPr/>
        </p:nvSpPr>
        <p:spPr>
          <a:xfrm>
            <a:off x="4617720" y="27432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Segunda oportunidad</a:t>
            </a:r>
            <a:endParaRPr b="0" i="0" sz="1500" u="none" cap="none" strike="noStrike">
              <a:solidFill>
                <a:schemeClr val="dk1"/>
              </a:solidFill>
              <a:latin typeface="Calibri"/>
              <a:ea typeface="Calibri"/>
              <a:cs typeface="Calibri"/>
              <a:sym typeface="Calibri"/>
            </a:endParaRPr>
          </a:p>
        </p:txBody>
      </p:sp>
      <p:sp>
        <p:nvSpPr>
          <p:cNvPr id="169" name="Google Shape;169;p7"/>
          <p:cNvSpPr txBox="1"/>
          <p:nvPr/>
        </p:nvSpPr>
        <p:spPr>
          <a:xfrm>
            <a:off x="4617720" y="3108960"/>
            <a:ext cx="30175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Si hay conflicto, prueba el par que el otro padre tenía en esa posición.</a:t>
            </a:r>
            <a:endParaRPr b="0" i="0" sz="1250" u="none" cap="none" strike="noStrike">
              <a:solidFill>
                <a:schemeClr val="dk1"/>
              </a:solidFill>
              <a:latin typeface="Calibri"/>
              <a:ea typeface="Calibri"/>
              <a:cs typeface="Calibri"/>
              <a:sym typeface="Calibri"/>
            </a:endParaRPr>
          </a:p>
        </p:txBody>
      </p:sp>
      <p:sp>
        <p:nvSpPr>
          <p:cNvPr id="170" name="Google Shape;170;p7"/>
          <p:cNvSpPr txBox="1"/>
          <p:nvPr/>
        </p:nvSpPr>
        <p:spPr>
          <a:xfrm>
            <a:off x="4617720" y="402336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0" i="1" lang="en-US" sz="1100" u="none" cap="none" strike="noStrike">
                <a:solidFill>
                  <a:srgbClr val="1C7293"/>
                </a:solidFill>
                <a:latin typeface="Calibri"/>
                <a:ea typeface="Calibri"/>
                <a:cs typeface="Calibri"/>
                <a:sym typeface="Calibri"/>
              </a:rPr>
              <a:t>conserva un par del otro padre</a:t>
            </a:r>
            <a:endParaRPr b="0" i="0" sz="1100" u="none" cap="none" strike="noStrike">
              <a:solidFill>
                <a:schemeClr val="dk1"/>
              </a:solidFill>
              <a:latin typeface="Calibri"/>
              <a:ea typeface="Calibri"/>
              <a:cs typeface="Calibri"/>
              <a:sym typeface="Calibri"/>
            </a:endParaRPr>
          </a:p>
        </p:txBody>
      </p:sp>
      <p:sp>
        <p:nvSpPr>
          <p:cNvPr id="171" name="Google Shape;171;p7"/>
          <p:cNvSpPr/>
          <p:nvPr/>
        </p:nvSpPr>
        <p:spPr>
          <a:xfrm>
            <a:off x="7973568" y="3063240"/>
            <a:ext cx="182880" cy="274320"/>
          </a:xfrm>
          <a:prstGeom prst="rightArrow">
            <a:avLst>
              <a:gd fmla="val 50000" name="adj1"/>
              <a:gd fmla="val 50000" name="adj2"/>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8138160" y="1965960"/>
            <a:ext cx="3566160" cy="2468880"/>
          </a:xfrm>
          <a:prstGeom prst="roundRect">
            <a:avLst>
              <a:gd fmla="val 2963"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8412480" y="2194560"/>
            <a:ext cx="457200" cy="457200"/>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txBox="1"/>
          <p:nvPr/>
        </p:nvSpPr>
        <p:spPr>
          <a:xfrm>
            <a:off x="8412480" y="21945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75" name="Google Shape;175;p7"/>
          <p:cNvSpPr txBox="1"/>
          <p:nvPr/>
        </p:nvSpPr>
        <p:spPr>
          <a:xfrm>
            <a:off x="8412480" y="27432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Rescate parcial</a:t>
            </a:r>
            <a:endParaRPr b="0" i="0" sz="1500" u="none" cap="none" strike="noStrike">
              <a:solidFill>
                <a:schemeClr val="dk1"/>
              </a:solidFill>
              <a:latin typeface="Calibri"/>
              <a:ea typeface="Calibri"/>
              <a:cs typeface="Calibri"/>
              <a:sym typeface="Calibri"/>
            </a:endParaRPr>
          </a:p>
        </p:txBody>
      </p:sp>
      <p:sp>
        <p:nvSpPr>
          <p:cNvPr id="176" name="Google Shape;176;p7"/>
          <p:cNvSpPr txBox="1"/>
          <p:nvPr/>
        </p:nvSpPr>
        <p:spPr>
          <a:xfrm>
            <a:off x="8412480" y="3108960"/>
            <a:ext cx="30175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Conserva la mitad libre —vuelo o puerta— y completa la otra con un elemento libre al azar.</a:t>
            </a:r>
            <a:endParaRPr b="0" i="0" sz="1250" u="none" cap="none" strike="noStrike">
              <a:solidFill>
                <a:schemeClr val="dk1"/>
              </a:solidFill>
              <a:latin typeface="Calibri"/>
              <a:ea typeface="Calibri"/>
              <a:cs typeface="Calibri"/>
              <a:sym typeface="Calibri"/>
            </a:endParaRPr>
          </a:p>
        </p:txBody>
      </p:sp>
      <p:sp>
        <p:nvSpPr>
          <p:cNvPr id="177" name="Google Shape;177;p7"/>
          <p:cNvSpPr txBox="1"/>
          <p:nvPr/>
        </p:nvSpPr>
        <p:spPr>
          <a:xfrm>
            <a:off x="8412480" y="402336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0" i="1" lang="en-US" sz="1100" u="none" cap="none" strike="noStrike">
                <a:solidFill>
                  <a:srgbClr val="F2A65A"/>
                </a:solidFill>
                <a:latin typeface="Calibri"/>
                <a:ea typeface="Calibri"/>
                <a:cs typeface="Calibri"/>
                <a:sym typeface="Calibri"/>
              </a:rPr>
              <a:t>media asignación + diversidad</a:t>
            </a:r>
            <a:endParaRPr b="0" i="0" sz="1100" u="none" cap="none" strike="noStrike">
              <a:solidFill>
                <a:schemeClr val="dk1"/>
              </a:solidFill>
              <a:latin typeface="Calibri"/>
              <a:ea typeface="Calibri"/>
              <a:cs typeface="Calibri"/>
              <a:sym typeface="Calibri"/>
            </a:endParaRPr>
          </a:p>
        </p:txBody>
      </p:sp>
      <p:sp>
        <p:nvSpPr>
          <p:cNvPr id="178" name="Google Shape;178;p7"/>
          <p:cNvSpPr/>
          <p:nvPr/>
        </p:nvSpPr>
        <p:spPr>
          <a:xfrm>
            <a:off x="548640" y="4709160"/>
            <a:ext cx="11109960" cy="1051560"/>
          </a:xfrm>
          <a:prstGeom prst="roundRect">
            <a:avLst>
              <a:gd fmla="val 6957"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txBox="1"/>
          <p:nvPr/>
        </p:nvSpPr>
        <p:spPr>
          <a:xfrm>
            <a:off x="914400" y="4709160"/>
            <a:ext cx="10378440" cy="10515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E9E6B"/>
              </a:buClr>
              <a:buSzPts val="1300"/>
              <a:buFont typeface="Calibri"/>
              <a:buNone/>
            </a:pPr>
            <a:r>
              <a:rPr b="1" i="0" lang="en-US" sz="1300" u="none" cap="none" strike="noStrike">
                <a:solidFill>
                  <a:srgbClr val="2E9E6B"/>
                </a:solidFill>
                <a:latin typeface="Calibri"/>
                <a:ea typeface="Calibri"/>
                <a:cs typeface="Calibri"/>
                <a:sym typeface="Calibri"/>
              </a:rPr>
              <a:t>La fase 3 siempre puede completarse</a:t>
            </a:r>
            <a:r>
              <a:rPr b="0" i="0" lang="en-US" sz="1300" u="none" cap="none" strike="noStrike">
                <a:solidFill>
                  <a:srgbClr val="1B2733"/>
                </a:solidFill>
                <a:latin typeface="Calibri"/>
                <a:ea typeface="Calibri"/>
                <a:cs typeface="Calibri"/>
                <a:sym typeface="Calibri"/>
              </a:rPr>
              <a:t>  —como K = mín(vuelos, puertas), nunca se agotan los elementos libres—, así que el hijo es factible por construcción: no hace falta verificar nada después. Además inyecta vuelos nuevos, de modo que el cruzamiento también explora “a quién atender”.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8"/>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REDISEÑO · 3 DE 3</a:t>
            </a:r>
            <a:endParaRPr b="0" i="0" sz="1100" u="none" cap="none" strike="noStrike">
              <a:solidFill>
                <a:schemeClr val="dk1"/>
              </a:solidFill>
              <a:latin typeface="Calibri"/>
              <a:ea typeface="Calibri"/>
              <a:cs typeface="Calibri"/>
              <a:sym typeface="Calibri"/>
            </a:endParaRPr>
          </a:p>
        </p:txBody>
      </p:sp>
      <p:sp>
        <p:nvSpPr>
          <p:cNvPr id="186" name="Google Shape;186;p8"/>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Mutación en los dos niveles de decisión</a:t>
            </a:r>
            <a:endParaRPr b="0" i="0" sz="3000" u="none" cap="none" strike="noStrike">
              <a:solidFill>
                <a:schemeClr val="dk1"/>
              </a:solidFill>
              <a:latin typeface="Calibri"/>
              <a:ea typeface="Calibri"/>
              <a:cs typeface="Calibri"/>
              <a:sym typeface="Calibri"/>
            </a:endParaRPr>
          </a:p>
        </p:txBody>
      </p:sp>
      <p:sp>
        <p:nvSpPr>
          <p:cNvPr id="187" name="Google Shape;187;p8"/>
          <p:cNvSpPr/>
          <p:nvPr/>
        </p:nvSpPr>
        <p:spPr>
          <a:xfrm>
            <a:off x="548640" y="1325880"/>
            <a:ext cx="5394960" cy="2286000"/>
          </a:xfrm>
          <a:prstGeom prst="roundRect">
            <a:avLst>
              <a:gd fmla="val 3200"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868680" y="1600200"/>
            <a:ext cx="457200" cy="4572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txBox="1"/>
          <p:nvPr/>
        </p:nvSpPr>
        <p:spPr>
          <a:xfrm>
            <a:off x="868680" y="1600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Q</a:t>
            </a:r>
            <a:endParaRPr b="0" i="0" sz="1100" u="none" cap="none" strike="noStrike">
              <a:solidFill>
                <a:schemeClr val="dk1"/>
              </a:solidFill>
              <a:latin typeface="Calibri"/>
              <a:ea typeface="Calibri"/>
              <a:cs typeface="Calibri"/>
              <a:sym typeface="Calibri"/>
            </a:endParaRPr>
          </a:p>
        </p:txBody>
      </p:sp>
      <p:sp>
        <p:nvSpPr>
          <p:cNvPr id="190" name="Google Shape;190;p8"/>
          <p:cNvSpPr txBox="1"/>
          <p:nvPr/>
        </p:nvSpPr>
        <p:spPr>
          <a:xfrm>
            <a:off x="1463040" y="1627632"/>
            <a:ext cx="4206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mutate_flight  ·  ¿QUÉ atender?</a:t>
            </a:r>
            <a:endParaRPr b="0" i="0" sz="1500" u="none" cap="none" strike="noStrike">
              <a:solidFill>
                <a:schemeClr val="dk1"/>
              </a:solidFill>
              <a:latin typeface="Calibri"/>
              <a:ea typeface="Calibri"/>
              <a:cs typeface="Calibri"/>
              <a:sym typeface="Calibri"/>
            </a:endParaRPr>
          </a:p>
        </p:txBody>
      </p:sp>
      <p:sp>
        <p:nvSpPr>
          <p:cNvPr id="191" name="Google Shape;191;p8"/>
          <p:cNvSpPr txBox="1"/>
          <p:nvPr/>
        </p:nvSpPr>
        <p:spPr>
          <a:xfrm>
            <a:off x="868680" y="2194560"/>
            <a:ext cx="4754880" cy="11887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B7B"/>
              </a:buClr>
              <a:buSzPts val="1300"/>
              <a:buFont typeface="Calibri"/>
              <a:buNone/>
            </a:pPr>
            <a:r>
              <a:rPr b="0" i="0" lang="en-US" sz="1300" u="none" cap="none" strike="noStrike">
                <a:solidFill>
                  <a:srgbClr val="5A6B7B"/>
                </a:solidFill>
                <a:latin typeface="Calibri"/>
                <a:ea typeface="Calibri"/>
                <a:cs typeface="Calibri"/>
                <a:sym typeface="Calibri"/>
              </a:rPr>
              <a:t>Saca un vuelo de la programación y mete uno de los 20 que quedaron fuera, conservando su puerta. Es el operador que el código base no tenía.</a:t>
            </a:r>
            <a:endParaRPr b="0" i="0" sz="1300" u="none" cap="none" strike="noStrike">
              <a:solidFill>
                <a:schemeClr val="dk1"/>
              </a:solidFill>
              <a:latin typeface="Calibri"/>
              <a:ea typeface="Calibri"/>
              <a:cs typeface="Calibri"/>
              <a:sym typeface="Calibri"/>
            </a:endParaRPr>
          </a:p>
        </p:txBody>
      </p:sp>
      <p:sp>
        <p:nvSpPr>
          <p:cNvPr id="192" name="Google Shape;192;p8"/>
          <p:cNvSpPr/>
          <p:nvPr/>
        </p:nvSpPr>
        <p:spPr>
          <a:xfrm>
            <a:off x="6263640" y="1325880"/>
            <a:ext cx="5394960" cy="2286000"/>
          </a:xfrm>
          <a:prstGeom prst="roundRect">
            <a:avLst>
              <a:gd fmla="val 3200"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6583680" y="1600200"/>
            <a:ext cx="457200" cy="457200"/>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txBox="1"/>
          <p:nvPr/>
        </p:nvSpPr>
        <p:spPr>
          <a:xfrm>
            <a:off x="6583680" y="1600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D</a:t>
            </a:r>
            <a:endParaRPr b="0" i="0" sz="1100" u="none" cap="none" strike="noStrike">
              <a:solidFill>
                <a:schemeClr val="dk1"/>
              </a:solidFill>
              <a:latin typeface="Calibri"/>
              <a:ea typeface="Calibri"/>
              <a:cs typeface="Calibri"/>
              <a:sym typeface="Calibri"/>
            </a:endParaRPr>
          </a:p>
        </p:txBody>
      </p:sp>
      <p:sp>
        <p:nvSpPr>
          <p:cNvPr id="195" name="Google Shape;195;p8"/>
          <p:cNvSpPr txBox="1"/>
          <p:nvPr/>
        </p:nvSpPr>
        <p:spPr>
          <a:xfrm>
            <a:off x="7178040" y="1627632"/>
            <a:ext cx="4206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mutate_gate  ·  ¿DÓNDE atender?</a:t>
            </a:r>
            <a:endParaRPr b="0" i="0" sz="1500" u="none" cap="none" strike="noStrike">
              <a:solidFill>
                <a:schemeClr val="dk1"/>
              </a:solidFill>
              <a:latin typeface="Calibri"/>
              <a:ea typeface="Calibri"/>
              <a:cs typeface="Calibri"/>
              <a:sym typeface="Calibri"/>
            </a:endParaRPr>
          </a:p>
        </p:txBody>
      </p:sp>
      <p:sp>
        <p:nvSpPr>
          <p:cNvPr id="196" name="Google Shape;196;p8"/>
          <p:cNvSpPr txBox="1"/>
          <p:nvPr/>
        </p:nvSpPr>
        <p:spPr>
          <a:xfrm>
            <a:off x="6583680" y="2194560"/>
            <a:ext cx="4754880" cy="11887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B7B"/>
              </a:buClr>
              <a:buSzPts val="1300"/>
              <a:buFont typeface="Calibri"/>
              <a:buNone/>
            </a:pPr>
            <a:r>
              <a:rPr b="0" i="0" lang="en-US" sz="1300" u="none" cap="none" strike="noStrike">
                <a:solidFill>
                  <a:srgbClr val="5A6B7B"/>
                </a:solidFill>
                <a:latin typeface="Calibri"/>
                <a:ea typeface="Calibri"/>
                <a:cs typeface="Calibri"/>
                <a:sym typeface="Calibri"/>
              </a:rPr>
              <a:t>Si hay puertas libres, reasigna una libre. Si todas están ocupadas —K = 10 = número de puertas—, intercambia las puertas de dos asignaciones.</a:t>
            </a:r>
            <a:endParaRPr b="0" i="0" sz="1300" u="none" cap="none" strike="noStrike">
              <a:solidFill>
                <a:schemeClr val="dk1"/>
              </a:solidFill>
              <a:latin typeface="Calibri"/>
              <a:ea typeface="Calibri"/>
              <a:cs typeface="Calibri"/>
              <a:sym typeface="Calibri"/>
            </a:endParaRPr>
          </a:p>
        </p:txBody>
      </p:sp>
      <p:sp>
        <p:nvSpPr>
          <p:cNvPr id="197" name="Google Shape;197;p8"/>
          <p:cNvSpPr/>
          <p:nvPr/>
        </p:nvSpPr>
        <p:spPr>
          <a:xfrm>
            <a:off x="548640" y="3794760"/>
            <a:ext cx="11109960" cy="1965960"/>
          </a:xfrm>
          <a:prstGeom prst="roundRect">
            <a:avLst>
              <a:gd fmla="val 3721"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txBox="1"/>
          <p:nvPr/>
        </p:nvSpPr>
        <p:spPr>
          <a:xfrm>
            <a:off x="914400" y="4023360"/>
            <a:ext cx="5669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mutate_flight_and_gate  ·  mutate_flight_or_gate</a:t>
            </a:r>
            <a:endParaRPr b="0" i="0" sz="1600" u="none" cap="none" strike="noStrike">
              <a:solidFill>
                <a:schemeClr val="dk1"/>
              </a:solidFill>
              <a:latin typeface="Calibri"/>
              <a:ea typeface="Calibri"/>
              <a:cs typeface="Calibri"/>
              <a:sym typeface="Calibri"/>
            </a:endParaRPr>
          </a:p>
        </p:txBody>
      </p:sp>
      <p:sp>
        <p:nvSpPr>
          <p:cNvPr id="199" name="Google Shape;199;p8"/>
          <p:cNvSpPr txBox="1"/>
          <p:nvPr/>
        </p:nvSpPr>
        <p:spPr>
          <a:xfrm>
            <a:off x="914400" y="4434840"/>
            <a:ext cx="566928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and aplica las dos mutaciones en cadena; or elige una de las dos al azar en cada evento. Todos preservan la factibilidad por diseño y no necesitan reparación posterior. La variante or, de perturbación más localizada, es la que gana en los experimentos.</a:t>
            </a:r>
            <a:endParaRPr b="0" i="0" sz="1300" u="none" cap="none" strike="noStrike">
              <a:solidFill>
                <a:schemeClr val="dk1"/>
              </a:solidFill>
              <a:latin typeface="Calibri"/>
              <a:ea typeface="Calibri"/>
              <a:cs typeface="Calibri"/>
              <a:sym typeface="Calibri"/>
            </a:endParaRPr>
          </a:p>
        </p:txBody>
      </p:sp>
      <p:sp>
        <p:nvSpPr>
          <p:cNvPr id="200" name="Google Shape;200;p8"/>
          <p:cNvSpPr txBox="1"/>
          <p:nvPr/>
        </p:nvSpPr>
        <p:spPr>
          <a:xfrm>
            <a:off x="7132320" y="4114800"/>
            <a:ext cx="21031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6B"/>
              </a:buClr>
              <a:buSzPts val="3400"/>
              <a:buFont typeface="Cambria"/>
              <a:buNone/>
            </a:pPr>
            <a:r>
              <a:rPr b="1" i="0" lang="en-US" sz="3400" u="none" cap="none" strike="noStrike">
                <a:solidFill>
                  <a:srgbClr val="2E9E6B"/>
                </a:solidFill>
                <a:latin typeface="Cambria"/>
                <a:ea typeface="Cambria"/>
                <a:cs typeface="Cambria"/>
                <a:sym typeface="Cambria"/>
              </a:rPr>
              <a:t>100 %</a:t>
            </a:r>
            <a:endParaRPr b="0" i="0" sz="3400" u="none" cap="none" strike="noStrike">
              <a:solidFill>
                <a:schemeClr val="dk1"/>
              </a:solidFill>
              <a:latin typeface="Calibri"/>
              <a:ea typeface="Calibri"/>
              <a:cs typeface="Calibri"/>
              <a:sym typeface="Calibri"/>
            </a:endParaRPr>
          </a:p>
        </p:txBody>
      </p:sp>
      <p:sp>
        <p:nvSpPr>
          <p:cNvPr id="201" name="Google Shape;201;p8"/>
          <p:cNvSpPr txBox="1"/>
          <p:nvPr/>
        </p:nvSpPr>
        <p:spPr>
          <a:xfrm>
            <a:off x="7132320" y="4773168"/>
            <a:ext cx="210312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hijos válidos, siempre</a:t>
            </a:r>
            <a:endParaRPr b="0" i="0" sz="1100" u="none" cap="none" strike="noStrike">
              <a:solidFill>
                <a:schemeClr val="dk1"/>
              </a:solidFill>
              <a:latin typeface="Calibri"/>
              <a:ea typeface="Calibri"/>
              <a:cs typeface="Calibri"/>
              <a:sym typeface="Calibri"/>
            </a:endParaRPr>
          </a:p>
        </p:txBody>
      </p:sp>
      <p:sp>
        <p:nvSpPr>
          <p:cNvPr id="202" name="Google Shape;202;p8"/>
          <p:cNvSpPr txBox="1"/>
          <p:nvPr/>
        </p:nvSpPr>
        <p:spPr>
          <a:xfrm>
            <a:off x="9418320" y="4114800"/>
            <a:ext cx="21031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3000"/>
              <a:buFont typeface="Cambria"/>
              <a:buNone/>
            </a:pPr>
            <a:r>
              <a:rPr b="1" i="0" lang="en-US" sz="3000" u="none" cap="none" strike="noStrike">
                <a:solidFill>
                  <a:srgbClr val="F2A65A"/>
                </a:solidFill>
                <a:latin typeface="Cambria"/>
                <a:ea typeface="Cambria"/>
                <a:cs typeface="Cambria"/>
                <a:sym typeface="Cambria"/>
              </a:rPr>
              <a:t>2 niveles</a:t>
            </a:r>
            <a:endParaRPr b="0" i="0" sz="3000" u="none" cap="none" strike="noStrike">
              <a:solidFill>
                <a:schemeClr val="dk1"/>
              </a:solidFill>
              <a:latin typeface="Calibri"/>
              <a:ea typeface="Calibri"/>
              <a:cs typeface="Calibri"/>
              <a:sym typeface="Calibri"/>
            </a:endParaRPr>
          </a:p>
        </p:txBody>
      </p:sp>
      <p:sp>
        <p:nvSpPr>
          <p:cNvPr id="203" name="Google Shape;203;p8"/>
          <p:cNvSpPr txBox="1"/>
          <p:nvPr/>
        </p:nvSpPr>
        <p:spPr>
          <a:xfrm>
            <a:off x="9418320" y="4773168"/>
            <a:ext cx="210312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de decisión mutados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9"/>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EXPERIMENTACIÓN</a:t>
            </a:r>
            <a:endParaRPr b="0" i="0" sz="1100" u="none" cap="none" strike="noStrike">
              <a:solidFill>
                <a:schemeClr val="dk1"/>
              </a:solidFill>
              <a:latin typeface="Calibri"/>
              <a:ea typeface="Calibri"/>
              <a:cs typeface="Calibri"/>
              <a:sym typeface="Calibri"/>
            </a:endParaRPr>
          </a:p>
        </p:txBody>
      </p:sp>
      <p:sp>
        <p:nvSpPr>
          <p:cNvPr id="210" name="Google Shape;210;p9"/>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Diseño experimental</a:t>
            </a:r>
            <a:endParaRPr b="0" i="0" sz="3000" u="none" cap="none" strike="noStrike">
              <a:solidFill>
                <a:schemeClr val="dk1"/>
              </a:solidFill>
              <a:latin typeface="Calibri"/>
              <a:ea typeface="Calibri"/>
              <a:cs typeface="Calibri"/>
              <a:sym typeface="Calibri"/>
            </a:endParaRPr>
          </a:p>
        </p:txBody>
      </p:sp>
      <p:sp>
        <p:nvSpPr>
          <p:cNvPr id="211" name="Google Shape;211;p9"/>
          <p:cNvSpPr/>
          <p:nvPr/>
        </p:nvSpPr>
        <p:spPr>
          <a:xfrm>
            <a:off x="548640" y="1280160"/>
            <a:ext cx="5394960" cy="4480560"/>
          </a:xfrm>
          <a:prstGeom prst="roundRect">
            <a:avLst>
              <a:gd fmla="val 163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txBox="1"/>
          <p:nvPr/>
        </p:nvSpPr>
        <p:spPr>
          <a:xfrm>
            <a:off x="868680" y="150876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600"/>
              <a:buFont typeface="Cambria"/>
              <a:buNone/>
            </a:pPr>
            <a:r>
              <a:rPr b="1" i="0" lang="en-US" sz="1600" u="none" cap="none" strike="noStrike">
                <a:solidFill>
                  <a:srgbClr val="1C7293"/>
                </a:solidFill>
                <a:latin typeface="Cambria"/>
                <a:ea typeface="Cambria"/>
                <a:cs typeface="Cambria"/>
                <a:sym typeface="Cambria"/>
              </a:rPr>
              <a:t>Setup</a:t>
            </a:r>
            <a:endParaRPr b="0" i="0" sz="1600" u="none" cap="none" strike="noStrike">
              <a:solidFill>
                <a:schemeClr val="dk1"/>
              </a:solidFill>
              <a:latin typeface="Calibri"/>
              <a:ea typeface="Calibri"/>
              <a:cs typeface="Calibri"/>
              <a:sym typeface="Calibri"/>
            </a:endParaRPr>
          </a:p>
        </p:txBody>
      </p:sp>
      <p:sp>
        <p:nvSpPr>
          <p:cNvPr id="213" name="Google Shape;213;p9"/>
          <p:cNvSpPr txBox="1"/>
          <p:nvPr/>
        </p:nvSpPr>
        <p:spPr>
          <a:xfrm>
            <a:off x="868680" y="1920240"/>
            <a:ext cx="4754880" cy="3657600"/>
          </a:xfrm>
          <a:prstGeom prst="rect">
            <a:avLst/>
          </a:prstGeom>
          <a:noFill/>
          <a:ln>
            <a:noFill/>
          </a:ln>
        </p:spPr>
        <p:txBody>
          <a:bodyPr anchorCtr="0" anchor="t" bIns="0" lIns="0" spcFirstLastPara="1" rIns="0" wrap="square" tIns="0">
            <a:noAutofit/>
          </a:bodyPr>
          <a:lstStyle/>
          <a:p>
            <a:pPr indent="-177800" lvl="0" marL="177800" marR="0" rtl="0" algn="l">
              <a:lnSpc>
                <a:spcPct val="105000"/>
              </a:lnSpc>
              <a:spcBef>
                <a:spcPts val="0"/>
              </a:spcBef>
              <a:spcAft>
                <a:spcPts val="0"/>
              </a:spcAft>
              <a:buClr>
                <a:srgbClr val="1B2733"/>
              </a:buClr>
              <a:buSzPts val="1300"/>
              <a:buFont typeface="Calibri"/>
              <a:buChar char="•"/>
            </a:pPr>
            <a:r>
              <a:rPr b="0" i="0" lang="en-US" sz="1300" u="none" cap="none" strike="noStrike">
                <a:solidFill>
                  <a:srgbClr val="1B2733"/>
                </a:solidFill>
                <a:latin typeface="Calibri"/>
                <a:ea typeface="Calibri"/>
                <a:cs typeface="Calibri"/>
                <a:sym typeface="Calibri"/>
              </a:rPr>
              <a:t>Instancia fija: 30 vuelos, 10 puertas y 1087 pasajeros, semilla 0. La misma en todos los experimentos.</a:t>
            </a:r>
            <a:endParaRPr b="0" i="0" sz="130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300"/>
              <a:buFont typeface="Calibri"/>
              <a:buChar char="•"/>
            </a:pPr>
            <a:r>
              <a:rPr b="0" i="0" lang="en-US" sz="1300" u="none" cap="none" strike="noStrike">
                <a:solidFill>
                  <a:srgbClr val="1B2733"/>
                </a:solidFill>
                <a:latin typeface="Calibri"/>
                <a:ea typeface="Calibri"/>
                <a:cs typeface="Calibri"/>
                <a:sym typeface="Calibri"/>
              </a:rPr>
              <a:t>Población de 50 individuos, 100 generaciones, ruleta y reemplazo elitista por ranking.</a:t>
            </a:r>
            <a:endParaRPr b="0" i="0" sz="130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300"/>
              <a:buFont typeface="Calibri"/>
              <a:buChar char="•"/>
            </a:pPr>
            <a:r>
              <a:rPr b="0" i="0" lang="en-US" sz="1300" u="none" cap="none" strike="noStrike">
                <a:solidFill>
                  <a:srgbClr val="1B2733"/>
                </a:solidFill>
                <a:latin typeface="Calibri"/>
                <a:ea typeface="Calibri"/>
                <a:cs typeface="Calibri"/>
                <a:sym typeface="Calibri"/>
              </a:rPr>
              <a:t>10 corridas por configuración; la corrida r usa la semilla 1000 + r en todas ellas (diseño pareado).</a:t>
            </a:r>
            <a:endParaRPr b="0" i="0" sz="130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300"/>
              <a:buFont typeface="Calibri"/>
              <a:buChar char="•"/>
            </a:pPr>
            <a:r>
              <a:rPr b="0" i="0" lang="en-US" sz="1300" u="none" cap="none" strike="noStrike">
                <a:solidFill>
                  <a:srgbClr val="1B2733"/>
                </a:solidFill>
                <a:latin typeface="Calibri"/>
                <a:ea typeface="Calibri"/>
                <a:cs typeface="Calibri"/>
                <a:sym typeface="Calibri"/>
              </a:rPr>
              <a:t>NSGA-II: 50 individuos, 100 generaciones, 5 corridas.</a:t>
            </a:r>
            <a:endParaRPr b="0" i="0" sz="130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300"/>
              <a:buFont typeface="Calibri"/>
              <a:buChar char="•"/>
            </a:pPr>
            <a:r>
              <a:rPr b="0" i="0" lang="en-US" sz="1300" u="none" cap="none" strike="noStrike">
                <a:solidFill>
                  <a:srgbClr val="1B2733"/>
                </a:solidFill>
                <a:latin typeface="Calibri"/>
                <a:ea typeface="Calibri"/>
                <a:cs typeface="Calibri"/>
                <a:sym typeface="Calibri"/>
              </a:rPr>
              <a:t>Prueba de permutación pareada exacta (1024 cambios de signo) en Python puro: no asume normalidad.</a:t>
            </a:r>
            <a:endParaRPr b="0" i="0" sz="1300" u="none" cap="none" strike="noStrike">
              <a:solidFill>
                <a:schemeClr val="dk1"/>
              </a:solidFill>
              <a:latin typeface="Calibri"/>
              <a:ea typeface="Calibri"/>
              <a:cs typeface="Calibri"/>
              <a:sym typeface="Calibri"/>
            </a:endParaRPr>
          </a:p>
        </p:txBody>
      </p:sp>
      <p:sp>
        <p:nvSpPr>
          <p:cNvPr id="214" name="Google Shape;214;p9"/>
          <p:cNvSpPr/>
          <p:nvPr/>
        </p:nvSpPr>
        <p:spPr>
          <a:xfrm>
            <a:off x="6263640" y="1280160"/>
            <a:ext cx="5394960" cy="4480560"/>
          </a:xfrm>
          <a:prstGeom prst="roundRect">
            <a:avLst>
              <a:gd fmla="val 1633"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txBox="1"/>
          <p:nvPr/>
        </p:nvSpPr>
        <p:spPr>
          <a:xfrm>
            <a:off x="6583680" y="150876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600"/>
              <a:buFont typeface="Cambria"/>
              <a:buNone/>
            </a:pPr>
            <a:r>
              <a:rPr b="1" i="0" lang="en-US" sz="1600" u="none" cap="none" strike="noStrike">
                <a:solidFill>
                  <a:srgbClr val="F2A65A"/>
                </a:solidFill>
                <a:latin typeface="Cambria"/>
                <a:ea typeface="Cambria"/>
                <a:cs typeface="Cambria"/>
                <a:sym typeface="Cambria"/>
              </a:rPr>
              <a:t>Métricas</a:t>
            </a:r>
            <a:endParaRPr b="0" i="0" sz="1600" u="none" cap="none" strike="noStrike">
              <a:solidFill>
                <a:schemeClr val="dk1"/>
              </a:solidFill>
              <a:latin typeface="Calibri"/>
              <a:ea typeface="Calibri"/>
              <a:cs typeface="Calibri"/>
              <a:sym typeface="Calibri"/>
            </a:endParaRPr>
          </a:p>
        </p:txBody>
      </p:sp>
      <p:sp>
        <p:nvSpPr>
          <p:cNvPr id="216" name="Google Shape;216;p9"/>
          <p:cNvSpPr txBox="1"/>
          <p:nvPr/>
        </p:nvSpPr>
        <p:spPr>
          <a:xfrm>
            <a:off x="6583680" y="1965960"/>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Validez</a:t>
            </a:r>
            <a:endParaRPr b="0" i="0" sz="1300" u="none" cap="none" strike="noStrike">
              <a:solidFill>
                <a:schemeClr val="dk1"/>
              </a:solidFill>
              <a:latin typeface="Calibri"/>
              <a:ea typeface="Calibri"/>
              <a:cs typeface="Calibri"/>
              <a:sym typeface="Calibri"/>
            </a:endParaRPr>
          </a:p>
        </p:txBody>
      </p:sp>
      <p:sp>
        <p:nvSpPr>
          <p:cNvPr id="217" name="Google Shape;217;p9"/>
          <p:cNvSpPr txBox="1"/>
          <p:nvPr/>
        </p:nvSpPr>
        <p:spPr>
          <a:xfrm>
            <a:off x="6583680" y="2221992"/>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¿el mejor individuo es ejecutable? — restricción dura</a:t>
            </a:r>
            <a:endParaRPr b="0" i="0" sz="1150" u="none" cap="none" strike="noStrike">
              <a:solidFill>
                <a:schemeClr val="dk1"/>
              </a:solidFill>
              <a:latin typeface="Calibri"/>
              <a:ea typeface="Calibri"/>
              <a:cs typeface="Calibri"/>
              <a:sym typeface="Calibri"/>
            </a:endParaRPr>
          </a:p>
        </p:txBody>
      </p:sp>
      <p:sp>
        <p:nvSpPr>
          <p:cNvPr id="218" name="Google Shape;218;p9"/>
          <p:cNvSpPr txBox="1"/>
          <p:nvPr/>
        </p:nvSpPr>
        <p:spPr>
          <a:xfrm>
            <a:off x="6583680" y="2697480"/>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Mejor fitness</a:t>
            </a:r>
            <a:endParaRPr b="0" i="0" sz="1300" u="none" cap="none" strike="noStrike">
              <a:solidFill>
                <a:schemeClr val="dk1"/>
              </a:solidFill>
              <a:latin typeface="Calibri"/>
              <a:ea typeface="Calibri"/>
              <a:cs typeface="Calibri"/>
              <a:sym typeface="Calibri"/>
            </a:endParaRPr>
          </a:p>
        </p:txBody>
      </p:sp>
      <p:sp>
        <p:nvSpPr>
          <p:cNvPr id="219" name="Google Shape;219;p9"/>
          <p:cNvSpPr txBox="1"/>
          <p:nvPr/>
        </p:nvSpPr>
        <p:spPr>
          <a:xfrm>
            <a:off x="6583680" y="2953512"/>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pasajeros por unidad de tiempo</a:t>
            </a:r>
            <a:endParaRPr b="0" i="0" sz="1150" u="none" cap="none" strike="noStrike">
              <a:solidFill>
                <a:schemeClr val="dk1"/>
              </a:solidFill>
              <a:latin typeface="Calibri"/>
              <a:ea typeface="Calibri"/>
              <a:cs typeface="Calibri"/>
              <a:sym typeface="Calibri"/>
            </a:endParaRPr>
          </a:p>
        </p:txBody>
      </p:sp>
      <p:sp>
        <p:nvSpPr>
          <p:cNvPr id="220" name="Google Shape;220;p9"/>
          <p:cNvSpPr txBox="1"/>
          <p:nvPr/>
        </p:nvSpPr>
        <p:spPr>
          <a:xfrm>
            <a:off x="6583680" y="3429000"/>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Gap al óptimo</a:t>
            </a:r>
            <a:endParaRPr b="0" i="0" sz="1300" u="none" cap="none" strike="noStrike">
              <a:solidFill>
                <a:schemeClr val="dk1"/>
              </a:solidFill>
              <a:latin typeface="Calibri"/>
              <a:ea typeface="Calibri"/>
              <a:cs typeface="Calibri"/>
              <a:sym typeface="Calibri"/>
            </a:endParaRPr>
          </a:p>
        </p:txBody>
      </p:sp>
      <p:sp>
        <p:nvSpPr>
          <p:cNvPr id="221" name="Google Shape;221;p9"/>
          <p:cNvSpPr txBox="1"/>
          <p:nvPr/>
        </p:nvSpPr>
        <p:spPr>
          <a:xfrm>
            <a:off x="6583680" y="3685032"/>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distancia porcentual al óptimo exacto</a:t>
            </a:r>
            <a:endParaRPr b="0" i="0" sz="1150" u="none" cap="none" strike="noStrike">
              <a:solidFill>
                <a:schemeClr val="dk1"/>
              </a:solidFill>
              <a:latin typeface="Calibri"/>
              <a:ea typeface="Calibri"/>
              <a:cs typeface="Calibri"/>
              <a:sym typeface="Calibri"/>
            </a:endParaRPr>
          </a:p>
        </p:txBody>
      </p:sp>
      <p:sp>
        <p:nvSpPr>
          <p:cNvPr id="222" name="Google Shape;222;p9"/>
          <p:cNvSpPr txBox="1"/>
          <p:nvPr/>
        </p:nvSpPr>
        <p:spPr>
          <a:xfrm>
            <a:off x="6583680" y="4160520"/>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Tasa de éxito</a:t>
            </a:r>
            <a:endParaRPr b="0" i="0" sz="1300" u="none" cap="none" strike="noStrike">
              <a:solidFill>
                <a:schemeClr val="dk1"/>
              </a:solidFill>
              <a:latin typeface="Calibri"/>
              <a:ea typeface="Calibri"/>
              <a:cs typeface="Calibri"/>
              <a:sym typeface="Calibri"/>
            </a:endParaRPr>
          </a:p>
        </p:txBody>
      </p:sp>
      <p:sp>
        <p:nvSpPr>
          <p:cNvPr id="223" name="Google Shape;223;p9"/>
          <p:cNvSpPr txBox="1"/>
          <p:nvPr/>
        </p:nvSpPr>
        <p:spPr>
          <a:xfrm>
            <a:off x="6583680" y="4416552"/>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corridas que alcanzan el óptimo exacto — la métrica decisiva</a:t>
            </a:r>
            <a:endParaRPr b="0" i="0" sz="1150" u="none" cap="none" strike="noStrike">
              <a:solidFill>
                <a:schemeClr val="dk1"/>
              </a:solidFill>
              <a:latin typeface="Calibri"/>
              <a:ea typeface="Calibri"/>
              <a:cs typeface="Calibri"/>
              <a:sym typeface="Calibri"/>
            </a:endParaRPr>
          </a:p>
        </p:txBody>
      </p:sp>
      <p:sp>
        <p:nvSpPr>
          <p:cNvPr id="224" name="Google Shape;224;p9"/>
          <p:cNvSpPr txBox="1"/>
          <p:nvPr/>
        </p:nvSpPr>
        <p:spPr>
          <a:xfrm>
            <a:off x="6583680" y="4892040"/>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Hipervolumen</a:t>
            </a:r>
            <a:endParaRPr b="0" i="0" sz="1300" u="none" cap="none" strike="noStrike">
              <a:solidFill>
                <a:schemeClr val="dk1"/>
              </a:solidFill>
              <a:latin typeface="Calibri"/>
              <a:ea typeface="Calibri"/>
              <a:cs typeface="Calibri"/>
              <a:sym typeface="Calibri"/>
            </a:endParaRPr>
          </a:p>
        </p:txBody>
      </p:sp>
      <p:sp>
        <p:nvSpPr>
          <p:cNvPr id="225" name="Google Shape;225;p9"/>
          <p:cNvSpPr txBox="1"/>
          <p:nvPr/>
        </p:nvSpPr>
        <p:spPr>
          <a:xfrm>
            <a:off x="6583680" y="5148072"/>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calidad y extensión de la frontera de Pareto</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0"/>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LA VARA DE MEDIR</a:t>
            </a:r>
            <a:endParaRPr b="0" i="0" sz="1100" u="none" cap="none" strike="noStrike">
              <a:solidFill>
                <a:schemeClr val="dk1"/>
              </a:solidFill>
              <a:latin typeface="Calibri"/>
              <a:ea typeface="Calibri"/>
              <a:cs typeface="Calibri"/>
              <a:sym typeface="Calibri"/>
            </a:endParaRPr>
          </a:p>
        </p:txBody>
      </p:sp>
      <p:sp>
        <p:nvSpPr>
          <p:cNvPr id="231" name="Google Shape;231;p10"/>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El óptimo exacto de la instancia</a:t>
            </a:r>
            <a:endParaRPr b="0" i="0" sz="3000" u="none" cap="none" strike="noStrike">
              <a:solidFill>
                <a:schemeClr val="dk1"/>
              </a:solidFill>
              <a:latin typeface="Calibri"/>
              <a:ea typeface="Calibri"/>
              <a:cs typeface="Calibri"/>
              <a:sym typeface="Calibri"/>
            </a:endParaRPr>
          </a:p>
        </p:txBody>
      </p:sp>
      <p:sp>
        <p:nvSpPr>
          <p:cNvPr id="232" name="Google Shape;232;p10"/>
          <p:cNvSpPr/>
          <p:nvPr/>
        </p:nvSpPr>
        <p:spPr>
          <a:xfrm>
            <a:off x="548640" y="1280160"/>
            <a:ext cx="3566160" cy="1965960"/>
          </a:xfrm>
          <a:prstGeom prst="roundRect">
            <a:avLst>
              <a:gd fmla="val 372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822960" y="1508760"/>
            <a:ext cx="384048" cy="384048"/>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txBox="1"/>
          <p:nvPr/>
        </p:nvSpPr>
        <p:spPr>
          <a:xfrm>
            <a:off x="822960" y="1508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35" name="Google Shape;235;p10"/>
          <p:cNvSpPr txBox="1"/>
          <p:nvPr/>
        </p:nvSpPr>
        <p:spPr>
          <a:xfrm>
            <a:off x="822960" y="2011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Fitness aditivo</a:t>
            </a:r>
            <a:endParaRPr b="0" i="0" sz="1500" u="none" cap="none" strike="noStrike">
              <a:solidFill>
                <a:schemeClr val="dk1"/>
              </a:solidFill>
              <a:latin typeface="Calibri"/>
              <a:ea typeface="Calibri"/>
              <a:cs typeface="Calibri"/>
              <a:sym typeface="Calibri"/>
            </a:endParaRPr>
          </a:p>
        </p:txBody>
      </p:sp>
      <p:sp>
        <p:nvSpPr>
          <p:cNvPr id="236" name="Google Shape;236;p10"/>
          <p:cNvSpPr txBox="1"/>
          <p:nvPr/>
        </p:nvSpPr>
        <p:spPr>
          <a:xfrm>
            <a:off x="822960" y="2331720"/>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El fitness suma un término independiente por asignación: las 10 decisiones no interactúan entre sí.</a:t>
            </a:r>
            <a:endParaRPr b="0" i="0" sz="1250" u="none" cap="none" strike="noStrike">
              <a:solidFill>
                <a:schemeClr val="dk1"/>
              </a:solidFill>
              <a:latin typeface="Calibri"/>
              <a:ea typeface="Calibri"/>
              <a:cs typeface="Calibri"/>
              <a:sym typeface="Calibri"/>
            </a:endParaRPr>
          </a:p>
        </p:txBody>
      </p:sp>
      <p:sp>
        <p:nvSpPr>
          <p:cNvPr id="237" name="Google Shape;237;p10"/>
          <p:cNvSpPr/>
          <p:nvPr/>
        </p:nvSpPr>
        <p:spPr>
          <a:xfrm>
            <a:off x="4343400" y="1280160"/>
            <a:ext cx="3566160" cy="1965960"/>
          </a:xfrm>
          <a:prstGeom prst="roundRect">
            <a:avLst>
              <a:gd fmla="val 372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4617720" y="1508760"/>
            <a:ext cx="384048" cy="384048"/>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txBox="1"/>
          <p:nvPr/>
        </p:nvSpPr>
        <p:spPr>
          <a:xfrm>
            <a:off x="4617720" y="1508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40" name="Google Shape;240;p10"/>
          <p:cNvSpPr txBox="1"/>
          <p:nvPr/>
        </p:nvSpPr>
        <p:spPr>
          <a:xfrm>
            <a:off x="4617720" y="2011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Estado compacto</a:t>
            </a:r>
            <a:endParaRPr b="0" i="0" sz="1500" u="none" cap="none" strike="noStrike">
              <a:solidFill>
                <a:schemeClr val="dk1"/>
              </a:solidFill>
              <a:latin typeface="Calibri"/>
              <a:ea typeface="Calibri"/>
              <a:cs typeface="Calibri"/>
              <a:sym typeface="Calibri"/>
            </a:endParaRPr>
          </a:p>
        </p:txBody>
      </p:sp>
      <p:sp>
        <p:nvSpPr>
          <p:cNvPr id="241" name="Google Shape;241;p10"/>
          <p:cNvSpPr txBox="1"/>
          <p:nvPr/>
        </p:nvSpPr>
        <p:spPr>
          <a:xfrm>
            <a:off x="4617720" y="2331720"/>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Con 10 puertas, qué puertas ya se usaron cabe en una máscara de 10 bits: solo 1024 estados posibles.</a:t>
            </a:r>
            <a:endParaRPr b="0" i="0" sz="1250" u="none" cap="none" strike="noStrike">
              <a:solidFill>
                <a:schemeClr val="dk1"/>
              </a:solidFill>
              <a:latin typeface="Calibri"/>
              <a:ea typeface="Calibri"/>
              <a:cs typeface="Calibri"/>
              <a:sym typeface="Calibri"/>
            </a:endParaRPr>
          </a:p>
        </p:txBody>
      </p:sp>
      <p:sp>
        <p:nvSpPr>
          <p:cNvPr id="242" name="Google Shape;242;p10"/>
          <p:cNvSpPr/>
          <p:nvPr/>
        </p:nvSpPr>
        <p:spPr>
          <a:xfrm>
            <a:off x="8138160" y="1280160"/>
            <a:ext cx="3566160" cy="1965960"/>
          </a:xfrm>
          <a:prstGeom prst="roundRect">
            <a:avLst>
              <a:gd fmla="val 3721"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p:nvPr/>
        </p:nvSpPr>
        <p:spPr>
          <a:xfrm>
            <a:off x="8412480" y="1508760"/>
            <a:ext cx="384048" cy="384048"/>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txBox="1"/>
          <p:nvPr/>
        </p:nvSpPr>
        <p:spPr>
          <a:xfrm>
            <a:off x="8412480" y="1508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45" name="Google Shape;245;p10"/>
          <p:cNvSpPr txBox="1"/>
          <p:nvPr/>
        </p:nvSpPr>
        <p:spPr>
          <a:xfrm>
            <a:off x="8412480" y="2011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500"/>
              <a:buFont typeface="Calibri"/>
              <a:buNone/>
            </a:pPr>
            <a:r>
              <a:rPr b="1" i="0" lang="en-US" sz="1500" u="none" cap="none" strike="noStrike">
                <a:solidFill>
                  <a:srgbClr val="1B2733"/>
                </a:solidFill>
                <a:latin typeface="Calibri"/>
                <a:ea typeface="Calibri"/>
                <a:cs typeface="Calibri"/>
                <a:sym typeface="Calibri"/>
              </a:rPr>
              <a:t>Programación dinámica</a:t>
            </a:r>
            <a:endParaRPr b="0" i="0" sz="1500" u="none" cap="none" strike="noStrike">
              <a:solidFill>
                <a:schemeClr val="dk1"/>
              </a:solidFill>
              <a:latin typeface="Calibri"/>
              <a:ea typeface="Calibri"/>
              <a:cs typeface="Calibri"/>
              <a:sym typeface="Calibri"/>
            </a:endParaRPr>
          </a:p>
        </p:txBody>
      </p:sp>
      <p:sp>
        <p:nvSpPr>
          <p:cNvPr id="246" name="Google Shape;246;p10"/>
          <p:cNvSpPr txBox="1"/>
          <p:nvPr/>
        </p:nvSpPr>
        <p:spPr>
          <a:xfrm>
            <a:off x="8412480" y="2331720"/>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Se recorre vuelo por vuelo: omitirlo o asignarlo a una puerta libre. 307 200 transiciones en total.</a:t>
            </a:r>
            <a:endParaRPr b="0" i="0" sz="1250" u="none" cap="none" strike="noStrike">
              <a:solidFill>
                <a:schemeClr val="dk1"/>
              </a:solidFill>
              <a:latin typeface="Calibri"/>
              <a:ea typeface="Calibri"/>
              <a:cs typeface="Calibri"/>
              <a:sym typeface="Calibri"/>
            </a:endParaRPr>
          </a:p>
        </p:txBody>
      </p:sp>
      <p:sp>
        <p:nvSpPr>
          <p:cNvPr id="247" name="Google Shape;247;p10"/>
          <p:cNvSpPr/>
          <p:nvPr/>
        </p:nvSpPr>
        <p:spPr>
          <a:xfrm>
            <a:off x="548640" y="3611880"/>
            <a:ext cx="11109960" cy="2148840"/>
          </a:xfrm>
          <a:prstGeom prst="roundRect">
            <a:avLst>
              <a:gd fmla="val 3404"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txBox="1"/>
          <p:nvPr/>
        </p:nvSpPr>
        <p:spPr>
          <a:xfrm>
            <a:off x="914400" y="3840480"/>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Por qué esto cambia todo el análisis</a:t>
            </a:r>
            <a:endParaRPr b="0" i="0" sz="1700" u="none" cap="none" strike="noStrike">
              <a:solidFill>
                <a:schemeClr val="dk1"/>
              </a:solidFill>
              <a:latin typeface="Calibri"/>
              <a:ea typeface="Calibri"/>
              <a:cs typeface="Calibri"/>
              <a:sym typeface="Calibri"/>
            </a:endParaRPr>
          </a:p>
        </p:txBody>
      </p:sp>
      <p:sp>
        <p:nvSpPr>
          <p:cNvPr id="249" name="Google Shape;249;p10"/>
          <p:cNvSpPr txBox="1"/>
          <p:nvPr/>
        </p:nvSpPr>
        <p:spPr>
          <a:xfrm>
            <a:off x="914400" y="4251960"/>
            <a:ext cx="594360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Hasta aquí solo podíamos decir que el AG encontró algo bueno. Con el óptimo calculado podemos decir si lo encontró y con qué frecuencia. La calidad deja de medirse contra el mejor resultado del propio algoritmo y pasa a medirse contra el mejor valor que existe.</a:t>
            </a:r>
            <a:endParaRPr b="0" i="0" sz="1300" u="none" cap="none" strike="noStrike">
              <a:solidFill>
                <a:schemeClr val="dk1"/>
              </a:solidFill>
              <a:latin typeface="Calibri"/>
              <a:ea typeface="Calibri"/>
              <a:cs typeface="Calibri"/>
              <a:sym typeface="Calibri"/>
            </a:endParaRPr>
          </a:p>
        </p:txBody>
      </p:sp>
      <p:sp>
        <p:nvSpPr>
          <p:cNvPr id="250" name="Google Shape;250;p10"/>
          <p:cNvSpPr txBox="1"/>
          <p:nvPr/>
        </p:nvSpPr>
        <p:spPr>
          <a:xfrm>
            <a:off x="7315200" y="393192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4000"/>
              <a:buFont typeface="Cambria"/>
              <a:buNone/>
            </a:pPr>
            <a:r>
              <a:rPr b="1" i="0" lang="en-US" sz="4000" u="none" cap="none" strike="noStrike">
                <a:solidFill>
                  <a:srgbClr val="1C7293"/>
                </a:solidFill>
                <a:latin typeface="Cambria"/>
                <a:ea typeface="Cambria"/>
                <a:cs typeface="Cambria"/>
                <a:sym typeface="Cambria"/>
              </a:rPr>
              <a:t>5,0819</a:t>
            </a:r>
            <a:endParaRPr b="0" i="0" sz="4000" u="none" cap="none" strike="noStrike">
              <a:solidFill>
                <a:schemeClr val="dk1"/>
              </a:solidFill>
              <a:latin typeface="Calibri"/>
              <a:ea typeface="Calibri"/>
              <a:cs typeface="Calibri"/>
              <a:sym typeface="Calibri"/>
            </a:endParaRPr>
          </a:p>
        </p:txBody>
      </p:sp>
      <p:sp>
        <p:nvSpPr>
          <p:cNvPr id="251" name="Google Shape;251;p10"/>
          <p:cNvSpPr txBox="1"/>
          <p:nvPr/>
        </p:nvSpPr>
        <p:spPr>
          <a:xfrm>
            <a:off x="7315200" y="4590288"/>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óptimo exacto demostrado</a:t>
            </a:r>
            <a:endParaRPr b="0" i="0" sz="1100" u="none" cap="none" strike="noStrike">
              <a:solidFill>
                <a:schemeClr val="dk1"/>
              </a:solidFill>
              <a:latin typeface="Calibri"/>
              <a:ea typeface="Calibri"/>
              <a:cs typeface="Calibri"/>
              <a:sym typeface="Calibri"/>
            </a:endParaRPr>
          </a:p>
        </p:txBody>
      </p:sp>
      <p:sp>
        <p:nvSpPr>
          <p:cNvPr id="252" name="Google Shape;252;p10"/>
          <p:cNvSpPr txBox="1"/>
          <p:nvPr/>
        </p:nvSpPr>
        <p:spPr>
          <a:xfrm>
            <a:off x="9464040" y="393192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4000"/>
              <a:buFont typeface="Cambria"/>
              <a:buNone/>
            </a:pPr>
            <a:r>
              <a:rPr b="1" i="0" lang="en-US" sz="4000" u="none" cap="none" strike="noStrike">
                <a:solidFill>
                  <a:srgbClr val="1C7293"/>
                </a:solidFill>
                <a:latin typeface="Cambria"/>
                <a:ea typeface="Cambria"/>
                <a:cs typeface="Cambria"/>
                <a:sym typeface="Cambria"/>
              </a:rPr>
              <a:t>1024</a:t>
            </a:r>
            <a:endParaRPr b="0" i="0" sz="4000" u="none" cap="none" strike="noStrike">
              <a:solidFill>
                <a:schemeClr val="dk1"/>
              </a:solidFill>
              <a:latin typeface="Calibri"/>
              <a:ea typeface="Calibri"/>
              <a:cs typeface="Calibri"/>
              <a:sym typeface="Calibri"/>
            </a:endParaRPr>
          </a:p>
        </p:txBody>
      </p:sp>
      <p:sp>
        <p:nvSpPr>
          <p:cNvPr id="253" name="Google Shape;253;p10"/>
          <p:cNvSpPr txBox="1"/>
          <p:nvPr/>
        </p:nvSpPr>
        <p:spPr>
          <a:xfrm>
            <a:off x="9464040" y="4590288"/>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estados de la programación dinámica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1"/>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RESULTADO 1</a:t>
            </a:r>
            <a:endParaRPr b="0" i="0" sz="1100" u="none" cap="none" strike="noStrike">
              <a:solidFill>
                <a:schemeClr val="dk1"/>
              </a:solidFill>
              <a:latin typeface="Calibri"/>
              <a:ea typeface="Calibri"/>
              <a:cs typeface="Calibri"/>
              <a:sym typeface="Calibri"/>
            </a:endParaRPr>
          </a:p>
        </p:txBody>
      </p:sp>
      <p:sp>
        <p:nvSpPr>
          <p:cNvPr id="260" name="Google Shape;260;p11"/>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Auditoría directa de los operadores</a:t>
            </a:r>
            <a:endParaRPr b="0" i="0" sz="3000" u="none" cap="none" strike="noStrike">
              <a:solidFill>
                <a:schemeClr val="dk1"/>
              </a:solidFill>
              <a:latin typeface="Calibri"/>
              <a:ea typeface="Calibri"/>
              <a:cs typeface="Calibri"/>
              <a:sym typeface="Calibri"/>
            </a:endParaRPr>
          </a:p>
        </p:txBody>
      </p:sp>
      <p:sp>
        <p:nvSpPr>
          <p:cNvPr id="261" name="Google Shape;261;p11"/>
          <p:cNvSpPr txBox="1"/>
          <p:nvPr/>
        </p:nvSpPr>
        <p:spPr>
          <a:xfrm>
            <a:off x="548640" y="11430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B"/>
              </a:buClr>
              <a:buSzPts val="1300"/>
              <a:buFont typeface="Calibri"/>
              <a:buNone/>
            </a:pPr>
            <a:r>
              <a:rPr b="0" i="0" lang="en-US" sz="1300" u="none" cap="none" strike="noStrike">
                <a:solidFill>
                  <a:srgbClr val="5A6B7B"/>
                </a:solidFill>
                <a:latin typeface="Calibri"/>
                <a:ea typeface="Calibri"/>
                <a:cs typeface="Calibri"/>
                <a:sym typeface="Calibri"/>
              </a:rPr>
              <a:t>2000 parejas de padres factibles, midiendo solo el efecto del operador.</a:t>
            </a:r>
            <a:endParaRPr b="0" i="0" sz="1300" u="none" cap="none" strike="noStrike">
              <a:solidFill>
                <a:schemeClr val="dk1"/>
              </a:solidFill>
              <a:latin typeface="Calibri"/>
              <a:ea typeface="Calibri"/>
              <a:cs typeface="Calibri"/>
              <a:sym typeface="Calibri"/>
            </a:endParaRPr>
          </a:p>
        </p:txBody>
      </p:sp>
      <p:graphicFrame>
        <p:nvGraphicFramePr>
          <p:cNvPr id="262" name="Google Shape;262;p11"/>
          <p:cNvGraphicFramePr/>
          <p:nvPr/>
        </p:nvGraphicFramePr>
        <p:xfrm>
          <a:off x="548640" y="1600200"/>
          <a:ext cx="3000000" cy="3000000"/>
        </p:xfrm>
        <a:graphic>
          <a:graphicData uri="http://schemas.openxmlformats.org/drawingml/2006/table">
            <a:tbl>
              <a:tblPr>
                <a:noFill/>
                <a:tableStyleId>{DBD8EA12-1187-4A30-BC3E-C45968364C9D}</a:tableStyleId>
              </a:tblPr>
              <a:tblGrid>
                <a:gridCol w="3383275"/>
                <a:gridCol w="1280150"/>
                <a:gridCol w="1645925"/>
                <a:gridCol w="1463050"/>
              </a:tblGrid>
              <a:tr h="2798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Operador</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solidFill>
                      <a:srgbClr val="0F2B46"/>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Validez</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solidFill>
                      <a:srgbClr val="0F2B46"/>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Puertas repetidas</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solidFill>
                      <a:srgbClr val="0F2B46"/>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¿Cambia los vuelos?</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solidFill>
                      <a:srgbClr val="0F2B46"/>
                    </a:solidFill>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BASE  crossover_onepoint</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D64550"/>
                        </a:buClr>
                        <a:buSzPts val="1150"/>
                        <a:buFont typeface="Calibri"/>
                        <a:buNone/>
                      </a:pPr>
                      <a:r>
                        <a:rPr b="1" lang="en-US" sz="1150" u="none" cap="none" strike="noStrike">
                          <a:solidFill>
                            <a:srgbClr val="D64550"/>
                          </a:solidFill>
                          <a:latin typeface="Calibri"/>
                          <a:ea typeface="Calibri"/>
                          <a:cs typeface="Calibri"/>
                          <a:sym typeface="Calibri"/>
                        </a:rPr>
                        <a:t>12,6 %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1,62</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D64550"/>
                        </a:buClr>
                        <a:buSzPts val="1150"/>
                        <a:buFont typeface="Calibri"/>
                        <a:buNone/>
                      </a:pPr>
                      <a:r>
                        <a:rPr lang="en-US" sz="1150" u="none" cap="none" strike="noStrike">
                          <a:solidFill>
                            <a:srgbClr val="D64550"/>
                          </a:solidFill>
                          <a:latin typeface="Calibri"/>
                          <a:ea typeface="Calibri"/>
                          <a:cs typeface="Calibri"/>
                          <a:sym typeface="Calibri"/>
                        </a:rPr>
                        <a:t>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BASE  crossover_uniform</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D64550"/>
                        </a:buClr>
                        <a:buSzPts val="1150"/>
                        <a:buFont typeface="Calibri"/>
                        <a:buNone/>
                      </a:pPr>
                      <a:r>
                        <a:rPr b="1" lang="en-US" sz="1150" u="none" cap="none" strike="noStrike">
                          <a:solidFill>
                            <a:srgbClr val="D64550"/>
                          </a:solidFill>
                          <a:latin typeface="Calibri"/>
                          <a:ea typeface="Calibri"/>
                          <a:cs typeface="Calibri"/>
                          <a:sym typeface="Calibri"/>
                        </a:rPr>
                        <a:t>0,8 %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2,22</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D64550"/>
                        </a:buClr>
                        <a:buSzPts val="1150"/>
                        <a:buFont typeface="Calibri"/>
                        <a:buNone/>
                      </a:pPr>
                      <a:r>
                        <a:rPr lang="en-US" sz="1150" u="none" cap="none" strike="noStrike">
                          <a:solidFill>
                            <a:srgbClr val="D64550"/>
                          </a:solidFill>
                          <a:latin typeface="Calibri"/>
                          <a:ea typeface="Calibri"/>
                          <a:cs typeface="Calibri"/>
                          <a:sym typeface="Calibri"/>
                        </a:rPr>
                        <a:t>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BASE  mutate_position</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D64550"/>
                        </a:buClr>
                        <a:buSzPts val="1150"/>
                        <a:buFont typeface="Calibri"/>
                        <a:buNone/>
                      </a:pPr>
                      <a:r>
                        <a:rPr b="1" lang="en-US" sz="1150" u="none" cap="none" strike="noStrike">
                          <a:solidFill>
                            <a:srgbClr val="D64550"/>
                          </a:solidFill>
                          <a:latin typeface="Calibri"/>
                          <a:ea typeface="Calibri"/>
                          <a:cs typeface="Calibri"/>
                          <a:sym typeface="Calibri"/>
                        </a:rPr>
                        <a:t>10,1 %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0,90</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D64550"/>
                        </a:buClr>
                        <a:buSzPts val="1150"/>
                        <a:buFont typeface="Calibri"/>
                        <a:buNone/>
                      </a:pPr>
                      <a:r>
                        <a:rPr lang="en-US" sz="1150" u="none" cap="none" strike="noStrike">
                          <a:solidFill>
                            <a:srgbClr val="D64550"/>
                          </a:solidFill>
                          <a:latin typeface="Calibri"/>
                          <a:ea typeface="Calibri"/>
                          <a:cs typeface="Calibri"/>
                          <a:sym typeface="Calibri"/>
                        </a:rPr>
                        <a:t>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NUEVO  crossover_onepoint_assignment</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b="1"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0,00</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lang="en-US" sz="1150" u="none" cap="none" strike="noStrike">
                          <a:solidFill>
                            <a:srgbClr val="2E9E6B"/>
                          </a:solidFill>
                          <a:latin typeface="Calibri"/>
                          <a:ea typeface="Calibri"/>
                          <a:cs typeface="Calibri"/>
                          <a:sym typeface="Calibri"/>
                        </a:rPr>
                        <a:t>87 %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NUEVO  crossover_uniform_assignment</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b="1"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0,00</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lang="en-US" sz="1150" u="none" cap="none" strike="noStrike">
                          <a:solidFill>
                            <a:srgbClr val="2E9E6B"/>
                          </a:solidFill>
                          <a:latin typeface="Calibri"/>
                          <a:ea typeface="Calibri"/>
                          <a:cs typeface="Calibri"/>
                          <a:sym typeface="Calibri"/>
                        </a:rPr>
                        <a:t>97 %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NUEVO  mutate_flight</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b="1"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0,00</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NUEVO  mutate_gate</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b="1"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0,00</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NUEVO  mutate_flight_and_gate</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b="1"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0,00</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r h="279800">
                <a:tc>
                  <a:txBody>
                    <a:bodyPr/>
                    <a:lstStyle/>
                    <a:p>
                      <a:pPr indent="0" lvl="0" marL="0" marR="0" rtl="0" algn="l">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NUEVO  mutate_flight_or_gate</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b="1" lang="en-US" sz="1150" u="none" cap="none" strike="noStrike">
                          <a:solidFill>
                            <a:srgbClr val="2E9E6B"/>
                          </a:solidFill>
                          <a:latin typeface="Calibri"/>
                          <a:ea typeface="Calibri"/>
                          <a:cs typeface="Calibri"/>
                          <a:sym typeface="Calibri"/>
                        </a:rPr>
                        <a:t>100 %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1B2733"/>
                        </a:buClr>
                        <a:buSzPts val="1150"/>
                        <a:buFont typeface="Calibri"/>
                        <a:buNone/>
                      </a:pPr>
                      <a:r>
                        <a:rPr lang="en-US" sz="1150" u="none" cap="none" strike="noStrike">
                          <a:solidFill>
                            <a:srgbClr val="1B2733"/>
                          </a:solidFill>
                          <a:latin typeface="Calibri"/>
                          <a:ea typeface="Calibri"/>
                          <a:cs typeface="Calibri"/>
                          <a:sym typeface="Calibri"/>
                        </a:rPr>
                        <a:t>0,00</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c>
                  <a:txBody>
                    <a:bodyPr/>
                    <a:lstStyle/>
                    <a:p>
                      <a:pPr indent="0" lvl="0" marL="0" marR="0" rtl="0" algn="ctr">
                        <a:spcBef>
                          <a:spcPts val="0"/>
                        </a:spcBef>
                        <a:spcAft>
                          <a:spcPts val="0"/>
                        </a:spcAft>
                        <a:buClr>
                          <a:srgbClr val="2E9E6B"/>
                        </a:buClr>
                        <a:buSzPts val="1150"/>
                        <a:buFont typeface="Calibri"/>
                        <a:buNone/>
                      </a:pPr>
                      <a:r>
                        <a:rPr lang="en-US" sz="1150" u="none" cap="none" strike="noStrike">
                          <a:solidFill>
                            <a:srgbClr val="2E9E6B"/>
                          </a:solidFill>
                          <a:latin typeface="Calibri"/>
                          <a:ea typeface="Calibri"/>
                          <a:cs typeface="Calibri"/>
                          <a:sym typeface="Calibri"/>
                        </a:rPr>
                        <a:t>52 %</a:t>
                      </a:r>
                      <a:endParaRPr sz="1150" u="none" cap="none" strike="noStrike">
                        <a:latin typeface="Calibri"/>
                        <a:ea typeface="Calibri"/>
                        <a:cs typeface="Calibri"/>
                        <a:sym typeface="Calibri"/>
                      </a:endParaRPr>
                    </a:p>
                  </a:txBody>
                  <a:tcPr marT="54875" marB="54875" marR="54875" marL="54875" anchor="ctr">
                    <a:lnL cap="flat" cmpd="sng" w="12700">
                      <a:solidFill>
                        <a:srgbClr val="DDE3E9"/>
                      </a:solidFill>
                      <a:prstDash val="solid"/>
                      <a:round/>
                      <a:headEnd len="sm" w="sm" type="none"/>
                      <a:tailEnd len="sm" w="sm" type="none"/>
                    </a:lnL>
                    <a:lnR cap="flat" cmpd="sng" w="12700">
                      <a:solidFill>
                        <a:srgbClr val="DDE3E9"/>
                      </a:solidFill>
                      <a:prstDash val="solid"/>
                      <a:round/>
                      <a:headEnd len="sm" w="sm" type="none"/>
                      <a:tailEnd len="sm" w="sm" type="none"/>
                    </a:lnR>
                    <a:lnT cap="flat" cmpd="sng" w="12700">
                      <a:solidFill>
                        <a:srgbClr val="DDE3E9"/>
                      </a:solidFill>
                      <a:prstDash val="solid"/>
                      <a:round/>
                      <a:headEnd len="sm" w="sm" type="none"/>
                      <a:tailEnd len="sm" w="sm" type="none"/>
                    </a:lnT>
                    <a:lnB cap="flat" cmpd="sng" w="12700">
                      <a:solidFill>
                        <a:srgbClr val="DDE3E9"/>
                      </a:solidFill>
                      <a:prstDash val="solid"/>
                      <a:round/>
                      <a:headEnd len="sm" w="sm" type="none"/>
                      <a:tailEnd len="sm" w="sm" type="none"/>
                    </a:lnB>
                  </a:tcPr>
                </a:tc>
              </a:tr>
            </a:tbl>
          </a:graphicData>
        </a:graphic>
      </p:graphicFrame>
      <p:sp>
        <p:nvSpPr>
          <p:cNvPr id="263" name="Google Shape;263;p11"/>
          <p:cNvSpPr/>
          <p:nvPr/>
        </p:nvSpPr>
        <p:spPr>
          <a:xfrm>
            <a:off x="8549640" y="1600200"/>
            <a:ext cx="3108960" cy="2926080"/>
          </a:xfrm>
          <a:prstGeom prst="roundRect">
            <a:avLst>
              <a:gd fmla="val 2500"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txBox="1"/>
          <p:nvPr/>
        </p:nvSpPr>
        <p:spPr>
          <a:xfrm>
            <a:off x="8778240" y="178308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El cruzamiento uniforme del código base produce</a:t>
            </a:r>
            <a:endParaRPr b="0" i="0" sz="1200" u="none" cap="none" strike="noStrike">
              <a:solidFill>
                <a:schemeClr val="dk1"/>
              </a:solidFill>
              <a:latin typeface="Calibri"/>
              <a:ea typeface="Calibri"/>
              <a:cs typeface="Calibri"/>
              <a:sym typeface="Calibri"/>
            </a:endParaRPr>
          </a:p>
        </p:txBody>
      </p:sp>
      <p:sp>
        <p:nvSpPr>
          <p:cNvPr id="265" name="Google Shape;265;p11"/>
          <p:cNvSpPr txBox="1"/>
          <p:nvPr/>
        </p:nvSpPr>
        <p:spPr>
          <a:xfrm>
            <a:off x="8778240" y="2286000"/>
            <a:ext cx="26517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4550"/>
              </a:buClr>
              <a:buSzPts val="4400"/>
              <a:buFont typeface="Cambria"/>
              <a:buNone/>
            </a:pPr>
            <a:r>
              <a:rPr b="1" i="0" lang="en-US" sz="4400" u="none" cap="none" strike="noStrike">
                <a:solidFill>
                  <a:srgbClr val="D64550"/>
                </a:solidFill>
                <a:latin typeface="Cambria"/>
                <a:ea typeface="Cambria"/>
                <a:cs typeface="Cambria"/>
                <a:sym typeface="Cambria"/>
              </a:rPr>
              <a:t>0,8 %</a:t>
            </a:r>
            <a:endParaRPr b="0" i="0" sz="4400" u="none" cap="none" strike="noStrike">
              <a:solidFill>
                <a:schemeClr val="dk1"/>
              </a:solidFill>
              <a:latin typeface="Calibri"/>
              <a:ea typeface="Calibri"/>
              <a:cs typeface="Calibri"/>
              <a:sym typeface="Calibri"/>
            </a:endParaRPr>
          </a:p>
        </p:txBody>
      </p:sp>
      <p:sp>
        <p:nvSpPr>
          <p:cNvPr id="266" name="Google Shape;266;p11"/>
          <p:cNvSpPr txBox="1"/>
          <p:nvPr/>
        </p:nvSpPr>
        <p:spPr>
          <a:xfrm>
            <a:off x="8778240" y="2880360"/>
            <a:ext cx="2651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de hijos ejecutables</a:t>
            </a:r>
            <a:endParaRPr b="0" i="0" sz="1200" u="none" cap="none" strike="noStrike">
              <a:solidFill>
                <a:schemeClr val="dk1"/>
              </a:solidFill>
              <a:latin typeface="Calibri"/>
              <a:ea typeface="Calibri"/>
              <a:cs typeface="Calibri"/>
              <a:sym typeface="Calibri"/>
            </a:endParaRPr>
          </a:p>
        </p:txBody>
      </p:sp>
      <p:sp>
        <p:nvSpPr>
          <p:cNvPr id="267" name="Google Shape;267;p11"/>
          <p:cNvSpPr txBox="1"/>
          <p:nvPr/>
        </p:nvSpPr>
        <p:spPr>
          <a:xfrm>
            <a:off x="8778240" y="3291840"/>
            <a:ext cx="265176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2A65A"/>
              </a:buClr>
              <a:buSzPts val="1200"/>
              <a:buFont typeface="Calibri"/>
              <a:buNone/>
            </a:pPr>
            <a:r>
              <a:rPr b="0" i="0" lang="en-US" sz="1200" u="none" cap="none" strike="noStrike">
                <a:solidFill>
                  <a:srgbClr val="F2A65A"/>
                </a:solidFill>
                <a:latin typeface="Calibri"/>
                <a:ea typeface="Calibri"/>
                <a:cs typeface="Calibri"/>
                <a:sym typeface="Calibri"/>
              </a:rPr>
              <a:t>Ningún operador base toca el conjunto de vuelos: 0 % en la última columna.</a:t>
            </a:r>
            <a:endParaRPr b="0" i="0" sz="1200" u="none" cap="none" strike="noStrike">
              <a:solidFill>
                <a:schemeClr val="dk1"/>
              </a:solidFill>
              <a:latin typeface="Calibri"/>
              <a:ea typeface="Calibri"/>
              <a:cs typeface="Calibri"/>
              <a:sym typeface="Calibri"/>
            </a:endParaRPr>
          </a:p>
        </p:txBody>
      </p:sp>
      <p:sp>
        <p:nvSpPr>
          <p:cNvPr id="268" name="Google Shape;268;p11"/>
          <p:cNvSpPr/>
          <p:nvPr/>
        </p:nvSpPr>
        <p:spPr>
          <a:xfrm>
            <a:off x="548640" y="4892040"/>
            <a:ext cx="11109960" cy="1051560"/>
          </a:xfrm>
          <a:prstGeom prst="roundRect">
            <a:avLst>
              <a:gd fmla="val 6957"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txBox="1"/>
          <p:nvPr/>
        </p:nvSpPr>
        <p:spPr>
          <a:xfrm>
            <a:off x="914400" y="4892040"/>
            <a:ext cx="10378440" cy="10515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Por qué el 0,8 %: </a:t>
            </a:r>
            <a:r>
              <a:rPr b="0" i="0" lang="en-US" sz="1300" u="none" cap="none" strike="noStrike">
                <a:solidFill>
                  <a:srgbClr val="1B2733"/>
                </a:solidFill>
                <a:latin typeface="Calibri"/>
                <a:ea typeface="Calibri"/>
                <a:cs typeface="Calibri"/>
                <a:sym typeface="Calibri"/>
              </a:rPr>
              <a:t>al sortear cada posición de forma independiente entre dos permutaciones distintas, la probabilidad de no generar ni una sola colisión en diez posiciones es mínima. Los operadores nuevos no dependen de la suerte: entregan factibilidad por construcción.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2"/>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RESULTADO 2</a:t>
            </a:r>
            <a:endParaRPr b="0" i="0" sz="1100" u="none" cap="none" strike="noStrike">
              <a:solidFill>
                <a:schemeClr val="dk1"/>
              </a:solidFill>
              <a:latin typeface="Calibri"/>
              <a:ea typeface="Calibri"/>
              <a:cs typeface="Calibri"/>
              <a:sym typeface="Calibri"/>
            </a:endParaRPr>
          </a:p>
        </p:txBody>
      </p:sp>
      <p:sp>
        <p:nvSpPr>
          <p:cNvPr id="276" name="Google Shape;276;p12"/>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Efecto del operador de cruzamiento</a:t>
            </a:r>
            <a:endParaRPr b="0" i="0" sz="3000" u="none" cap="none" strike="noStrike">
              <a:solidFill>
                <a:schemeClr val="dk1"/>
              </a:solidFill>
              <a:latin typeface="Calibri"/>
              <a:ea typeface="Calibri"/>
              <a:cs typeface="Calibri"/>
              <a:sym typeface="Calibri"/>
            </a:endParaRPr>
          </a:p>
        </p:txBody>
      </p:sp>
      <p:pic>
        <p:nvPicPr>
          <p:cNvPr descr="C:/Users/Ampue/Documents/PUCP/Diplomado IA/computacion_evolutiva/trabajo_final/figuras/exp1_cruzamiento.png" id="277" name="Google Shape;277;p12"/>
          <p:cNvPicPr preferRelativeResize="0"/>
          <p:nvPr/>
        </p:nvPicPr>
        <p:blipFill rotWithShape="1">
          <a:blip r:embed="rId3">
            <a:alphaModFix/>
          </a:blip>
          <a:srcRect b="0" l="0" r="0" t="0"/>
          <a:stretch/>
        </p:blipFill>
        <p:spPr>
          <a:xfrm>
            <a:off x="548640" y="1188720"/>
            <a:ext cx="7360920" cy="2642616"/>
          </a:xfrm>
          <a:prstGeom prst="rect">
            <a:avLst/>
          </a:prstGeom>
          <a:noFill/>
          <a:ln>
            <a:noFill/>
          </a:ln>
        </p:spPr>
      </p:pic>
      <p:sp>
        <p:nvSpPr>
          <p:cNvPr id="278" name="Google Shape;278;p12"/>
          <p:cNvSpPr txBox="1"/>
          <p:nvPr/>
        </p:nvSpPr>
        <p:spPr>
          <a:xfrm>
            <a:off x="548640" y="3913632"/>
            <a:ext cx="73609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50"/>
              <a:buFont typeface="Calibri"/>
              <a:buNone/>
            </a:pPr>
            <a:r>
              <a:rPr b="0" i="1" lang="en-US" sz="1050" u="none" cap="none" strike="noStrike">
                <a:solidFill>
                  <a:srgbClr val="5A6B7B"/>
                </a:solidFill>
                <a:latin typeface="Calibri"/>
                <a:ea typeface="Calibri"/>
                <a:cs typeface="Calibri"/>
                <a:sym typeface="Calibri"/>
              </a:rPr>
              <a:t>Curvas punteadas = configuraciones base; su fitness pertenece a soluciones infactibles y no es comparable.</a:t>
            </a:r>
            <a:endParaRPr b="0" i="0" sz="1050" u="none" cap="none" strike="noStrike">
              <a:solidFill>
                <a:schemeClr val="dk1"/>
              </a:solidFill>
              <a:latin typeface="Calibri"/>
              <a:ea typeface="Calibri"/>
              <a:cs typeface="Calibri"/>
              <a:sym typeface="Calibri"/>
            </a:endParaRPr>
          </a:p>
        </p:txBody>
      </p:sp>
      <p:sp>
        <p:nvSpPr>
          <p:cNvPr id="279" name="Google Shape;279;p12"/>
          <p:cNvSpPr/>
          <p:nvPr/>
        </p:nvSpPr>
        <p:spPr>
          <a:xfrm>
            <a:off x="8001000" y="1188720"/>
            <a:ext cx="3657600" cy="4572000"/>
          </a:xfrm>
          <a:prstGeom prst="roundRect">
            <a:avLst>
              <a:gd fmla="val 2000"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txBox="1"/>
          <p:nvPr/>
        </p:nvSpPr>
        <p:spPr>
          <a:xfrm>
            <a:off x="8275320" y="137160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500"/>
              <a:buFont typeface="Cambria"/>
              <a:buNone/>
            </a:pPr>
            <a:r>
              <a:rPr b="1" i="0" lang="en-US" sz="1500" u="none" cap="none" strike="noStrike">
                <a:solidFill>
                  <a:srgbClr val="1C7293"/>
                </a:solidFill>
                <a:latin typeface="Cambria"/>
                <a:ea typeface="Cambria"/>
                <a:cs typeface="Cambria"/>
                <a:sym typeface="Cambria"/>
              </a:rPr>
              <a:t>Qué muestra</a:t>
            </a:r>
            <a:endParaRPr b="0" i="0" sz="1500" u="none" cap="none" strike="noStrike">
              <a:solidFill>
                <a:schemeClr val="dk1"/>
              </a:solidFill>
              <a:latin typeface="Calibri"/>
              <a:ea typeface="Calibri"/>
              <a:cs typeface="Calibri"/>
              <a:sym typeface="Calibri"/>
            </a:endParaRPr>
          </a:p>
        </p:txBody>
      </p:sp>
      <p:sp>
        <p:nvSpPr>
          <p:cNvPr id="281" name="Google Shape;281;p12"/>
          <p:cNvSpPr txBox="1"/>
          <p:nvPr/>
        </p:nvSpPr>
        <p:spPr>
          <a:xfrm>
            <a:off x="8275320" y="1783080"/>
            <a:ext cx="3108960" cy="3108960"/>
          </a:xfrm>
          <a:prstGeom prst="rect">
            <a:avLst/>
          </a:prstGeom>
          <a:noFill/>
          <a:ln>
            <a:noFill/>
          </a:ln>
        </p:spPr>
        <p:txBody>
          <a:bodyPr anchorCtr="0" anchor="t" bIns="0" lIns="0" spcFirstLastPara="1" rIns="0" wrap="square" tIns="0">
            <a:noAutofit/>
          </a:bodyPr>
          <a:lstStyle/>
          <a:p>
            <a:pPr indent="-177800" lvl="0" marL="177800" marR="0" rtl="0" algn="l">
              <a:lnSpc>
                <a:spcPct val="105000"/>
              </a:lnSpc>
              <a:spcBef>
                <a:spcPts val="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Las tres configuraciones base terminan con 0 % de validez: su mejor individuo no es ejecutable.</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Entre los nuevos, uniform_assignment gana a onepoint_assignment: 4,9546 vs 4,7529 (p = 0,00195).</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La posición en el cromosoma no significa nada, así que preservar bloques contiguos no aporta.</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La dispersión cae de 0,27–0,36 a 0,057: entre 4 y 6 veces más repetible.</a:t>
            </a:r>
            <a:endParaRPr b="0" i="0" sz="1250" u="none" cap="none" strike="noStrike">
              <a:solidFill>
                <a:schemeClr val="dk1"/>
              </a:solidFill>
              <a:latin typeface="Calibri"/>
              <a:ea typeface="Calibri"/>
              <a:cs typeface="Calibri"/>
              <a:sym typeface="Calibri"/>
            </a:endParaRPr>
          </a:p>
        </p:txBody>
      </p:sp>
      <p:sp>
        <p:nvSpPr>
          <p:cNvPr id="282" name="Google Shape;282;p12"/>
          <p:cNvSpPr txBox="1"/>
          <p:nvPr/>
        </p:nvSpPr>
        <p:spPr>
          <a:xfrm>
            <a:off x="8275320" y="5029200"/>
            <a:ext cx="31089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733"/>
              </a:buClr>
              <a:buSzPts val="1200"/>
              <a:buFont typeface="Calibri"/>
              <a:buNone/>
            </a:pPr>
            <a:r>
              <a:rPr b="1" i="0" lang="en-US" sz="1200" u="none" cap="none" strike="noStrike">
                <a:solidFill>
                  <a:srgbClr val="1B2733"/>
                </a:solidFill>
                <a:latin typeface="Calibri"/>
                <a:ea typeface="Calibri"/>
                <a:cs typeface="Calibri"/>
                <a:sym typeface="Calibri"/>
              </a:rPr>
              <a:t>Costo de la reparación: +16 % de tiempo por corrida. Despreciable.</a:t>
            </a:r>
            <a:endParaRPr b="0" i="0" sz="1200" u="none" cap="none" strike="noStrike">
              <a:solidFill>
                <a:schemeClr val="dk1"/>
              </a:solidFill>
              <a:latin typeface="Calibri"/>
              <a:ea typeface="Calibri"/>
              <a:cs typeface="Calibri"/>
              <a:sym typeface="Calibri"/>
            </a:endParaRPr>
          </a:p>
        </p:txBody>
      </p:sp>
      <p:sp>
        <p:nvSpPr>
          <p:cNvPr id="283" name="Google Shape;283;p12"/>
          <p:cNvSpPr/>
          <p:nvPr/>
        </p:nvSpPr>
        <p:spPr>
          <a:xfrm>
            <a:off x="548640" y="4343400"/>
            <a:ext cx="3566160" cy="1417320"/>
          </a:xfrm>
          <a:prstGeom prst="roundRect">
            <a:avLst>
              <a:gd fmla="val 5161"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txBox="1"/>
          <p:nvPr/>
        </p:nvSpPr>
        <p:spPr>
          <a:xfrm>
            <a:off x="731520" y="4526280"/>
            <a:ext cx="32004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4550"/>
              </a:buClr>
              <a:buSzPts val="3000"/>
              <a:buFont typeface="Cambria"/>
              <a:buNone/>
            </a:pPr>
            <a:r>
              <a:rPr b="1" i="0" lang="en-US" sz="3000" u="none" cap="none" strike="noStrike">
                <a:solidFill>
                  <a:srgbClr val="D64550"/>
                </a:solidFill>
                <a:latin typeface="Cambria"/>
                <a:ea typeface="Cambria"/>
                <a:cs typeface="Cambria"/>
                <a:sym typeface="Cambria"/>
              </a:rPr>
              <a:t>0 %</a:t>
            </a:r>
            <a:endParaRPr b="0" i="0" sz="3000" u="none" cap="none" strike="noStrike">
              <a:solidFill>
                <a:schemeClr val="dk1"/>
              </a:solidFill>
              <a:latin typeface="Calibri"/>
              <a:ea typeface="Calibri"/>
              <a:cs typeface="Calibri"/>
              <a:sym typeface="Calibri"/>
            </a:endParaRPr>
          </a:p>
        </p:txBody>
      </p:sp>
      <p:sp>
        <p:nvSpPr>
          <p:cNvPr id="285" name="Google Shape;285;p12"/>
          <p:cNvSpPr txBox="1"/>
          <p:nvPr/>
        </p:nvSpPr>
        <p:spPr>
          <a:xfrm>
            <a:off x="731520" y="5074920"/>
            <a:ext cx="32004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corridas con solución ejecutable — operadores base</a:t>
            </a:r>
            <a:endParaRPr b="0" i="0" sz="1150" u="none" cap="none" strike="noStrike">
              <a:solidFill>
                <a:schemeClr val="dk1"/>
              </a:solidFill>
              <a:latin typeface="Calibri"/>
              <a:ea typeface="Calibri"/>
              <a:cs typeface="Calibri"/>
              <a:sym typeface="Calibri"/>
            </a:endParaRPr>
          </a:p>
        </p:txBody>
      </p:sp>
      <p:sp>
        <p:nvSpPr>
          <p:cNvPr id="286" name="Google Shape;286;p12"/>
          <p:cNvSpPr/>
          <p:nvPr/>
        </p:nvSpPr>
        <p:spPr>
          <a:xfrm>
            <a:off x="4343400" y="4343400"/>
            <a:ext cx="3566160" cy="1417320"/>
          </a:xfrm>
          <a:prstGeom prst="roundRect">
            <a:avLst>
              <a:gd fmla="val 5161"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txBox="1"/>
          <p:nvPr/>
        </p:nvSpPr>
        <p:spPr>
          <a:xfrm>
            <a:off x="4526280" y="4526280"/>
            <a:ext cx="32004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6B"/>
              </a:buClr>
              <a:buSzPts val="3000"/>
              <a:buFont typeface="Cambria"/>
              <a:buNone/>
            </a:pPr>
            <a:r>
              <a:rPr b="1" i="0" lang="en-US" sz="3000" u="none" cap="none" strike="noStrike">
                <a:solidFill>
                  <a:srgbClr val="2E9E6B"/>
                </a:solidFill>
                <a:latin typeface="Cambria"/>
                <a:ea typeface="Cambria"/>
                <a:cs typeface="Cambria"/>
                <a:sym typeface="Cambria"/>
              </a:rPr>
              <a:t>100 %</a:t>
            </a:r>
            <a:endParaRPr b="0" i="0" sz="3000" u="none" cap="none" strike="noStrike">
              <a:solidFill>
                <a:schemeClr val="dk1"/>
              </a:solidFill>
              <a:latin typeface="Calibri"/>
              <a:ea typeface="Calibri"/>
              <a:cs typeface="Calibri"/>
              <a:sym typeface="Calibri"/>
            </a:endParaRPr>
          </a:p>
        </p:txBody>
      </p:sp>
      <p:sp>
        <p:nvSpPr>
          <p:cNvPr id="288" name="Google Shape;288;p12"/>
          <p:cNvSpPr txBox="1"/>
          <p:nvPr/>
        </p:nvSpPr>
        <p:spPr>
          <a:xfrm>
            <a:off x="4526280" y="5074920"/>
            <a:ext cx="32004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corridas con solución ejecutable — operadores nuevos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13"/>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RESULTADO 3</a:t>
            </a:r>
            <a:endParaRPr b="0" i="0" sz="1100" u="none" cap="none" strike="noStrike">
              <a:solidFill>
                <a:schemeClr val="dk1"/>
              </a:solidFill>
              <a:latin typeface="Calibri"/>
              <a:ea typeface="Calibri"/>
              <a:cs typeface="Calibri"/>
              <a:sym typeface="Calibri"/>
            </a:endParaRPr>
          </a:p>
        </p:txBody>
      </p:sp>
      <p:sp>
        <p:nvSpPr>
          <p:cNvPr id="295" name="Google Shape;295;p13"/>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La mutación y su tasa</a:t>
            </a:r>
            <a:endParaRPr b="0" i="0" sz="3000" u="none" cap="none" strike="noStrike">
              <a:solidFill>
                <a:schemeClr val="dk1"/>
              </a:solidFill>
              <a:latin typeface="Calibri"/>
              <a:ea typeface="Calibri"/>
              <a:cs typeface="Calibri"/>
              <a:sym typeface="Calibri"/>
            </a:endParaRPr>
          </a:p>
        </p:txBody>
      </p:sp>
      <p:pic>
        <p:nvPicPr>
          <p:cNvPr descr="C:/Users/Ampue/Documents/PUCP/Diplomado IA/computacion_evolutiva/trabajo_final/figuras/exp2_tasa_mutacion.png" id="296" name="Google Shape;296;p13"/>
          <p:cNvPicPr preferRelativeResize="0"/>
          <p:nvPr/>
        </p:nvPicPr>
        <p:blipFill rotWithShape="1">
          <a:blip r:embed="rId3">
            <a:alphaModFix/>
          </a:blip>
          <a:srcRect b="0" l="0" r="0" t="0"/>
          <a:stretch/>
        </p:blipFill>
        <p:spPr>
          <a:xfrm>
            <a:off x="548640" y="1234440"/>
            <a:ext cx="4362038" cy="3163824"/>
          </a:xfrm>
          <a:prstGeom prst="rect">
            <a:avLst/>
          </a:prstGeom>
          <a:noFill/>
          <a:ln>
            <a:noFill/>
          </a:ln>
        </p:spPr>
      </p:pic>
      <p:sp>
        <p:nvSpPr>
          <p:cNvPr id="297" name="Google Shape;297;p13"/>
          <p:cNvSpPr/>
          <p:nvPr/>
        </p:nvSpPr>
        <p:spPr>
          <a:xfrm>
            <a:off x="6263640" y="1234440"/>
            <a:ext cx="5394960" cy="3163824"/>
          </a:xfrm>
          <a:prstGeom prst="roundRect">
            <a:avLst>
              <a:gd fmla="val 2312"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txBox="1"/>
          <p:nvPr/>
        </p:nvSpPr>
        <p:spPr>
          <a:xfrm>
            <a:off x="6583680" y="1463040"/>
            <a:ext cx="4754880" cy="2743200"/>
          </a:xfrm>
          <a:prstGeom prst="rect">
            <a:avLst/>
          </a:prstGeom>
          <a:noFill/>
          <a:ln>
            <a:noFill/>
          </a:ln>
        </p:spPr>
        <p:txBody>
          <a:bodyPr anchorCtr="0" anchor="t" bIns="0" lIns="0" spcFirstLastPara="1" rIns="0" wrap="square" tIns="0">
            <a:noAutofit/>
          </a:bodyPr>
          <a:lstStyle/>
          <a:p>
            <a:pPr indent="-177800" lvl="0" marL="177800" marR="0" rtl="0" algn="l">
              <a:lnSpc>
                <a:spcPct val="105000"/>
              </a:lnSpc>
              <a:spcBef>
                <a:spcPts val="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La mutación lleva del 4,9546 sin mutar hasta el óptimo exacto 5,0819 (p = 0,00195).</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Con flight_or_gate a pm = 0,7 las 10 corridas alcanzan el óptimo: éxito 100 % y desviación 0.</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La respuesta a la tasa no es monótona: el éxito sube de 30 % (pm = 0,1) a 100 % (pm = 0,7) y cae a 30 % en pm = 0,9.</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Mutar un solo nivel por evento supera a mutar los dos en cadena: 100 % contra 10 % de éxito a la misma tasa.</a:t>
            </a:r>
            <a:endParaRPr b="0" i="0" sz="1250" u="none" cap="none" strike="noStrike">
              <a:solidFill>
                <a:schemeClr val="dk1"/>
              </a:solidFill>
              <a:latin typeface="Calibri"/>
              <a:ea typeface="Calibri"/>
              <a:cs typeface="Calibri"/>
              <a:sym typeface="Calibri"/>
            </a:endParaRPr>
          </a:p>
        </p:txBody>
      </p:sp>
      <p:sp>
        <p:nvSpPr>
          <p:cNvPr id="299" name="Google Shape;299;p13"/>
          <p:cNvSpPr/>
          <p:nvPr/>
        </p:nvSpPr>
        <p:spPr>
          <a:xfrm>
            <a:off x="548640" y="4663440"/>
            <a:ext cx="3566160" cy="1097280"/>
          </a:xfrm>
          <a:prstGeom prst="roundRect">
            <a:avLst>
              <a:gd fmla="val 6667"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txBox="1"/>
          <p:nvPr/>
        </p:nvSpPr>
        <p:spPr>
          <a:xfrm>
            <a:off x="731520" y="4800600"/>
            <a:ext cx="3200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900"/>
              <a:buFont typeface="Cambria"/>
              <a:buNone/>
            </a:pPr>
            <a:r>
              <a:rPr b="1" i="0" lang="en-US" sz="1900" u="none" cap="none" strike="noStrike">
                <a:solidFill>
                  <a:srgbClr val="F2A65A"/>
                </a:solidFill>
                <a:latin typeface="Cambria"/>
                <a:ea typeface="Cambria"/>
                <a:cs typeface="Cambria"/>
                <a:sym typeface="Cambria"/>
              </a:rPr>
              <a:t>4,9546 → 5,0819</a:t>
            </a:r>
            <a:endParaRPr b="0" i="0" sz="1900" u="none" cap="none" strike="noStrike">
              <a:solidFill>
                <a:schemeClr val="dk1"/>
              </a:solidFill>
              <a:latin typeface="Calibri"/>
              <a:ea typeface="Calibri"/>
              <a:cs typeface="Calibri"/>
              <a:sym typeface="Calibri"/>
            </a:endParaRPr>
          </a:p>
        </p:txBody>
      </p:sp>
      <p:sp>
        <p:nvSpPr>
          <p:cNvPr id="301" name="Google Shape;301;p13"/>
          <p:cNvSpPr txBox="1"/>
          <p:nvPr/>
        </p:nvSpPr>
        <p:spPr>
          <a:xfrm>
            <a:off x="731520" y="5257800"/>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fitness medio</a:t>
            </a:r>
            <a:endParaRPr b="0" i="0" sz="1150" u="none" cap="none" strike="noStrike">
              <a:solidFill>
                <a:schemeClr val="dk1"/>
              </a:solidFill>
              <a:latin typeface="Calibri"/>
              <a:ea typeface="Calibri"/>
              <a:cs typeface="Calibri"/>
              <a:sym typeface="Calibri"/>
            </a:endParaRPr>
          </a:p>
        </p:txBody>
      </p:sp>
      <p:sp>
        <p:nvSpPr>
          <p:cNvPr id="302" name="Google Shape;302;p13"/>
          <p:cNvSpPr/>
          <p:nvPr/>
        </p:nvSpPr>
        <p:spPr>
          <a:xfrm>
            <a:off x="4343400" y="4663440"/>
            <a:ext cx="3566160" cy="1097280"/>
          </a:xfrm>
          <a:prstGeom prst="roundRect">
            <a:avLst>
              <a:gd fmla="val 6667"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txBox="1"/>
          <p:nvPr/>
        </p:nvSpPr>
        <p:spPr>
          <a:xfrm>
            <a:off x="4526280" y="4800600"/>
            <a:ext cx="3200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900"/>
              <a:buFont typeface="Cambria"/>
              <a:buNone/>
            </a:pPr>
            <a:r>
              <a:rPr b="1" i="0" lang="en-US" sz="1900" u="none" cap="none" strike="noStrike">
                <a:solidFill>
                  <a:srgbClr val="F2A65A"/>
                </a:solidFill>
                <a:latin typeface="Cambria"/>
                <a:ea typeface="Cambria"/>
                <a:cs typeface="Cambria"/>
                <a:sym typeface="Cambria"/>
              </a:rPr>
              <a:t>0,0573 → 0,0000</a:t>
            </a:r>
            <a:endParaRPr b="0" i="0" sz="1900" u="none" cap="none" strike="noStrike">
              <a:solidFill>
                <a:schemeClr val="dk1"/>
              </a:solidFill>
              <a:latin typeface="Calibri"/>
              <a:ea typeface="Calibri"/>
              <a:cs typeface="Calibri"/>
              <a:sym typeface="Calibri"/>
            </a:endParaRPr>
          </a:p>
        </p:txBody>
      </p:sp>
      <p:sp>
        <p:nvSpPr>
          <p:cNvPr id="304" name="Google Shape;304;p13"/>
          <p:cNvSpPr txBox="1"/>
          <p:nvPr/>
        </p:nvSpPr>
        <p:spPr>
          <a:xfrm>
            <a:off x="4526280" y="5257800"/>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desviación estándar</a:t>
            </a:r>
            <a:endParaRPr b="0" i="0" sz="1150" u="none" cap="none" strike="noStrike">
              <a:solidFill>
                <a:schemeClr val="dk1"/>
              </a:solidFill>
              <a:latin typeface="Calibri"/>
              <a:ea typeface="Calibri"/>
              <a:cs typeface="Calibri"/>
              <a:sym typeface="Calibri"/>
            </a:endParaRPr>
          </a:p>
        </p:txBody>
      </p:sp>
      <p:sp>
        <p:nvSpPr>
          <p:cNvPr id="305" name="Google Shape;305;p13"/>
          <p:cNvSpPr/>
          <p:nvPr/>
        </p:nvSpPr>
        <p:spPr>
          <a:xfrm>
            <a:off x="8138160" y="4663440"/>
            <a:ext cx="3566160" cy="1097280"/>
          </a:xfrm>
          <a:prstGeom prst="roundRect">
            <a:avLst>
              <a:gd fmla="val 6667"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txBox="1"/>
          <p:nvPr/>
        </p:nvSpPr>
        <p:spPr>
          <a:xfrm>
            <a:off x="8321040" y="4800600"/>
            <a:ext cx="3200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900"/>
              <a:buFont typeface="Cambria"/>
              <a:buNone/>
            </a:pPr>
            <a:r>
              <a:rPr b="1" i="0" lang="en-US" sz="1900" u="none" cap="none" strike="noStrike">
                <a:solidFill>
                  <a:srgbClr val="F2A65A"/>
                </a:solidFill>
                <a:latin typeface="Cambria"/>
                <a:ea typeface="Cambria"/>
                <a:cs typeface="Cambria"/>
                <a:sym typeface="Cambria"/>
              </a:rPr>
              <a:t>pm = 0,7</a:t>
            </a:r>
            <a:endParaRPr b="0" i="0" sz="1900" u="none" cap="none" strike="noStrike">
              <a:solidFill>
                <a:schemeClr val="dk1"/>
              </a:solidFill>
              <a:latin typeface="Calibri"/>
              <a:ea typeface="Calibri"/>
              <a:cs typeface="Calibri"/>
              <a:sym typeface="Calibri"/>
            </a:endParaRPr>
          </a:p>
        </p:txBody>
      </p:sp>
      <p:sp>
        <p:nvSpPr>
          <p:cNvPr id="307" name="Google Shape;307;p13"/>
          <p:cNvSpPr txBox="1"/>
          <p:nvPr/>
        </p:nvSpPr>
        <p:spPr>
          <a:xfrm>
            <a:off x="8321040" y="5257800"/>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con flight_or_gate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B46"/>
        </a:solidFill>
      </p:bgPr>
    </p:bg>
    <p:spTree>
      <p:nvGrpSpPr>
        <p:cNvPr id="312" name="Shape 312"/>
        <p:cNvGrpSpPr/>
        <p:nvPr/>
      </p:nvGrpSpPr>
      <p:grpSpPr>
        <a:xfrm>
          <a:off x="0" y="0"/>
          <a:ext cx="0" cy="0"/>
          <a:chOff x="0" y="0"/>
          <a:chExt cx="0" cy="0"/>
        </a:xfrm>
      </p:grpSpPr>
      <p:sp>
        <p:nvSpPr>
          <p:cNvPr id="313" name="Google Shape;313;p14"/>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MULTIOBJETIVO</a:t>
            </a:r>
            <a:endParaRPr b="0" i="0" sz="1100" u="none" cap="none" strike="noStrike">
              <a:solidFill>
                <a:schemeClr val="dk1"/>
              </a:solidFill>
              <a:latin typeface="Calibri"/>
              <a:ea typeface="Calibri"/>
              <a:cs typeface="Calibri"/>
              <a:sym typeface="Calibri"/>
            </a:endParaRPr>
          </a:p>
        </p:txBody>
      </p:sp>
      <p:sp>
        <p:nvSpPr>
          <p:cNvPr id="314" name="Google Shape;314;p14"/>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NSGA-II: dos objetivos en conflicto</a:t>
            </a:r>
            <a:endParaRPr b="0" i="0" sz="3000" u="none" cap="none" strike="noStrike">
              <a:solidFill>
                <a:schemeClr val="dk1"/>
              </a:solidFill>
              <a:latin typeface="Calibri"/>
              <a:ea typeface="Calibri"/>
              <a:cs typeface="Calibri"/>
              <a:sym typeface="Calibri"/>
            </a:endParaRPr>
          </a:p>
        </p:txBody>
      </p:sp>
      <p:sp>
        <p:nvSpPr>
          <p:cNvPr id="315" name="Google Shape;315;p14"/>
          <p:cNvSpPr/>
          <p:nvPr/>
        </p:nvSpPr>
        <p:spPr>
          <a:xfrm>
            <a:off x="548640" y="1280160"/>
            <a:ext cx="5394960" cy="1371600"/>
          </a:xfrm>
          <a:prstGeom prst="roundRect">
            <a:avLst>
              <a:gd fmla="val 5333"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txBox="1"/>
          <p:nvPr/>
        </p:nvSpPr>
        <p:spPr>
          <a:xfrm>
            <a:off x="868680" y="1463040"/>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200"/>
              <a:buFont typeface="Calibri"/>
              <a:buNone/>
            </a:pPr>
            <a:r>
              <a:rPr b="1" i="0" lang="en-US" sz="1200" u="none" cap="none" strike="noStrike">
                <a:solidFill>
                  <a:srgbClr val="F2A65A"/>
                </a:solidFill>
                <a:latin typeface="Calibri"/>
                <a:ea typeface="Calibri"/>
                <a:cs typeface="Calibri"/>
                <a:sym typeface="Calibri"/>
              </a:rPr>
              <a:t>f1 · maximizar</a:t>
            </a:r>
            <a:endParaRPr b="0" i="0" sz="1200" u="none" cap="none" strike="noStrike">
              <a:solidFill>
                <a:schemeClr val="dk1"/>
              </a:solidFill>
              <a:latin typeface="Calibri"/>
              <a:ea typeface="Calibri"/>
              <a:cs typeface="Calibri"/>
              <a:sym typeface="Calibri"/>
            </a:endParaRPr>
          </a:p>
        </p:txBody>
      </p:sp>
      <p:sp>
        <p:nvSpPr>
          <p:cNvPr id="317" name="Google Shape;317;p14"/>
          <p:cNvSpPr txBox="1"/>
          <p:nvPr/>
        </p:nvSpPr>
        <p:spPr>
          <a:xfrm>
            <a:off x="868680" y="1783080"/>
            <a:ext cx="475488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Total de pasajeros de los vuelos escogidos: el servicio prestado.</a:t>
            </a:r>
            <a:endParaRPr b="0" i="0" sz="1350" u="none" cap="none" strike="noStrike">
              <a:solidFill>
                <a:schemeClr val="dk1"/>
              </a:solidFill>
              <a:latin typeface="Calibri"/>
              <a:ea typeface="Calibri"/>
              <a:cs typeface="Calibri"/>
              <a:sym typeface="Calibri"/>
            </a:endParaRPr>
          </a:p>
        </p:txBody>
      </p:sp>
      <p:sp>
        <p:nvSpPr>
          <p:cNvPr id="318" name="Google Shape;318;p14"/>
          <p:cNvSpPr/>
          <p:nvPr/>
        </p:nvSpPr>
        <p:spPr>
          <a:xfrm>
            <a:off x="6263640" y="1280160"/>
            <a:ext cx="5394960" cy="1371600"/>
          </a:xfrm>
          <a:prstGeom prst="roundRect">
            <a:avLst>
              <a:gd fmla="val 5333"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txBox="1"/>
          <p:nvPr/>
        </p:nvSpPr>
        <p:spPr>
          <a:xfrm>
            <a:off x="6583680" y="1463040"/>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200"/>
              <a:buFont typeface="Calibri"/>
              <a:buNone/>
            </a:pPr>
            <a:r>
              <a:rPr b="1" i="0" lang="en-US" sz="1200" u="none" cap="none" strike="noStrike">
                <a:solidFill>
                  <a:srgbClr val="F2A65A"/>
                </a:solidFill>
                <a:latin typeface="Calibri"/>
                <a:ea typeface="Calibri"/>
                <a:cs typeface="Calibri"/>
                <a:sym typeface="Calibri"/>
              </a:rPr>
              <a:t>f2 · minimizar</a:t>
            </a:r>
            <a:endParaRPr b="0" i="0" sz="1200" u="none" cap="none" strike="noStrike">
              <a:solidFill>
                <a:schemeClr val="dk1"/>
              </a:solidFill>
              <a:latin typeface="Calibri"/>
              <a:ea typeface="Calibri"/>
              <a:cs typeface="Calibri"/>
              <a:sym typeface="Calibri"/>
            </a:endParaRPr>
          </a:p>
        </p:txBody>
      </p:sp>
      <p:sp>
        <p:nvSpPr>
          <p:cNvPr id="320" name="Google Shape;320;p14"/>
          <p:cNvSpPr txBox="1"/>
          <p:nvPr/>
        </p:nvSpPr>
        <p:spPr>
          <a:xfrm>
            <a:off x="6583680" y="1783080"/>
            <a:ext cx="475488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Tiempo total de desembarque: la ocupación del recurso.</a:t>
            </a:r>
            <a:endParaRPr b="0" i="0" sz="1350" u="none" cap="none" strike="noStrike">
              <a:solidFill>
                <a:schemeClr val="dk1"/>
              </a:solidFill>
              <a:latin typeface="Calibri"/>
              <a:ea typeface="Calibri"/>
              <a:cs typeface="Calibri"/>
              <a:sym typeface="Calibri"/>
            </a:endParaRPr>
          </a:p>
        </p:txBody>
      </p:sp>
      <p:sp>
        <p:nvSpPr>
          <p:cNvPr id="321" name="Google Shape;321;p14"/>
          <p:cNvSpPr txBox="1"/>
          <p:nvPr/>
        </p:nvSpPr>
        <p:spPr>
          <a:xfrm>
            <a:off x="548640" y="2788920"/>
            <a:ext cx="11109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400"/>
              <a:buFont typeface="Calibri"/>
              <a:buNone/>
            </a:pPr>
            <a:r>
              <a:rPr b="1" i="0" lang="en-US" sz="1400" u="none" cap="none" strike="noStrike">
                <a:solidFill>
                  <a:srgbClr val="F2A65A"/>
                </a:solidFill>
                <a:latin typeface="Calibri"/>
                <a:ea typeface="Calibri"/>
                <a:cs typeface="Calibri"/>
                <a:sym typeface="Calibri"/>
              </a:rPr>
              <a:t>Están en conflicto: todo vuelo agregado suma pasajeros, pero también suma tiempo de puerta.</a:t>
            </a:r>
            <a:endParaRPr b="0" i="0" sz="1400" u="none" cap="none" strike="noStrike">
              <a:solidFill>
                <a:schemeClr val="dk1"/>
              </a:solidFill>
              <a:latin typeface="Calibri"/>
              <a:ea typeface="Calibri"/>
              <a:cs typeface="Calibri"/>
              <a:sym typeface="Calibri"/>
            </a:endParaRPr>
          </a:p>
        </p:txBody>
      </p:sp>
      <p:sp>
        <p:nvSpPr>
          <p:cNvPr id="322" name="Google Shape;322;p14"/>
          <p:cNvSpPr/>
          <p:nvPr/>
        </p:nvSpPr>
        <p:spPr>
          <a:xfrm>
            <a:off x="548640" y="3291840"/>
            <a:ext cx="2606040" cy="1828800"/>
          </a:xfrm>
          <a:prstGeom prst="roundRect">
            <a:avLst>
              <a:gd fmla="val 4000"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p:nvPr/>
        </p:nvSpPr>
        <p:spPr>
          <a:xfrm>
            <a:off x="777240" y="3474720"/>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4"/>
          <p:cNvSpPr txBox="1"/>
          <p:nvPr/>
        </p:nvSpPr>
        <p:spPr>
          <a:xfrm>
            <a:off x="777240" y="34747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325" name="Google Shape;325;p14"/>
          <p:cNvSpPr txBox="1"/>
          <p:nvPr/>
        </p:nvSpPr>
        <p:spPr>
          <a:xfrm>
            <a:off x="777240" y="393192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Dominancia</a:t>
            </a:r>
            <a:endParaRPr b="0" i="0" sz="1400" u="none" cap="none" strike="noStrike">
              <a:solidFill>
                <a:schemeClr val="dk1"/>
              </a:solidFill>
              <a:latin typeface="Calibri"/>
              <a:ea typeface="Calibri"/>
              <a:cs typeface="Calibri"/>
              <a:sym typeface="Calibri"/>
            </a:endParaRPr>
          </a:p>
        </p:txBody>
      </p:sp>
      <p:sp>
        <p:nvSpPr>
          <p:cNvPr id="326" name="Google Shape;326;p14"/>
          <p:cNvSpPr txBox="1"/>
          <p:nvPr/>
        </p:nvSpPr>
        <p:spPr>
          <a:xfrm>
            <a:off x="777240" y="4224528"/>
            <a:ext cx="219456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A domina a B si es al menos igual en ambos objetivos y mejor en uno.</a:t>
            </a:r>
            <a:endParaRPr b="0" i="0" sz="1150" u="none" cap="none" strike="noStrike">
              <a:solidFill>
                <a:schemeClr val="dk1"/>
              </a:solidFill>
              <a:latin typeface="Calibri"/>
              <a:ea typeface="Calibri"/>
              <a:cs typeface="Calibri"/>
              <a:sym typeface="Calibri"/>
            </a:endParaRPr>
          </a:p>
        </p:txBody>
      </p:sp>
      <p:sp>
        <p:nvSpPr>
          <p:cNvPr id="327" name="Google Shape;327;p14"/>
          <p:cNvSpPr/>
          <p:nvPr/>
        </p:nvSpPr>
        <p:spPr>
          <a:xfrm>
            <a:off x="3383280" y="3291840"/>
            <a:ext cx="2606040" cy="1828800"/>
          </a:xfrm>
          <a:prstGeom prst="roundRect">
            <a:avLst>
              <a:gd fmla="val 4000"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4"/>
          <p:cNvSpPr/>
          <p:nvPr/>
        </p:nvSpPr>
        <p:spPr>
          <a:xfrm>
            <a:off x="3611880" y="3474720"/>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4"/>
          <p:cNvSpPr txBox="1"/>
          <p:nvPr/>
        </p:nvSpPr>
        <p:spPr>
          <a:xfrm>
            <a:off x="3611880" y="34747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330" name="Google Shape;330;p14"/>
          <p:cNvSpPr txBox="1"/>
          <p:nvPr/>
        </p:nvSpPr>
        <p:spPr>
          <a:xfrm>
            <a:off x="3611880" y="393192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Frentes</a:t>
            </a:r>
            <a:endParaRPr b="0" i="0" sz="1400" u="none" cap="none" strike="noStrike">
              <a:solidFill>
                <a:schemeClr val="dk1"/>
              </a:solidFill>
              <a:latin typeface="Calibri"/>
              <a:ea typeface="Calibri"/>
              <a:cs typeface="Calibri"/>
              <a:sym typeface="Calibri"/>
            </a:endParaRPr>
          </a:p>
        </p:txBody>
      </p:sp>
      <p:sp>
        <p:nvSpPr>
          <p:cNvPr id="331" name="Google Shape;331;p14"/>
          <p:cNvSpPr txBox="1"/>
          <p:nvPr/>
        </p:nvSpPr>
        <p:spPr>
          <a:xfrm>
            <a:off x="3611880" y="4224528"/>
            <a:ext cx="219456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La población se ordena en capas; el frente 0 es el de las no dominadas.</a:t>
            </a:r>
            <a:endParaRPr b="0" i="0" sz="1150" u="none" cap="none" strike="noStrike">
              <a:solidFill>
                <a:schemeClr val="dk1"/>
              </a:solidFill>
              <a:latin typeface="Calibri"/>
              <a:ea typeface="Calibri"/>
              <a:cs typeface="Calibri"/>
              <a:sym typeface="Calibri"/>
            </a:endParaRPr>
          </a:p>
        </p:txBody>
      </p:sp>
      <p:sp>
        <p:nvSpPr>
          <p:cNvPr id="332" name="Google Shape;332;p14"/>
          <p:cNvSpPr/>
          <p:nvPr/>
        </p:nvSpPr>
        <p:spPr>
          <a:xfrm>
            <a:off x="6217920" y="3291840"/>
            <a:ext cx="2606040" cy="1828800"/>
          </a:xfrm>
          <a:prstGeom prst="roundRect">
            <a:avLst>
              <a:gd fmla="val 4000"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4"/>
          <p:cNvSpPr/>
          <p:nvPr/>
        </p:nvSpPr>
        <p:spPr>
          <a:xfrm>
            <a:off x="6446520" y="3474720"/>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
          <p:cNvSpPr txBox="1"/>
          <p:nvPr/>
        </p:nvSpPr>
        <p:spPr>
          <a:xfrm>
            <a:off x="6446520" y="34747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335" name="Google Shape;335;p14"/>
          <p:cNvSpPr txBox="1"/>
          <p:nvPr/>
        </p:nvSpPr>
        <p:spPr>
          <a:xfrm>
            <a:off x="6446520" y="393192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Apiñamiento</a:t>
            </a:r>
            <a:endParaRPr b="0" i="0" sz="1400" u="none" cap="none" strike="noStrike">
              <a:solidFill>
                <a:schemeClr val="dk1"/>
              </a:solidFill>
              <a:latin typeface="Calibri"/>
              <a:ea typeface="Calibri"/>
              <a:cs typeface="Calibri"/>
              <a:sym typeface="Calibri"/>
            </a:endParaRPr>
          </a:p>
        </p:txBody>
      </p:sp>
      <p:sp>
        <p:nvSpPr>
          <p:cNvPr id="336" name="Google Shape;336;p14"/>
          <p:cNvSpPr txBox="1"/>
          <p:nvPr/>
        </p:nvSpPr>
        <p:spPr>
          <a:xfrm>
            <a:off x="6446520" y="4224528"/>
            <a:ext cx="219456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Dentro de un frente se prefiere al más aislado, para repartir la frontera.</a:t>
            </a:r>
            <a:endParaRPr b="0" i="0" sz="1150" u="none" cap="none" strike="noStrike">
              <a:solidFill>
                <a:schemeClr val="dk1"/>
              </a:solidFill>
              <a:latin typeface="Calibri"/>
              <a:ea typeface="Calibri"/>
              <a:cs typeface="Calibri"/>
              <a:sym typeface="Calibri"/>
            </a:endParaRPr>
          </a:p>
        </p:txBody>
      </p:sp>
      <p:sp>
        <p:nvSpPr>
          <p:cNvPr id="337" name="Google Shape;337;p14"/>
          <p:cNvSpPr/>
          <p:nvPr/>
        </p:nvSpPr>
        <p:spPr>
          <a:xfrm>
            <a:off x="9052560" y="3291840"/>
            <a:ext cx="2606040" cy="1828800"/>
          </a:xfrm>
          <a:prstGeom prst="roundRect">
            <a:avLst>
              <a:gd fmla="val 4000" name="adj"/>
            </a:avLst>
          </a:prstGeom>
          <a:solidFill>
            <a:srgbClr val="17395B"/>
          </a:solidFill>
          <a:ln cap="flat" cmpd="sng" w="12700">
            <a:solidFill>
              <a:srgbClr val="1739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4"/>
          <p:cNvSpPr/>
          <p:nvPr/>
        </p:nvSpPr>
        <p:spPr>
          <a:xfrm>
            <a:off x="9281160" y="3474720"/>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
          <p:cNvSpPr txBox="1"/>
          <p:nvPr/>
        </p:nvSpPr>
        <p:spPr>
          <a:xfrm>
            <a:off x="9281160" y="34747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340" name="Google Shape;340;p14"/>
          <p:cNvSpPr txBox="1"/>
          <p:nvPr/>
        </p:nvSpPr>
        <p:spPr>
          <a:xfrm>
            <a:off x="9281160" y="393192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Elitismo</a:t>
            </a:r>
            <a:endParaRPr b="0" i="0" sz="1400" u="none" cap="none" strike="noStrike">
              <a:solidFill>
                <a:schemeClr val="dk1"/>
              </a:solidFill>
              <a:latin typeface="Calibri"/>
              <a:ea typeface="Calibri"/>
              <a:cs typeface="Calibri"/>
              <a:sym typeface="Calibri"/>
            </a:endParaRPr>
          </a:p>
        </p:txBody>
      </p:sp>
      <p:sp>
        <p:nvSpPr>
          <p:cNvPr id="341" name="Google Shape;341;p14"/>
          <p:cNvSpPr txBox="1"/>
          <p:nvPr/>
        </p:nvSpPr>
        <p:spPr>
          <a:xfrm>
            <a:off x="9281160" y="4224528"/>
            <a:ext cx="219456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Padres e hijos compiten juntos; se llena frente por frente.</a:t>
            </a:r>
            <a:endParaRPr b="0" i="0" sz="1150" u="none" cap="none" strike="noStrike">
              <a:solidFill>
                <a:schemeClr val="dk1"/>
              </a:solidFill>
              <a:latin typeface="Calibri"/>
              <a:ea typeface="Calibri"/>
              <a:cs typeface="Calibri"/>
              <a:sym typeface="Calibri"/>
            </a:endParaRPr>
          </a:p>
        </p:txBody>
      </p:sp>
      <p:sp>
        <p:nvSpPr>
          <p:cNvPr id="342" name="Google Shape;342;p14"/>
          <p:cNvSpPr txBox="1"/>
          <p:nvPr/>
        </p:nvSpPr>
        <p:spPr>
          <a:xfrm>
            <a:off x="548640" y="5349240"/>
            <a:ext cx="111099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50"/>
              <a:buFont typeface="Calibri"/>
              <a:buNone/>
            </a:pPr>
            <a:r>
              <a:rPr b="0" i="1" lang="en-US" sz="1250" u="none" cap="none" strike="noStrike">
                <a:solidFill>
                  <a:srgbClr val="CADCFC"/>
                </a:solidFill>
                <a:latin typeface="Calibri"/>
                <a:ea typeface="Calibri"/>
                <a:cs typeface="Calibri"/>
                <a:sym typeface="Calibri"/>
              </a:rPr>
              <a:t>Mismo cromosoma y mismos operadores del mono-objetivo: IndividualNSGA hereda de IndividualGA, con uniform_assignment y flight_or_gate a pm = 0,7. Todo en Python puro, sin librerías de computación evolutiva.</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15"/>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RESULTADO 4</a:t>
            </a:r>
            <a:endParaRPr b="0" i="0" sz="1100" u="none" cap="none" strike="noStrike">
              <a:solidFill>
                <a:schemeClr val="dk1"/>
              </a:solidFill>
              <a:latin typeface="Calibri"/>
              <a:ea typeface="Calibri"/>
              <a:cs typeface="Calibri"/>
              <a:sym typeface="Calibri"/>
            </a:endParaRPr>
          </a:p>
        </p:txBody>
      </p:sp>
      <p:sp>
        <p:nvSpPr>
          <p:cNvPr id="349" name="Google Shape;349;p15"/>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Las fronteras de Pareto</a:t>
            </a:r>
            <a:endParaRPr b="0" i="0" sz="3000" u="none" cap="none" strike="noStrike">
              <a:solidFill>
                <a:schemeClr val="dk1"/>
              </a:solidFill>
              <a:latin typeface="Calibri"/>
              <a:ea typeface="Calibri"/>
              <a:cs typeface="Calibri"/>
              <a:sym typeface="Calibri"/>
            </a:endParaRPr>
          </a:p>
        </p:txBody>
      </p:sp>
      <p:pic>
        <p:nvPicPr>
          <p:cNvPr descr="C:/Users/Ampue/Documents/PUCP/Diplomado IA/computacion_evolutiva/trabajo_final/figuras/pareto_fronteras.png" id="350" name="Google Shape;350;p15"/>
          <p:cNvPicPr preferRelativeResize="0"/>
          <p:nvPr/>
        </p:nvPicPr>
        <p:blipFill rotWithShape="1">
          <a:blip r:embed="rId3">
            <a:alphaModFix/>
          </a:blip>
          <a:srcRect b="0" l="0" r="0" t="0"/>
          <a:stretch/>
        </p:blipFill>
        <p:spPr>
          <a:xfrm>
            <a:off x="548640" y="1188720"/>
            <a:ext cx="6897173" cy="4370832"/>
          </a:xfrm>
          <a:prstGeom prst="rect">
            <a:avLst/>
          </a:prstGeom>
          <a:noFill/>
          <a:ln>
            <a:noFill/>
          </a:ln>
        </p:spPr>
      </p:pic>
      <p:sp>
        <p:nvSpPr>
          <p:cNvPr id="351" name="Google Shape;351;p15"/>
          <p:cNvSpPr/>
          <p:nvPr/>
        </p:nvSpPr>
        <p:spPr>
          <a:xfrm>
            <a:off x="7772400" y="1188720"/>
            <a:ext cx="3886200" cy="4370832"/>
          </a:xfrm>
          <a:prstGeom prst="roundRect">
            <a:avLst>
              <a:gd fmla="val 1882"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txBox="1"/>
          <p:nvPr/>
        </p:nvSpPr>
        <p:spPr>
          <a:xfrm>
            <a:off x="8046720" y="1371600"/>
            <a:ext cx="3337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500"/>
              <a:buFont typeface="Cambria"/>
              <a:buNone/>
            </a:pPr>
            <a:r>
              <a:rPr b="1" i="0" lang="en-US" sz="1500" u="none" cap="none" strike="noStrike">
                <a:solidFill>
                  <a:srgbClr val="1C7293"/>
                </a:solidFill>
                <a:latin typeface="Cambria"/>
                <a:ea typeface="Cambria"/>
                <a:cs typeface="Cambria"/>
                <a:sym typeface="Cambria"/>
              </a:rPr>
              <a:t>Qué muestran</a:t>
            </a:r>
            <a:endParaRPr b="0" i="0" sz="1500" u="none" cap="none" strike="noStrike">
              <a:solidFill>
                <a:schemeClr val="dk1"/>
              </a:solidFill>
              <a:latin typeface="Calibri"/>
              <a:ea typeface="Calibri"/>
              <a:cs typeface="Calibri"/>
              <a:sym typeface="Calibri"/>
            </a:endParaRPr>
          </a:p>
        </p:txBody>
      </p:sp>
      <p:sp>
        <p:nvSpPr>
          <p:cNvPr id="353" name="Google Shape;353;p15"/>
          <p:cNvSpPr txBox="1"/>
          <p:nvPr/>
        </p:nvSpPr>
        <p:spPr>
          <a:xfrm>
            <a:off x="8046720" y="1783080"/>
            <a:ext cx="3337560" cy="2286000"/>
          </a:xfrm>
          <a:prstGeom prst="rect">
            <a:avLst/>
          </a:prstGeom>
          <a:noFill/>
          <a:ln>
            <a:noFill/>
          </a:ln>
        </p:spPr>
        <p:txBody>
          <a:bodyPr anchorCtr="0" anchor="t" bIns="0" lIns="0" spcFirstLastPara="1" rIns="0" wrap="square" tIns="0">
            <a:noAutofit/>
          </a:bodyPr>
          <a:lstStyle/>
          <a:p>
            <a:pPr indent="-177800" lvl="0" marL="177800" marR="0" rtl="0" algn="l">
              <a:lnSpc>
                <a:spcPct val="105000"/>
              </a:lnSpc>
              <a:spcBef>
                <a:spcPts val="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Alcanza el óptimo teórico de pasajeros (653) en 4 de 5 corridas.</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37 a 42 soluciones distintas por corrida, todas no dominadas.</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Fronteras casi idénticas entre corridas: hipervolumen con 0,77 % de variación.</a:t>
            </a:r>
            <a:endParaRPr b="0" i="0" sz="1250" u="none" cap="none" strike="noStrike">
              <a:solidFill>
                <a:schemeClr val="dk1"/>
              </a:solidFill>
              <a:latin typeface="Calibri"/>
              <a:ea typeface="Calibri"/>
              <a:cs typeface="Calibri"/>
              <a:sym typeface="Calibri"/>
            </a:endParaRPr>
          </a:p>
          <a:p>
            <a:pPr indent="-177800" lvl="0" marL="177800" marR="0" rtl="0" algn="l">
              <a:lnSpc>
                <a:spcPct val="105000"/>
              </a:lnSpc>
              <a:spcBef>
                <a:spcPts val="800"/>
              </a:spcBef>
              <a:spcAft>
                <a:spcPts val="0"/>
              </a:spcAft>
              <a:buClr>
                <a:srgbClr val="1B2733"/>
              </a:buClr>
              <a:buSzPts val="1250"/>
              <a:buFont typeface="Calibri"/>
              <a:buChar char="•"/>
            </a:pPr>
            <a:r>
              <a:rPr b="0" i="0" lang="en-US" sz="1250" u="none" cap="none" strike="noStrike">
                <a:solidFill>
                  <a:srgbClr val="1B2733"/>
                </a:solidFill>
                <a:latin typeface="Calibri"/>
                <a:ea typeface="Calibri"/>
                <a:cs typeface="Calibri"/>
                <a:sym typeface="Calibri"/>
              </a:rPr>
              <a:t>La frontera combinada suma 64 puntos: de 289 a 653 pasajeros y de 699 a 2202 de tiempo.</a:t>
            </a:r>
            <a:endParaRPr b="0" i="0" sz="1250" u="none" cap="none" strike="noStrike">
              <a:solidFill>
                <a:schemeClr val="dk1"/>
              </a:solidFill>
              <a:latin typeface="Calibri"/>
              <a:ea typeface="Calibri"/>
              <a:cs typeface="Calibri"/>
              <a:sym typeface="Calibri"/>
            </a:endParaRPr>
          </a:p>
        </p:txBody>
      </p:sp>
      <p:sp>
        <p:nvSpPr>
          <p:cNvPr id="354" name="Google Shape;354;p15"/>
          <p:cNvSpPr/>
          <p:nvPr/>
        </p:nvSpPr>
        <p:spPr>
          <a:xfrm>
            <a:off x="8046720" y="4206240"/>
            <a:ext cx="3337560" cy="1143000"/>
          </a:xfrm>
          <a:prstGeom prst="roundRect">
            <a:avLst>
              <a:gd fmla="val 6400"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txBox="1"/>
          <p:nvPr/>
        </p:nvSpPr>
        <p:spPr>
          <a:xfrm>
            <a:off x="8229600" y="4206240"/>
            <a:ext cx="2971800" cy="114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Los últimos pasajeros son los más caros: pasar de 512 a 653 (+28 %) cuesta +94 % de tiempo.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16"/>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EL HALLAZGO</a:t>
            </a:r>
            <a:endParaRPr b="0" i="0" sz="1100" u="none" cap="none" strike="noStrike">
              <a:solidFill>
                <a:schemeClr val="dk1"/>
              </a:solidFill>
              <a:latin typeface="Calibri"/>
              <a:ea typeface="Calibri"/>
              <a:cs typeface="Calibri"/>
              <a:sym typeface="Calibri"/>
            </a:endParaRPr>
          </a:p>
        </p:txBody>
      </p:sp>
      <p:sp>
        <p:nvSpPr>
          <p:cNvPr id="362" name="Google Shape;362;p16"/>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El óptimo mono-objetivo está dominado</a:t>
            </a:r>
            <a:endParaRPr b="0" i="0" sz="3000" u="none" cap="none" strike="noStrike">
              <a:solidFill>
                <a:schemeClr val="dk1"/>
              </a:solidFill>
              <a:latin typeface="Calibri"/>
              <a:ea typeface="Calibri"/>
              <a:cs typeface="Calibri"/>
              <a:sym typeface="Calibri"/>
            </a:endParaRPr>
          </a:p>
        </p:txBody>
      </p:sp>
      <p:pic>
        <p:nvPicPr>
          <p:cNvPr descr="C:/Users/Ampue/Documents/PUCP/Diplomado IA/computacion_evolutiva/trabajo_final/figuras/pareto_combinada.png" id="363" name="Google Shape;363;p16"/>
          <p:cNvPicPr preferRelativeResize="0"/>
          <p:nvPr/>
        </p:nvPicPr>
        <p:blipFill rotWithShape="1">
          <a:blip r:embed="rId3">
            <a:alphaModFix/>
          </a:blip>
          <a:srcRect b="0" l="0" r="0" t="0"/>
          <a:stretch/>
        </p:blipFill>
        <p:spPr>
          <a:xfrm>
            <a:off x="548640" y="1188720"/>
            <a:ext cx="5888855" cy="4014216"/>
          </a:xfrm>
          <a:prstGeom prst="rect">
            <a:avLst/>
          </a:prstGeom>
          <a:noFill/>
          <a:ln>
            <a:noFill/>
          </a:ln>
        </p:spPr>
      </p:pic>
      <p:sp>
        <p:nvSpPr>
          <p:cNvPr id="364" name="Google Shape;364;p16"/>
          <p:cNvSpPr/>
          <p:nvPr/>
        </p:nvSpPr>
        <p:spPr>
          <a:xfrm>
            <a:off x="6766560" y="1188720"/>
            <a:ext cx="4892040" cy="1965960"/>
          </a:xfrm>
          <a:prstGeom prst="roundRect">
            <a:avLst>
              <a:gd fmla="val 3721"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6"/>
          <p:cNvSpPr txBox="1"/>
          <p:nvPr/>
        </p:nvSpPr>
        <p:spPr>
          <a:xfrm>
            <a:off x="7040880" y="1371600"/>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3000"/>
              <a:buFont typeface="Cambria"/>
              <a:buNone/>
            </a:pPr>
            <a:r>
              <a:rPr b="1" i="0" lang="en-US" sz="3000" u="none" cap="none" strike="noStrike">
                <a:solidFill>
                  <a:srgbClr val="F2A65A"/>
                </a:solidFill>
                <a:latin typeface="Cambria"/>
                <a:ea typeface="Cambria"/>
                <a:cs typeface="Cambria"/>
                <a:sym typeface="Cambria"/>
              </a:rPr>
              <a:t>10 soluciones</a:t>
            </a:r>
            <a:endParaRPr b="0" i="0" sz="3000" u="none" cap="none" strike="noStrike">
              <a:solidFill>
                <a:schemeClr val="dk1"/>
              </a:solidFill>
              <a:latin typeface="Calibri"/>
              <a:ea typeface="Calibri"/>
              <a:cs typeface="Calibri"/>
              <a:sym typeface="Calibri"/>
            </a:endParaRPr>
          </a:p>
        </p:txBody>
      </p:sp>
      <p:sp>
        <p:nvSpPr>
          <p:cNvPr id="366" name="Google Shape;366;p16"/>
          <p:cNvSpPr txBox="1"/>
          <p:nvPr/>
        </p:nvSpPr>
        <p:spPr>
          <a:xfrm>
            <a:off x="7040880" y="1965960"/>
            <a:ext cx="434340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de la frontera atienden igual o más pasajeros en igual o menos tiempo que el mejor individuo mono-objetivo (466 pasajeros, 1154 de tiempo). La más extrema sirve 512 pasajeros en 1132 de tiempo.</a:t>
            </a:r>
            <a:endParaRPr b="0" i="0" sz="1300" u="none" cap="none" strike="noStrike">
              <a:solidFill>
                <a:schemeClr val="dk1"/>
              </a:solidFill>
              <a:latin typeface="Calibri"/>
              <a:ea typeface="Calibri"/>
              <a:cs typeface="Calibri"/>
              <a:sym typeface="Calibri"/>
            </a:endParaRPr>
          </a:p>
        </p:txBody>
      </p:sp>
      <p:sp>
        <p:nvSpPr>
          <p:cNvPr id="367" name="Google Shape;367;p16"/>
          <p:cNvSpPr txBox="1"/>
          <p:nvPr/>
        </p:nvSpPr>
        <p:spPr>
          <a:xfrm>
            <a:off x="6766560" y="3337560"/>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600"/>
              <a:buFont typeface="Cambria"/>
              <a:buNone/>
            </a:pPr>
            <a:r>
              <a:rPr b="1" i="0" lang="en-US" sz="1600" u="none" cap="none" strike="noStrike">
                <a:solidFill>
                  <a:srgbClr val="1B2733"/>
                </a:solidFill>
                <a:latin typeface="Cambria"/>
                <a:ea typeface="Cambria"/>
                <a:cs typeface="Cambria"/>
                <a:sym typeface="Cambria"/>
              </a:rPr>
              <a:t>¿Por qué? No es un error del algoritmo</a:t>
            </a:r>
            <a:endParaRPr b="0" i="0" sz="1600" u="none" cap="none" strike="noStrike">
              <a:solidFill>
                <a:schemeClr val="dk1"/>
              </a:solidFill>
              <a:latin typeface="Calibri"/>
              <a:ea typeface="Calibri"/>
              <a:cs typeface="Calibri"/>
              <a:sym typeface="Calibri"/>
            </a:endParaRPr>
          </a:p>
        </p:txBody>
      </p:sp>
      <p:sp>
        <p:nvSpPr>
          <p:cNvPr id="368" name="Google Shape;368;p16"/>
          <p:cNvSpPr txBox="1"/>
          <p:nvPr/>
        </p:nvSpPr>
        <p:spPr>
          <a:xfrm>
            <a:off x="6766560" y="3749040"/>
            <a:ext cx="4892040"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733"/>
              </a:buClr>
              <a:buSzPts val="1250"/>
              <a:buFont typeface="Calibri"/>
              <a:buNone/>
            </a:pPr>
            <a:r>
              <a:rPr b="1" i="0" lang="en-US" sz="1250" u="none" cap="none" strike="noStrike">
                <a:solidFill>
                  <a:srgbClr val="1B2733"/>
                </a:solidFill>
                <a:latin typeface="Calibri"/>
                <a:ea typeface="Calibri"/>
                <a:cs typeface="Calibri"/>
                <a:sym typeface="Calibri"/>
              </a:rPr>
              <a:t>El fitness es una suma de cocientes</a:t>
            </a:r>
            <a:r>
              <a:rPr b="0" i="0" lang="en-US" sz="1250" u="none" cap="none" strike="noStrike">
                <a:solidFill>
                  <a:srgbClr val="1B2733"/>
                </a:solidFill>
                <a:latin typeface="Calibri"/>
                <a:ea typeface="Calibri"/>
                <a:cs typeface="Calibri"/>
                <a:sym typeface="Calibri"/>
              </a:rPr>
              <a:t>, no el cociente de las sumas. La primera forma premia tener asignaciones individuales excelentes aunque el resto sea mediocre; la segunda premia el rendimiento agregado del aeropuerto. Son objetivos distintos, y el óptimo de uno no pertenece a la frontera del otro.</a:t>
            </a:r>
            <a:endParaRPr b="0" i="0" sz="1250" u="none" cap="none" strike="noStrike">
              <a:solidFill>
                <a:schemeClr val="dk1"/>
              </a:solidFill>
              <a:latin typeface="Calibri"/>
              <a:ea typeface="Calibri"/>
              <a:cs typeface="Calibri"/>
              <a:sym typeface="Calibri"/>
            </a:endParaRPr>
          </a:p>
        </p:txBody>
      </p:sp>
      <p:sp>
        <p:nvSpPr>
          <p:cNvPr id="369" name="Google Shape;369;p16"/>
          <p:cNvSpPr/>
          <p:nvPr/>
        </p:nvSpPr>
        <p:spPr>
          <a:xfrm>
            <a:off x="6766560" y="5257800"/>
            <a:ext cx="4892040" cy="594360"/>
          </a:xfrm>
          <a:prstGeom prst="roundRect">
            <a:avLst>
              <a:gd fmla="val 12308"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txBox="1"/>
          <p:nvPr/>
        </p:nvSpPr>
        <p:spPr>
          <a:xfrm>
            <a:off x="6995160" y="5257800"/>
            <a:ext cx="4434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Si al aeropuerto le importa el caudal agregado, la formulación correcta es la multiobjetivo.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B46"/>
        </a:solidFill>
      </p:bgPr>
    </p:bg>
    <p:spTree>
      <p:nvGrpSpPr>
        <p:cNvPr id="375" name="Shape 375"/>
        <p:cNvGrpSpPr/>
        <p:nvPr/>
      </p:nvGrpSpPr>
      <p:grpSpPr>
        <a:xfrm>
          <a:off x="0" y="0"/>
          <a:ext cx="0" cy="0"/>
          <a:chOff x="0" y="0"/>
          <a:chExt cx="0" cy="0"/>
        </a:xfrm>
      </p:grpSpPr>
      <p:sp>
        <p:nvSpPr>
          <p:cNvPr id="376" name="Google Shape;376;p17"/>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CONCLUSIONES</a:t>
            </a:r>
            <a:endParaRPr b="0" i="0" sz="1100" u="none" cap="none" strike="noStrike">
              <a:solidFill>
                <a:schemeClr val="dk1"/>
              </a:solidFill>
              <a:latin typeface="Calibri"/>
              <a:ea typeface="Calibri"/>
              <a:cs typeface="Calibri"/>
              <a:sym typeface="Calibri"/>
            </a:endParaRPr>
          </a:p>
        </p:txBody>
      </p:sp>
      <p:sp>
        <p:nvSpPr>
          <p:cNvPr id="377" name="Google Shape;377;p17"/>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Qué quedó demostrado</a:t>
            </a:r>
            <a:endParaRPr b="0" i="0" sz="3000" u="none" cap="none" strike="noStrike">
              <a:solidFill>
                <a:schemeClr val="dk1"/>
              </a:solidFill>
              <a:latin typeface="Calibri"/>
              <a:ea typeface="Calibri"/>
              <a:cs typeface="Calibri"/>
              <a:sym typeface="Calibri"/>
            </a:endParaRPr>
          </a:p>
        </p:txBody>
      </p:sp>
      <p:sp>
        <p:nvSpPr>
          <p:cNvPr id="378" name="Google Shape;378;p17"/>
          <p:cNvSpPr/>
          <p:nvPr/>
        </p:nvSpPr>
        <p:spPr>
          <a:xfrm>
            <a:off x="548640" y="1399032"/>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7"/>
          <p:cNvSpPr txBox="1"/>
          <p:nvPr/>
        </p:nvSpPr>
        <p:spPr>
          <a:xfrm>
            <a:off x="548640" y="13990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380" name="Google Shape;380;p17"/>
          <p:cNvSpPr txBox="1"/>
          <p:nvPr/>
        </p:nvSpPr>
        <p:spPr>
          <a:xfrm>
            <a:off x="1097280" y="132588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La factibilidad no es un detalle, es el resultado</a:t>
            </a:r>
            <a:endParaRPr b="0" i="0" sz="1450" u="none" cap="none" strike="noStrike">
              <a:solidFill>
                <a:schemeClr val="dk1"/>
              </a:solidFill>
              <a:latin typeface="Calibri"/>
              <a:ea typeface="Calibri"/>
              <a:cs typeface="Calibri"/>
              <a:sym typeface="Calibri"/>
            </a:endParaRPr>
          </a:p>
        </p:txBody>
      </p:sp>
      <p:sp>
        <p:nvSpPr>
          <p:cNvPr id="381" name="Google Shape;381;p17"/>
          <p:cNvSpPr txBox="1"/>
          <p:nvPr/>
        </p:nvSpPr>
        <p:spPr>
          <a:xfrm>
            <a:off x="1097280" y="1627632"/>
            <a:ext cx="1051560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0 % de programaciones ejecutables en el código base. Su fitness superior era enteramente atribuible a la violación de la restricción.</a:t>
            </a:r>
            <a:endParaRPr b="0" i="0" sz="1250" u="none" cap="none" strike="noStrike">
              <a:solidFill>
                <a:schemeClr val="dk1"/>
              </a:solidFill>
              <a:latin typeface="Calibri"/>
              <a:ea typeface="Calibri"/>
              <a:cs typeface="Calibri"/>
              <a:sym typeface="Calibri"/>
            </a:endParaRPr>
          </a:p>
        </p:txBody>
      </p:sp>
      <p:sp>
        <p:nvSpPr>
          <p:cNvPr id="382" name="Google Shape;382;p17"/>
          <p:cNvSpPr/>
          <p:nvPr/>
        </p:nvSpPr>
        <p:spPr>
          <a:xfrm>
            <a:off x="548640" y="2313432"/>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txBox="1"/>
          <p:nvPr/>
        </p:nvSpPr>
        <p:spPr>
          <a:xfrm>
            <a:off x="548640" y="23134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384" name="Google Shape;384;p17"/>
          <p:cNvSpPr txBox="1"/>
          <p:nvPr/>
        </p:nvSpPr>
        <p:spPr>
          <a:xfrm>
            <a:off x="1097280" y="224028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La reparación resuelve el problema sin costo relevante</a:t>
            </a:r>
            <a:endParaRPr b="0" i="0" sz="1450" u="none" cap="none" strike="noStrike">
              <a:solidFill>
                <a:schemeClr val="dk1"/>
              </a:solidFill>
              <a:latin typeface="Calibri"/>
              <a:ea typeface="Calibri"/>
              <a:cs typeface="Calibri"/>
              <a:sym typeface="Calibri"/>
            </a:endParaRPr>
          </a:p>
        </p:txBody>
      </p:sp>
      <p:sp>
        <p:nvSpPr>
          <p:cNvPr id="385" name="Google Shape;385;p17"/>
          <p:cNvSpPr txBox="1"/>
          <p:nvPr/>
        </p:nvSpPr>
        <p:spPr>
          <a:xfrm>
            <a:off x="1097280" y="2542032"/>
            <a:ext cx="1051560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100 % de individuos válidos con +16 % de tiempo y sin pérdida de capacidad de búsqueda.</a:t>
            </a:r>
            <a:endParaRPr b="0" i="0" sz="1250" u="none" cap="none" strike="noStrike">
              <a:solidFill>
                <a:schemeClr val="dk1"/>
              </a:solidFill>
              <a:latin typeface="Calibri"/>
              <a:ea typeface="Calibri"/>
              <a:cs typeface="Calibri"/>
              <a:sym typeface="Calibri"/>
            </a:endParaRPr>
          </a:p>
        </p:txBody>
      </p:sp>
      <p:sp>
        <p:nvSpPr>
          <p:cNvPr id="386" name="Google Shape;386;p17"/>
          <p:cNvSpPr/>
          <p:nvPr/>
        </p:nvSpPr>
        <p:spPr>
          <a:xfrm>
            <a:off x="548640" y="3227832"/>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7"/>
          <p:cNvSpPr txBox="1"/>
          <p:nvPr/>
        </p:nvSpPr>
        <p:spPr>
          <a:xfrm>
            <a:off x="548640" y="32278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388" name="Google Shape;388;p17"/>
          <p:cNvSpPr txBox="1"/>
          <p:nvPr/>
        </p:nvSpPr>
        <p:spPr>
          <a:xfrm>
            <a:off x="1097280" y="315468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El cruzamiento uniforme por asignaciones gana</a:t>
            </a:r>
            <a:endParaRPr b="0" i="0" sz="1450" u="none" cap="none" strike="noStrike">
              <a:solidFill>
                <a:schemeClr val="dk1"/>
              </a:solidFill>
              <a:latin typeface="Calibri"/>
              <a:ea typeface="Calibri"/>
              <a:cs typeface="Calibri"/>
              <a:sym typeface="Calibri"/>
            </a:endParaRPr>
          </a:p>
        </p:txBody>
      </p:sp>
      <p:sp>
        <p:nvSpPr>
          <p:cNvPr id="389" name="Google Shape;389;p17"/>
          <p:cNvSpPr txBox="1"/>
          <p:nvPr/>
        </p:nvSpPr>
        <p:spPr>
          <a:xfrm>
            <a:off x="1097280" y="3456432"/>
            <a:ext cx="1051560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4,9546 vs 4,7529 (p = 0,00195): la posición en el cromosoma no codifica vecindad.</a:t>
            </a:r>
            <a:endParaRPr b="0" i="0" sz="1250" u="none" cap="none" strike="noStrike">
              <a:solidFill>
                <a:schemeClr val="dk1"/>
              </a:solidFill>
              <a:latin typeface="Calibri"/>
              <a:ea typeface="Calibri"/>
              <a:cs typeface="Calibri"/>
              <a:sym typeface="Calibri"/>
            </a:endParaRPr>
          </a:p>
        </p:txBody>
      </p:sp>
      <p:sp>
        <p:nvSpPr>
          <p:cNvPr id="390" name="Google Shape;390;p17"/>
          <p:cNvSpPr/>
          <p:nvPr/>
        </p:nvSpPr>
        <p:spPr>
          <a:xfrm>
            <a:off x="548640" y="4142232"/>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7"/>
          <p:cNvSpPr txBox="1"/>
          <p:nvPr/>
        </p:nvSpPr>
        <p:spPr>
          <a:xfrm>
            <a:off x="548640" y="41422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392" name="Google Shape;392;p17"/>
          <p:cNvSpPr txBox="1"/>
          <p:nvPr/>
        </p:nvSpPr>
        <p:spPr>
          <a:xfrm>
            <a:off x="1097280" y="406908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La mutación localizada alcanza el óptimo exacto siempre</a:t>
            </a:r>
            <a:endParaRPr b="0" i="0" sz="1450" u="none" cap="none" strike="noStrike">
              <a:solidFill>
                <a:schemeClr val="dk1"/>
              </a:solidFill>
              <a:latin typeface="Calibri"/>
              <a:ea typeface="Calibri"/>
              <a:cs typeface="Calibri"/>
              <a:sym typeface="Calibri"/>
            </a:endParaRPr>
          </a:p>
        </p:txBody>
      </p:sp>
      <p:sp>
        <p:nvSpPr>
          <p:cNvPr id="393" name="Google Shape;393;p17"/>
          <p:cNvSpPr txBox="1"/>
          <p:nvPr/>
        </p:nvSpPr>
        <p:spPr>
          <a:xfrm>
            <a:off x="1097280" y="4370832"/>
            <a:ext cx="1051560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flight_or_gate a pm = 0,7: 10 de 10 corridas en el óptimo, gap 0 % y desviación 0. H2 confirmada.</a:t>
            </a:r>
            <a:endParaRPr b="0" i="0" sz="1250" u="none" cap="none" strike="noStrike">
              <a:solidFill>
                <a:schemeClr val="dk1"/>
              </a:solidFill>
              <a:latin typeface="Calibri"/>
              <a:ea typeface="Calibri"/>
              <a:cs typeface="Calibri"/>
              <a:sym typeface="Calibri"/>
            </a:endParaRPr>
          </a:p>
        </p:txBody>
      </p:sp>
      <p:sp>
        <p:nvSpPr>
          <p:cNvPr id="394" name="Google Shape;394;p17"/>
          <p:cNvSpPr/>
          <p:nvPr/>
        </p:nvSpPr>
        <p:spPr>
          <a:xfrm>
            <a:off x="548640" y="5056632"/>
            <a:ext cx="384048" cy="384048"/>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7"/>
          <p:cNvSpPr txBox="1"/>
          <p:nvPr/>
        </p:nvSpPr>
        <p:spPr>
          <a:xfrm>
            <a:off x="548640" y="50566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100"/>
              <a:buFont typeface="Calibri"/>
              <a:buNone/>
            </a:pPr>
            <a:r>
              <a:rPr b="1" i="0" lang="en-US" sz="1100" u="none" cap="none" strike="noStrike">
                <a:solidFill>
                  <a:srgbClr val="0F2B46"/>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396" name="Google Shape;396;p17"/>
          <p:cNvSpPr txBox="1"/>
          <p:nvPr/>
        </p:nvSpPr>
        <p:spPr>
          <a:xfrm>
            <a:off x="1097280" y="498348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NSGA-II entrega información que el enfoque agregado oculta</a:t>
            </a:r>
            <a:endParaRPr b="0" i="0" sz="1450" u="none" cap="none" strike="noStrike">
              <a:solidFill>
                <a:schemeClr val="dk1"/>
              </a:solidFill>
              <a:latin typeface="Calibri"/>
              <a:ea typeface="Calibri"/>
              <a:cs typeface="Calibri"/>
              <a:sym typeface="Calibri"/>
            </a:endParaRPr>
          </a:p>
        </p:txBody>
      </p:sp>
      <p:sp>
        <p:nvSpPr>
          <p:cNvPr id="397" name="Google Shape;397;p17"/>
          <p:cNvSpPr txBox="1"/>
          <p:nvPr/>
        </p:nvSpPr>
        <p:spPr>
          <a:xfrm>
            <a:off x="1097280" y="5285232"/>
            <a:ext cx="1051560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653 pasajeros en 4 de 5 corridas y 10 soluciones que dominan al óptimo mono. H3 confirmada.</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18"/>
          <p:cNvSpPr txBox="1"/>
          <p:nvPr/>
        </p:nvSpPr>
        <p:spPr>
          <a:xfrm>
            <a:off x="548640" y="13716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CIERRE</a:t>
            </a:r>
            <a:endParaRPr b="0" i="0" sz="1100" u="none" cap="none" strike="noStrike">
              <a:solidFill>
                <a:schemeClr val="dk1"/>
              </a:solidFill>
              <a:latin typeface="Calibri"/>
              <a:ea typeface="Calibri"/>
              <a:cs typeface="Calibri"/>
              <a:sym typeface="Calibri"/>
            </a:endParaRPr>
          </a:p>
        </p:txBody>
      </p:sp>
      <p:sp>
        <p:nvSpPr>
          <p:cNvPr id="404" name="Google Shape;404;p18"/>
          <p:cNvSpPr txBox="1"/>
          <p:nvPr/>
        </p:nvSpPr>
        <p:spPr>
          <a:xfrm>
            <a:off x="548640" y="384048"/>
            <a:ext cx="11094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3000"/>
              <a:buFont typeface="Cambria"/>
              <a:buNone/>
            </a:pPr>
            <a:r>
              <a:rPr b="1" i="0" lang="en-US" sz="3000" u="none" cap="none" strike="noStrike">
                <a:solidFill>
                  <a:srgbClr val="1B2733"/>
                </a:solidFill>
                <a:latin typeface="Cambria"/>
                <a:ea typeface="Cambria"/>
                <a:cs typeface="Cambria"/>
                <a:sym typeface="Cambria"/>
              </a:rPr>
              <a:t>Recomendación y trabajos futuros</a:t>
            </a:r>
            <a:endParaRPr b="0" i="0" sz="3000" u="none" cap="none" strike="noStrike">
              <a:solidFill>
                <a:schemeClr val="dk1"/>
              </a:solidFill>
              <a:latin typeface="Calibri"/>
              <a:ea typeface="Calibri"/>
              <a:cs typeface="Calibri"/>
              <a:sym typeface="Calibri"/>
            </a:endParaRPr>
          </a:p>
        </p:txBody>
      </p:sp>
      <p:sp>
        <p:nvSpPr>
          <p:cNvPr id="405" name="Google Shape;405;p18"/>
          <p:cNvSpPr/>
          <p:nvPr/>
        </p:nvSpPr>
        <p:spPr>
          <a:xfrm>
            <a:off x="548640" y="1280160"/>
            <a:ext cx="5394960" cy="4480560"/>
          </a:xfrm>
          <a:prstGeom prst="roundRect">
            <a:avLst>
              <a:gd fmla="val 1633" name="adj"/>
            </a:avLst>
          </a:prstGeom>
          <a:solidFill>
            <a:srgbClr val="0F2B46"/>
          </a:solidFill>
          <a:ln cap="flat" cmpd="sng" w="12700">
            <a:solidFill>
              <a:srgbClr val="0F2B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8"/>
          <p:cNvSpPr txBox="1"/>
          <p:nvPr/>
        </p:nvSpPr>
        <p:spPr>
          <a:xfrm>
            <a:off x="868680" y="150876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700"/>
              <a:buFont typeface="Cambria"/>
              <a:buNone/>
            </a:pPr>
            <a:r>
              <a:rPr b="1" i="0" lang="en-US" sz="1700" u="none" cap="none" strike="noStrike">
                <a:solidFill>
                  <a:srgbClr val="F2A65A"/>
                </a:solidFill>
                <a:latin typeface="Cambria"/>
                <a:ea typeface="Cambria"/>
                <a:cs typeface="Cambria"/>
                <a:sym typeface="Cambria"/>
              </a:rPr>
              <a:t>Qué implementación sugerir</a:t>
            </a:r>
            <a:endParaRPr b="0" i="0" sz="1700" u="none" cap="none" strike="noStrike">
              <a:solidFill>
                <a:schemeClr val="dk1"/>
              </a:solidFill>
              <a:latin typeface="Calibri"/>
              <a:ea typeface="Calibri"/>
              <a:cs typeface="Calibri"/>
              <a:sym typeface="Calibri"/>
            </a:endParaRPr>
          </a:p>
        </p:txBody>
      </p:sp>
      <p:sp>
        <p:nvSpPr>
          <p:cNvPr id="407" name="Google Shape;407;p18"/>
          <p:cNvSpPr txBox="1"/>
          <p:nvPr/>
        </p:nvSpPr>
        <p:spPr>
          <a:xfrm>
            <a:off x="868680" y="1965960"/>
            <a:ext cx="4754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NSGA-II</a:t>
            </a:r>
            <a:endParaRPr b="0" i="0" sz="3200" u="none" cap="none" strike="noStrike">
              <a:solidFill>
                <a:schemeClr val="dk1"/>
              </a:solidFill>
              <a:latin typeface="Calibri"/>
              <a:ea typeface="Calibri"/>
              <a:cs typeface="Calibri"/>
              <a:sym typeface="Calibri"/>
            </a:endParaRPr>
          </a:p>
        </p:txBody>
      </p:sp>
      <p:sp>
        <p:nvSpPr>
          <p:cNvPr id="408" name="Google Shape;408;p18"/>
          <p:cNvSpPr txBox="1"/>
          <p:nvPr/>
        </p:nvSpPr>
        <p:spPr>
          <a:xfrm>
            <a:off x="868680" y="2606040"/>
            <a:ext cx="4754880" cy="11887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con cruzamiento uniform_assignment y mutación flight_or_gate a pm = 0,7, presentando al planificador la frontera de Pareto en lugar de una única programación.</a:t>
            </a:r>
            <a:endParaRPr b="0" i="0" sz="1300" u="none" cap="none" strike="noStrike">
              <a:solidFill>
                <a:schemeClr val="dk1"/>
              </a:solidFill>
              <a:latin typeface="Calibri"/>
              <a:ea typeface="Calibri"/>
              <a:cs typeface="Calibri"/>
              <a:sym typeface="Calibri"/>
            </a:endParaRPr>
          </a:p>
        </p:txBody>
      </p:sp>
      <p:sp>
        <p:nvSpPr>
          <p:cNvPr id="409" name="Google Shape;409;p18"/>
          <p:cNvSpPr txBox="1"/>
          <p:nvPr/>
        </p:nvSpPr>
        <p:spPr>
          <a:xfrm>
            <a:off x="868680" y="3931920"/>
            <a:ext cx="4754880" cy="15544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Si se necesita un solo número, usar el mono-objetivo con esos mismos operadores, pero redefiniendo el fitness como cociente de sumas: es el indicador consistente con el rendimiento agregado del aeropuerto.</a:t>
            </a:r>
            <a:endParaRPr b="0" i="0" sz="1300" u="none" cap="none" strike="noStrike">
              <a:solidFill>
                <a:schemeClr val="dk1"/>
              </a:solidFill>
              <a:latin typeface="Calibri"/>
              <a:ea typeface="Calibri"/>
              <a:cs typeface="Calibri"/>
              <a:sym typeface="Calibri"/>
            </a:endParaRPr>
          </a:p>
        </p:txBody>
      </p:sp>
      <p:sp>
        <p:nvSpPr>
          <p:cNvPr id="410" name="Google Shape;410;p18"/>
          <p:cNvSpPr/>
          <p:nvPr/>
        </p:nvSpPr>
        <p:spPr>
          <a:xfrm>
            <a:off x="6263640" y="1280160"/>
            <a:ext cx="5394960" cy="1005840"/>
          </a:xfrm>
          <a:prstGeom prst="roundRect">
            <a:avLst>
              <a:gd fmla="val 727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6492240" y="1417320"/>
            <a:ext cx="365760" cy="36576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8"/>
          <p:cNvSpPr txBox="1"/>
          <p:nvPr/>
        </p:nvSpPr>
        <p:spPr>
          <a:xfrm>
            <a:off x="6492240" y="14173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413" name="Google Shape;413;p18"/>
          <p:cNvSpPr txBox="1"/>
          <p:nvPr/>
        </p:nvSpPr>
        <p:spPr>
          <a:xfrm>
            <a:off x="6995160" y="1399032"/>
            <a:ext cx="4480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350"/>
              <a:buFont typeface="Calibri"/>
              <a:buNone/>
            </a:pPr>
            <a:r>
              <a:rPr b="1" i="0" lang="en-US" sz="1350" u="none" cap="none" strike="noStrike">
                <a:solidFill>
                  <a:srgbClr val="1B2733"/>
                </a:solidFill>
                <a:latin typeface="Calibri"/>
                <a:ea typeface="Calibri"/>
                <a:cs typeface="Calibri"/>
                <a:sym typeface="Calibri"/>
              </a:rPr>
              <a:t>Ventanas de tiempo</a:t>
            </a:r>
            <a:endParaRPr b="0" i="0" sz="1350" u="none" cap="none" strike="noStrike">
              <a:solidFill>
                <a:schemeClr val="dk1"/>
              </a:solidFill>
              <a:latin typeface="Calibri"/>
              <a:ea typeface="Calibri"/>
              <a:cs typeface="Calibri"/>
              <a:sym typeface="Calibri"/>
            </a:endParaRPr>
          </a:p>
        </p:txBody>
      </p:sp>
      <p:sp>
        <p:nvSpPr>
          <p:cNvPr id="414" name="Google Shape;414;p18"/>
          <p:cNvSpPr txBox="1"/>
          <p:nvPr/>
        </p:nvSpPr>
        <p:spPr>
          <a:xfrm>
            <a:off x="6995160" y="1673352"/>
            <a:ext cx="448056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A6B7B"/>
              </a:buClr>
              <a:buSzPts val="1150"/>
              <a:buFont typeface="Calibri"/>
              <a:buNone/>
            </a:pPr>
            <a:r>
              <a:rPr b="0" i="0" lang="en-US" sz="1150" u="none" cap="none" strike="noStrike">
                <a:solidFill>
                  <a:srgbClr val="5A6B7B"/>
                </a:solidFill>
                <a:latin typeface="Calibri"/>
                <a:ea typeface="Calibri"/>
                <a:cs typeface="Calibri"/>
                <a:sym typeface="Calibri"/>
              </a:rPr>
              <a:t>Usar arriving_time y leaving_time: una puerta podría atender varios vuelos en horarios disjuntos.</a:t>
            </a:r>
            <a:endParaRPr b="0" i="0" sz="1150" u="none" cap="none" strike="noStrike">
              <a:solidFill>
                <a:schemeClr val="dk1"/>
              </a:solidFill>
              <a:latin typeface="Calibri"/>
              <a:ea typeface="Calibri"/>
              <a:cs typeface="Calibri"/>
              <a:sym typeface="Calibri"/>
            </a:endParaRPr>
          </a:p>
        </p:txBody>
      </p:sp>
      <p:sp>
        <p:nvSpPr>
          <p:cNvPr id="415" name="Google Shape;415;p18"/>
          <p:cNvSpPr/>
          <p:nvPr/>
        </p:nvSpPr>
        <p:spPr>
          <a:xfrm>
            <a:off x="6263640" y="2423160"/>
            <a:ext cx="5394960" cy="1005840"/>
          </a:xfrm>
          <a:prstGeom prst="roundRect">
            <a:avLst>
              <a:gd fmla="val 727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8"/>
          <p:cNvSpPr/>
          <p:nvPr/>
        </p:nvSpPr>
        <p:spPr>
          <a:xfrm>
            <a:off x="6492240" y="2560320"/>
            <a:ext cx="365760" cy="36576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8"/>
          <p:cNvSpPr txBox="1"/>
          <p:nvPr/>
        </p:nvSpPr>
        <p:spPr>
          <a:xfrm>
            <a:off x="6492240" y="25603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18" name="Google Shape;418;p18"/>
          <p:cNvSpPr txBox="1"/>
          <p:nvPr/>
        </p:nvSpPr>
        <p:spPr>
          <a:xfrm>
            <a:off x="6995160" y="2542032"/>
            <a:ext cx="4480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350"/>
              <a:buFont typeface="Calibri"/>
              <a:buNone/>
            </a:pPr>
            <a:r>
              <a:rPr b="1" i="0" lang="en-US" sz="1350" u="none" cap="none" strike="noStrike">
                <a:solidFill>
                  <a:srgbClr val="1B2733"/>
                </a:solidFill>
                <a:latin typeface="Calibri"/>
                <a:ea typeface="Calibri"/>
                <a:cs typeface="Calibri"/>
                <a:sym typeface="Calibri"/>
              </a:rPr>
              <a:t>Compatibilidad física</a:t>
            </a:r>
            <a:endParaRPr b="0" i="0" sz="1350" u="none" cap="none" strike="noStrike">
              <a:solidFill>
                <a:schemeClr val="dk1"/>
              </a:solidFill>
              <a:latin typeface="Calibri"/>
              <a:ea typeface="Calibri"/>
              <a:cs typeface="Calibri"/>
              <a:sym typeface="Calibri"/>
            </a:endParaRPr>
          </a:p>
        </p:txBody>
      </p:sp>
      <p:sp>
        <p:nvSpPr>
          <p:cNvPr id="419" name="Google Shape;419;p18"/>
          <p:cNvSpPr txBox="1"/>
          <p:nvPr/>
        </p:nvSpPr>
        <p:spPr>
          <a:xfrm>
            <a:off x="6995160" y="2816352"/>
            <a:ext cx="448056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A6B7B"/>
              </a:buClr>
              <a:buSzPts val="1150"/>
              <a:buFont typeface="Calibri"/>
              <a:buNone/>
            </a:pPr>
            <a:r>
              <a:rPr b="0" i="0" lang="en-US" sz="1150" u="none" cap="none" strike="noStrike">
                <a:solidFill>
                  <a:srgbClr val="5A6B7B"/>
                </a:solidFill>
                <a:latin typeface="Calibri"/>
                <a:ea typeface="Calibri"/>
                <a:cs typeface="Calibri"/>
                <a:sym typeface="Calibri"/>
              </a:rPr>
              <a:t>Matriz vuelo-puerta según la envergadura del avión, resuelta en la fase 3 de la reparación.</a:t>
            </a:r>
            <a:endParaRPr b="0" i="0" sz="1150" u="none" cap="none" strike="noStrike">
              <a:solidFill>
                <a:schemeClr val="dk1"/>
              </a:solidFill>
              <a:latin typeface="Calibri"/>
              <a:ea typeface="Calibri"/>
              <a:cs typeface="Calibri"/>
              <a:sym typeface="Calibri"/>
            </a:endParaRPr>
          </a:p>
        </p:txBody>
      </p:sp>
      <p:sp>
        <p:nvSpPr>
          <p:cNvPr id="420" name="Google Shape;420;p18"/>
          <p:cNvSpPr/>
          <p:nvPr/>
        </p:nvSpPr>
        <p:spPr>
          <a:xfrm>
            <a:off x="6263640" y="3566160"/>
            <a:ext cx="5394960" cy="1005840"/>
          </a:xfrm>
          <a:prstGeom prst="roundRect">
            <a:avLst>
              <a:gd fmla="val 727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8"/>
          <p:cNvSpPr/>
          <p:nvPr/>
        </p:nvSpPr>
        <p:spPr>
          <a:xfrm>
            <a:off x="6492240" y="3703320"/>
            <a:ext cx="365760" cy="36576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txBox="1"/>
          <p:nvPr/>
        </p:nvSpPr>
        <p:spPr>
          <a:xfrm>
            <a:off x="6492240" y="37033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423" name="Google Shape;423;p18"/>
          <p:cNvSpPr txBox="1"/>
          <p:nvPr/>
        </p:nvSpPr>
        <p:spPr>
          <a:xfrm>
            <a:off x="6995160" y="3685032"/>
            <a:ext cx="4480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350"/>
              <a:buFont typeface="Calibri"/>
              <a:buNone/>
            </a:pPr>
            <a:r>
              <a:rPr b="1" i="0" lang="en-US" sz="1350" u="none" cap="none" strike="noStrike">
                <a:solidFill>
                  <a:srgbClr val="1B2733"/>
                </a:solidFill>
                <a:latin typeface="Calibri"/>
                <a:ea typeface="Calibri"/>
                <a:cs typeface="Calibri"/>
                <a:sym typeface="Calibri"/>
              </a:rPr>
              <a:t>Algoritmo memético</a:t>
            </a:r>
            <a:endParaRPr b="0" i="0" sz="1350" u="none" cap="none" strike="noStrike">
              <a:solidFill>
                <a:schemeClr val="dk1"/>
              </a:solidFill>
              <a:latin typeface="Calibri"/>
              <a:ea typeface="Calibri"/>
              <a:cs typeface="Calibri"/>
              <a:sym typeface="Calibri"/>
            </a:endParaRPr>
          </a:p>
        </p:txBody>
      </p:sp>
      <p:sp>
        <p:nvSpPr>
          <p:cNvPr id="424" name="Google Shape;424;p18"/>
          <p:cNvSpPr txBox="1"/>
          <p:nvPr/>
        </p:nvSpPr>
        <p:spPr>
          <a:xfrm>
            <a:off x="6995160" y="3959352"/>
            <a:ext cx="448056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A6B7B"/>
              </a:buClr>
              <a:buSzPts val="1150"/>
              <a:buFont typeface="Calibri"/>
              <a:buNone/>
            </a:pPr>
            <a:r>
              <a:rPr b="0" i="0" lang="en-US" sz="1150" u="none" cap="none" strike="noStrike">
                <a:solidFill>
                  <a:srgbClr val="5A6B7B"/>
                </a:solidFill>
                <a:latin typeface="Calibri"/>
                <a:ea typeface="Calibri"/>
                <a:cs typeface="Calibri"/>
                <a:sym typeface="Calibri"/>
              </a:rPr>
              <a:t>Búsqueda local sobre los 45 intercambios de puertas del mejor individuo.</a:t>
            </a:r>
            <a:endParaRPr b="0" i="0" sz="1150" u="none" cap="none" strike="noStrike">
              <a:solidFill>
                <a:schemeClr val="dk1"/>
              </a:solidFill>
              <a:latin typeface="Calibri"/>
              <a:ea typeface="Calibri"/>
              <a:cs typeface="Calibri"/>
              <a:sym typeface="Calibri"/>
            </a:endParaRPr>
          </a:p>
        </p:txBody>
      </p:sp>
      <p:sp>
        <p:nvSpPr>
          <p:cNvPr id="425" name="Google Shape;425;p18"/>
          <p:cNvSpPr/>
          <p:nvPr/>
        </p:nvSpPr>
        <p:spPr>
          <a:xfrm>
            <a:off x="6263640" y="4709160"/>
            <a:ext cx="5394960" cy="1005840"/>
          </a:xfrm>
          <a:prstGeom prst="roundRect">
            <a:avLst>
              <a:gd fmla="val 7273" name="adj"/>
            </a:avLst>
          </a:prstGeom>
          <a:solidFill>
            <a:srgbClr val="F3F6F9"/>
          </a:solidFill>
          <a:ln cap="flat" cmpd="sng" w="12700">
            <a:solidFill>
              <a:srgbClr val="F3F6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8"/>
          <p:cNvSpPr/>
          <p:nvPr/>
        </p:nvSpPr>
        <p:spPr>
          <a:xfrm>
            <a:off x="6492240" y="4846320"/>
            <a:ext cx="365760" cy="36576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8"/>
          <p:cNvSpPr txBox="1"/>
          <p:nvPr/>
        </p:nvSpPr>
        <p:spPr>
          <a:xfrm>
            <a:off x="6492240" y="48463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428" name="Google Shape;428;p18"/>
          <p:cNvSpPr txBox="1"/>
          <p:nvPr/>
        </p:nvSpPr>
        <p:spPr>
          <a:xfrm>
            <a:off x="6995160" y="4828032"/>
            <a:ext cx="4480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733"/>
              </a:buClr>
              <a:buSzPts val="1350"/>
              <a:buFont typeface="Calibri"/>
              <a:buNone/>
            </a:pPr>
            <a:r>
              <a:rPr b="1" i="0" lang="en-US" sz="1350" u="none" cap="none" strike="noStrike">
                <a:solidFill>
                  <a:srgbClr val="1B2733"/>
                </a:solidFill>
                <a:latin typeface="Calibri"/>
                <a:ea typeface="Calibri"/>
                <a:cs typeface="Calibri"/>
                <a:sym typeface="Calibri"/>
              </a:rPr>
              <a:t>Escenarios dinámicos</a:t>
            </a:r>
            <a:endParaRPr b="0" i="0" sz="1350" u="none" cap="none" strike="noStrike">
              <a:solidFill>
                <a:schemeClr val="dk1"/>
              </a:solidFill>
              <a:latin typeface="Calibri"/>
              <a:ea typeface="Calibri"/>
              <a:cs typeface="Calibri"/>
              <a:sym typeface="Calibri"/>
            </a:endParaRPr>
          </a:p>
        </p:txBody>
      </p:sp>
      <p:sp>
        <p:nvSpPr>
          <p:cNvPr id="429" name="Google Shape;429;p18"/>
          <p:cNvSpPr txBox="1"/>
          <p:nvPr/>
        </p:nvSpPr>
        <p:spPr>
          <a:xfrm>
            <a:off x="6995160" y="5102352"/>
            <a:ext cx="448056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A6B7B"/>
              </a:buClr>
              <a:buSzPts val="1150"/>
              <a:buFont typeface="Calibri"/>
              <a:buNone/>
            </a:pPr>
            <a:r>
              <a:rPr b="0" i="0" lang="en-US" sz="1150" u="none" cap="none" strike="noStrike">
                <a:solidFill>
                  <a:srgbClr val="5A6B7B"/>
                </a:solidFill>
                <a:latin typeface="Calibri"/>
                <a:ea typeface="Calibri"/>
                <a:cs typeface="Calibri"/>
                <a:sym typeface="Calibri"/>
              </a:rPr>
              <a:t>Vuelos que llegan o cambian durante la operación, obligando a reoptimizar sin rehacer todo.</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B46"/>
        </a:solidFill>
      </p:bgPr>
    </p:bg>
    <p:spTree>
      <p:nvGrpSpPr>
        <p:cNvPr id="434" name="Shape 434"/>
        <p:cNvGrpSpPr/>
        <p:nvPr/>
      </p:nvGrpSpPr>
      <p:grpSpPr>
        <a:xfrm>
          <a:off x="0" y="0"/>
          <a:ext cx="0" cy="0"/>
          <a:chOff x="0" y="0"/>
          <a:chExt cx="0" cy="0"/>
        </a:xfrm>
      </p:grpSpPr>
      <p:sp>
        <p:nvSpPr>
          <p:cNvPr id="435" name="Google Shape;435;p19"/>
          <p:cNvSpPr/>
          <p:nvPr/>
        </p:nvSpPr>
        <p:spPr>
          <a:xfrm>
            <a:off x="-1463040" y="3108960"/>
            <a:ext cx="4937760" cy="4937760"/>
          </a:xfrm>
          <a:prstGeom prst="ellipse">
            <a:avLst/>
          </a:prstGeom>
          <a:solidFill>
            <a:srgbClr val="1C7293">
              <a:alpha val="12157"/>
            </a:srgbClr>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10058400" y="-1280160"/>
            <a:ext cx="3840480" cy="3840480"/>
          </a:xfrm>
          <a:prstGeom prst="ellipse">
            <a:avLst/>
          </a:prstGeom>
          <a:solidFill>
            <a:srgbClr val="F2A65A">
              <a:alpha val="14902"/>
            </a:srgbClr>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txBox="1"/>
          <p:nvPr/>
        </p:nvSpPr>
        <p:spPr>
          <a:xfrm>
            <a:off x="822960" y="2194560"/>
            <a:ext cx="7315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Gracias</a:t>
            </a:r>
            <a:endParaRPr b="0" i="0" sz="4800" u="none" cap="none" strike="noStrike">
              <a:solidFill>
                <a:schemeClr val="dk1"/>
              </a:solidFill>
              <a:latin typeface="Calibri"/>
              <a:ea typeface="Calibri"/>
              <a:cs typeface="Calibri"/>
              <a:sym typeface="Calibri"/>
            </a:endParaRPr>
          </a:p>
        </p:txBody>
      </p:sp>
      <p:sp>
        <p:nvSpPr>
          <p:cNvPr id="438" name="Google Shape;438;p19"/>
          <p:cNvSpPr txBox="1"/>
          <p:nvPr/>
        </p:nvSpPr>
        <p:spPr>
          <a:xfrm>
            <a:off x="822960" y="320040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439" name="Google Shape;439;p19"/>
          <p:cNvSpPr txBox="1"/>
          <p:nvPr/>
        </p:nvSpPr>
        <p:spPr>
          <a:xfrm>
            <a:off x="822960" y="4754880"/>
            <a:ext cx="10058400" cy="822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Notebook: Asignacion_VuelosGates_Solucion.ipynb</a:t>
            </a: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Informe: Informe_Proyecto_Final_Asignacion_Vuelos_Gates.docx</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2026-08-27T05:17:52Z</dcterms:created>
  <dc:creator>Mario Ampuero Rosas</dc:creator>
</cp:coreProperties>
</file>